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67" r:id="rId4"/>
    <p:sldId id="268" r:id="rId5"/>
    <p:sldId id="265" r:id="rId6"/>
    <p:sldId id="263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67639F-799B-4A2B-B888-DB9C58E5F3AF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9365D-750F-4F7F-9D9A-4E2720F2B6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18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1B638B-96EB-1C68-5B44-9625C9418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3B6E79-6C84-09B9-9AD7-BE482EFE4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CF8735-EA88-1691-8947-AEFF04274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0ACD26-4A1B-D8D9-4D90-3F395C4A6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3BD4E6-1BC4-1570-7644-5D99B677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058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6C4732-F1B9-5096-3E8C-012AE56C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BAB398-10A6-61B6-C368-056726A23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C07622-C577-C459-EA3C-584E6C6C8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2C65D1-5462-D2EE-0791-D30F0609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4152E7-3214-9F64-FCF3-628627EA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997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319D8-49E1-1308-3803-B7990FC4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8F7EBC-1927-27BC-8529-751E00E31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033AD0-3C01-1952-3295-9EAF6BC1F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FCB9A2-28C2-0C28-395E-C96D0B232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F38B5D-4B7F-DF1A-3F65-CCF42DE6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997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653FDB-E5C1-C088-FEE3-FED30FDDC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43076F-A621-0730-B928-1FEB67078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8219B7-A3DE-C40B-BF31-5FF6583451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F25B44-A47D-8D0B-5B39-B678CF09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A2B7A99-B7A6-F1C2-1A98-3D21F1DBC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884D06-9531-A739-58C4-EE1D6A1CB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48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6BB8CA-385B-2298-C2D3-B26F3FDAA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668317-A52E-DC12-607E-DC0476715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F52B25-C428-25B0-A80E-92BC01876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0984606-BEE6-789D-1153-B68A7C15B6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550048-CD3E-ECF3-9044-F5B06F28D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BD708EA-1A72-5DC9-705A-153E1D33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C4C6BF9-92D9-DC72-1821-E0F66431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307844C-3263-53E9-8310-6503151E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870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0BD758-C2E4-3AE8-AD51-88279B81C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BBA1C2B-E851-115A-BF84-A5110FCA6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3AEF1F4-5F57-6E9F-9484-F2C2537FC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32CB824-FDEF-BAAA-E382-680DA7D74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49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57AA4C2-843C-1323-FDBB-CA61EFB9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68C815B-A3AF-C1DB-110C-AE49A65DB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464151-3B8C-9723-7B19-A1FFCE1AA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947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A7988E-7188-A550-FACD-145194D5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5EE3ED-9D4A-E571-6601-90A11747F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CB7E97-4228-A542-32E1-A2173A9F2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7534C1-DDE5-614E-ACAA-C7F30FBA9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F67116-6160-2322-0848-15EB79CDD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B175DD-AE3B-A232-EA1E-5FB9675F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0197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EFD21F-8F24-D44A-D754-BA915224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3CC177B-A390-92E8-B90B-36D37834F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F5D3995-FDEC-0928-9433-7C60FCB43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B139129-E95C-86A0-C2F9-28779402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08D921-17E4-6FD2-4C91-007DB485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31D998-D283-C2CC-F885-DC77924D8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43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9B7B92-AAEB-20D8-741F-1029EF4A6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31CBB70-EE96-BEA7-4BBF-8A3A8DBDE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4F36F2-9B9E-2B0F-A495-4487539A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627FBB-BC42-C1AE-E7E4-5482158F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1214690-0F70-ACD0-32CD-811260548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28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C19F73-1300-4C2E-EC43-A60B415563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20345C-C2BD-FA76-4B5E-81675E2E24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B1275B-3287-C207-7CAB-D06BB3EF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A96228-BB13-EB90-EAF7-C313D2779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61373F-14C0-D921-9F7A-DDEE559E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150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006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06A7AC4-CE1E-C130-66F4-FB6FF440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GB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2465F5-E26A-F4FF-2529-A08ACAB7A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GB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A9D190-96FF-8D33-4EB0-ECE30A0B15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0AC0C-AB18-49E6-B1AF-B0F64318A6D8}" type="datetimeFigureOut">
              <a:rPr lang="en-GB" smtClean="0"/>
              <a:t>07/06/2026</a:t>
            </a:fld>
            <a:endParaRPr lang="en-GB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B9AB7D-BF77-BB93-DFCE-5A26BE986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22D9A8-595B-3F22-F033-2095F5F16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98DE3-CAC7-4E7D-89CC-9827E88A4B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88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2/divider_bg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06240" y="0"/>
            <a:ext cx="7982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pic>
        <p:nvPicPr>
          <p:cNvPr id="4" name="Image 1" descr="assets2/pku_hea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8887" y="274320"/>
            <a:ext cx="1481328" cy="5369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2697480"/>
            <a:ext cx="3200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PART 03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3310128" y="2697480"/>
            <a:ext cx="548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▶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663440" y="2395728"/>
            <a:ext cx="69494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Optimizing Strategies</a:t>
            </a:r>
            <a:endParaRPr lang="en-US" sz="5400" dirty="0"/>
          </a:p>
        </p:txBody>
      </p:sp>
      <p:sp>
        <p:nvSpPr>
          <p:cNvPr id="8" name="Shape 4"/>
          <p:cNvSpPr/>
          <p:nvPr/>
        </p:nvSpPr>
        <p:spPr>
          <a:xfrm>
            <a:off x="4690872" y="3566160"/>
            <a:ext cx="1371600" cy="54864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/>
          <p:nvPr/>
        </p:nvSpPr>
        <p:spPr>
          <a:xfrm>
            <a:off x="4690872" y="370332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9595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Strategies for Enhancing Battery Performance and Longevity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89438"/>
            <a:ext cx="990915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E5EC168-716D-CCA9-97EF-491EE9F84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33133" y="887966"/>
            <a:ext cx="7725734" cy="282637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E5DF5B2-6D0E-4C24-B5B6-64D9F248D6A2}"/>
              </a:ext>
            </a:extLst>
          </p:cNvPr>
          <p:cNvSpPr txBox="1"/>
          <p:nvPr/>
        </p:nvSpPr>
        <p:spPr>
          <a:xfrm>
            <a:off x="8605240" y="6468562"/>
            <a:ext cx="3741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Rare Met. 44, 1556–1576 (2025).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7C09C60-D95F-27BC-E220-732E091DCFA6}"/>
              </a:ext>
            </a:extLst>
          </p:cNvPr>
          <p:cNvSpPr/>
          <p:nvPr/>
        </p:nvSpPr>
        <p:spPr>
          <a:xfrm>
            <a:off x="352779" y="4103554"/>
            <a:ext cx="4520079" cy="218034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Being operated based on solvation reactions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Novel reaction kinetics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Compatible with large </a:t>
            </a:r>
            <a:r>
              <a:rPr lang="en-GB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sulfur</a:t>
            </a: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particles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FE66708-A555-C3B9-E8FB-45AB29A8D6CB}"/>
              </a:ext>
            </a:extLst>
          </p:cNvPr>
          <p:cNvSpPr/>
          <p:nvPr/>
        </p:nvSpPr>
        <p:spPr>
          <a:xfrm>
            <a:off x="6888900" y="4093614"/>
            <a:ext cx="4520079" cy="218034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E/S ratio is necessary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 shutting effect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to achieve high loading </a:t>
            </a:r>
            <a:r>
              <a:rPr lang="en-GB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sulfur</a:t>
            </a: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cathode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92B333F-B142-A5F8-CBFF-8042047B4CB2}"/>
              </a:ext>
            </a:extLst>
          </p:cNvPr>
          <p:cNvSpPr txBox="1"/>
          <p:nvPr/>
        </p:nvSpPr>
        <p:spPr>
          <a:xfrm>
            <a:off x="2233133" y="3724282"/>
            <a:ext cx="75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Pros</a:t>
            </a:r>
            <a:endParaRPr lang="en-GB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EAD127D-90BF-8FB1-3858-0B79F2D53201}"/>
              </a:ext>
            </a:extLst>
          </p:cNvPr>
          <p:cNvSpPr txBox="1"/>
          <p:nvPr/>
        </p:nvSpPr>
        <p:spPr>
          <a:xfrm>
            <a:off x="8769253" y="3734222"/>
            <a:ext cx="759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</a:t>
            </a:r>
            <a:endParaRPr lang="en-GB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D1832A8-C6CD-7B1E-221A-A2C8E9E7EF86}"/>
              </a:ext>
            </a:extLst>
          </p:cNvPr>
          <p:cNvSpPr txBox="1"/>
          <p:nvPr/>
        </p:nvSpPr>
        <p:spPr>
          <a:xfrm>
            <a:off x="6895153" y="683420"/>
            <a:ext cx="3016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Dissolution-precipitation</a:t>
            </a:r>
          </a:p>
        </p:txBody>
      </p:sp>
    </p:spTree>
    <p:extLst>
      <p:ext uri="{BB962C8B-B14F-4D97-AF65-F5344CB8AC3E}">
        <p14:creationId xmlns:p14="http://schemas.microsoft.com/office/powerpoint/2010/main" val="3789484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89438"/>
            <a:ext cx="990915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76127814-158D-3958-ED40-42185190B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586" y="793013"/>
            <a:ext cx="11508828" cy="238290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37560699-74D6-C951-E4D5-C85AFF632AB2}"/>
              </a:ext>
            </a:extLst>
          </p:cNvPr>
          <p:cNvSpPr txBox="1"/>
          <p:nvPr/>
        </p:nvSpPr>
        <p:spPr>
          <a:xfrm>
            <a:off x="6801319" y="31759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Nano Energy, Volume 104, Part B, 2022, 107913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DFDACCA0-7F69-173B-43D2-64BA389BC0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860"/>
          <a:stretch/>
        </p:blipFill>
        <p:spPr>
          <a:xfrm>
            <a:off x="341586" y="3545253"/>
            <a:ext cx="5920992" cy="2101795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F4F262FA-926E-7E16-0626-2C8AA61182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60"/>
          <a:stretch/>
        </p:blipFill>
        <p:spPr>
          <a:xfrm>
            <a:off x="6271008" y="3545253"/>
            <a:ext cx="5920992" cy="2101795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A37D71-AFC5-D744-8B91-1723128CFFE2}"/>
              </a:ext>
            </a:extLst>
          </p:cNvPr>
          <p:cNvSpPr txBox="1"/>
          <p:nvPr/>
        </p:nvSpPr>
        <p:spPr>
          <a:xfrm>
            <a:off x="6624427" y="5754024"/>
            <a:ext cx="644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latin typeface="Arial" panose="020B0604020202020204" pitchFamily="34" charset="0"/>
                <a:cs typeface="Arial" panose="020B0604020202020204" pitchFamily="34" charset="0"/>
              </a:rPr>
              <a:t>Energy Storage Materials, Volume 38, 2021, 255-261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箭號: 向右 26">
            <a:extLst>
              <a:ext uri="{FF2B5EF4-FFF2-40B4-BE49-F238E27FC236}">
                <a16:creationId xmlns:a16="http://schemas.microsoft.com/office/drawing/2014/main" id="{802083DF-4CAE-A701-6A4E-CFDC26CB40C0}"/>
              </a:ext>
            </a:extLst>
          </p:cNvPr>
          <p:cNvSpPr/>
          <p:nvPr/>
        </p:nvSpPr>
        <p:spPr>
          <a:xfrm>
            <a:off x="654014" y="6123356"/>
            <a:ext cx="2068286" cy="64225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7D1E045-68FE-1D1E-1FA7-08A98BE353D4}"/>
              </a:ext>
            </a:extLst>
          </p:cNvPr>
          <p:cNvSpPr txBox="1"/>
          <p:nvPr/>
        </p:nvSpPr>
        <p:spPr>
          <a:xfrm>
            <a:off x="2846704" y="6216447"/>
            <a:ext cx="83561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Low E/S ratio is not suitable because of the sluggish reaction kinetics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70420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89438"/>
            <a:ext cx="9909153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4A37D71-AFC5-D744-8B91-1723128CFFE2}"/>
              </a:ext>
            </a:extLst>
          </p:cNvPr>
          <p:cNvSpPr txBox="1"/>
          <p:nvPr/>
        </p:nvSpPr>
        <p:spPr>
          <a:xfrm>
            <a:off x="6575808" y="6468562"/>
            <a:ext cx="644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Energy Storage Materials, Volume 38, 2021, 255-261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6090214-7826-0980-88D5-A4329CB069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" r="48833" b="51982"/>
          <a:stretch/>
        </p:blipFill>
        <p:spPr>
          <a:xfrm>
            <a:off x="1527048" y="1187505"/>
            <a:ext cx="3439015" cy="2495313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9CE64538-1924-C916-57E6-C933AD5E6534}"/>
              </a:ext>
            </a:extLst>
          </p:cNvPr>
          <p:cNvSpPr/>
          <p:nvPr/>
        </p:nvSpPr>
        <p:spPr>
          <a:xfrm>
            <a:off x="5785323" y="1594556"/>
            <a:ext cx="6112763" cy="4232060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the decrease of the E/S ratio, the contact angles of the solutions with both the separator and sulfur electrode increase continuously</a:t>
            </a:r>
            <a:endParaRPr lang="en-US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solidFill>
                <a:srgbClr val="1F1F1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Indicating a progressively deteriorating wettability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Migration ability of Li+ in the ether electrolyte is also reduced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DDD62B85-31FB-632D-61E8-2E4F05A92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58" t="52045"/>
          <a:stretch/>
        </p:blipFill>
        <p:spPr>
          <a:xfrm>
            <a:off x="1246849" y="3733047"/>
            <a:ext cx="3719214" cy="281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1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F5A6471-4DA3-AC8E-C720-0AD610CA0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9494" y="4157251"/>
            <a:ext cx="3227466" cy="2017166"/>
          </a:xfrm>
          <a:prstGeom prst="rect">
            <a:avLst/>
          </a:prstGeom>
        </p:spPr>
      </p:pic>
      <p:sp>
        <p:nvSpPr>
          <p:cNvPr id="11" name="語音泡泡: 橢圓形 10">
            <a:extLst>
              <a:ext uri="{FF2B5EF4-FFF2-40B4-BE49-F238E27FC236}">
                <a16:creationId xmlns:a16="http://schemas.microsoft.com/office/drawing/2014/main" id="{422E74E0-28F8-0BDC-4867-4C02236E919C}"/>
              </a:ext>
            </a:extLst>
          </p:cNvPr>
          <p:cNvSpPr/>
          <p:nvPr/>
        </p:nvSpPr>
        <p:spPr>
          <a:xfrm>
            <a:off x="93468" y="1872342"/>
            <a:ext cx="3585903" cy="1836989"/>
          </a:xfrm>
          <a:prstGeom prst="wedgeEllipse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Makes Li-S Batteries distinct from other batteries 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4061877-457A-D6D0-BCA2-6D67142F8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3801" y="3804997"/>
            <a:ext cx="4279867" cy="251630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7DCF051-1C7D-5B82-6733-E7B89AF00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711" y="707007"/>
            <a:ext cx="3441817" cy="2721992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404623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From the Perspective of Electrolyte</a:t>
            </a:r>
            <a:endParaRPr lang="en-US" sz="2500" b="1" dirty="0">
              <a:solidFill>
                <a:srgbClr val="8B0012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AA34480-576B-7991-4FFC-7C330CF41B9C}"/>
              </a:ext>
            </a:extLst>
          </p:cNvPr>
          <p:cNvSpPr txBox="1"/>
          <p:nvPr/>
        </p:nvSpPr>
        <p:spPr>
          <a:xfrm>
            <a:off x="4443949" y="3524665"/>
            <a:ext cx="2480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latin typeface="Arial" panose="020B0604020202020204" pitchFamily="34" charset="0"/>
                <a:cs typeface="Arial" panose="020B0604020202020204" pitchFamily="34" charset="0"/>
              </a:rPr>
              <a:t>Boteju, T., et al., 2023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0F64EBB7-A456-144F-0EED-BF0AF16CFB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239" y="4049445"/>
            <a:ext cx="2202004" cy="2202004"/>
          </a:xfrm>
          <a:prstGeom prst="rect">
            <a:avLst/>
          </a:prstGeom>
        </p:spPr>
      </p:pic>
      <p:sp>
        <p:nvSpPr>
          <p:cNvPr id="18" name="箭號: 向下 17">
            <a:extLst>
              <a:ext uri="{FF2B5EF4-FFF2-40B4-BE49-F238E27FC236}">
                <a16:creationId xmlns:a16="http://schemas.microsoft.com/office/drawing/2014/main" id="{C8569794-F94A-8F60-4E4F-A0590A4BA3E0}"/>
              </a:ext>
            </a:extLst>
          </p:cNvPr>
          <p:cNvSpPr/>
          <p:nvPr/>
        </p:nvSpPr>
        <p:spPr>
          <a:xfrm rot="16200000">
            <a:off x="7746585" y="2095982"/>
            <a:ext cx="566929" cy="10849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B657447A-1DDD-2453-F8C4-3D0D760EB457}"/>
                  </a:ext>
                </a:extLst>
              </p:cNvPr>
              <p:cNvSpPr/>
              <p:nvPr/>
            </p:nvSpPr>
            <p:spPr>
              <a:xfrm>
                <a:off x="8708571" y="1253750"/>
                <a:ext cx="3389961" cy="233495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Only responsible for conducting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Li</m:t>
                        </m:r>
                      </m:e>
                      <m:sup>
                        <m: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ion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Small amount of electrolyte  </a:t>
                </a:r>
              </a:p>
            </p:txBody>
          </p:sp>
        </mc:Choice>
        <mc:Fallback>
          <p:sp>
            <p:nvSpPr>
              <p:cNvPr id="19" name="矩形: 圓角 18">
                <a:extLst>
                  <a:ext uri="{FF2B5EF4-FFF2-40B4-BE49-F238E27FC236}">
                    <a16:creationId xmlns:a16="http://schemas.microsoft.com/office/drawing/2014/main" id="{B657447A-1DDD-2453-F8C4-3D0D760EB4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71" y="1253750"/>
                <a:ext cx="3389961" cy="233495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51A4A499-9715-E4B9-BF00-6B036D62C313}"/>
                  </a:ext>
                </a:extLst>
              </p:cNvPr>
              <p:cNvSpPr/>
              <p:nvPr/>
            </p:nvSpPr>
            <p:spPr>
              <a:xfrm>
                <a:off x="8708570" y="4049445"/>
                <a:ext cx="3389961" cy="233495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altLang="zh-CN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Responsible for conducting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zh-CN" sz="18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Li</m:t>
                        </m:r>
                      </m:e>
                      <m:sup>
                        <m:r>
                          <a:rPr lang="en-GB" altLang="zh-CN" sz="18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altLang="zh-CN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ion and dissolving polysulfides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GB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GB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Large amount of electrolyte is necessary </a:t>
                </a:r>
                <a:endParaRPr lang="en-GB" dirty="0"/>
              </a:p>
            </p:txBody>
          </p:sp>
        </mc:Choice>
        <mc:Fallback>
          <p:sp>
            <p:nvSpPr>
              <p:cNvPr id="24" name="矩形: 圓角 23">
                <a:extLst>
                  <a:ext uri="{FF2B5EF4-FFF2-40B4-BE49-F238E27FC236}">
                    <a16:creationId xmlns:a16="http://schemas.microsoft.com/office/drawing/2014/main" id="{51A4A499-9715-E4B9-BF00-6B036D62C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8570" y="4049445"/>
                <a:ext cx="3389961" cy="233495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箭號: 向下 24">
            <a:extLst>
              <a:ext uri="{FF2B5EF4-FFF2-40B4-BE49-F238E27FC236}">
                <a16:creationId xmlns:a16="http://schemas.microsoft.com/office/drawing/2014/main" id="{4FC8B22F-48DB-A748-CC16-5AB4A01065C4}"/>
              </a:ext>
            </a:extLst>
          </p:cNvPr>
          <p:cNvSpPr/>
          <p:nvPr/>
        </p:nvSpPr>
        <p:spPr>
          <a:xfrm rot="16200000">
            <a:off x="7746585" y="4623382"/>
            <a:ext cx="566929" cy="108490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語音泡泡: 橢圓形 25">
            <a:extLst>
              <a:ext uri="{FF2B5EF4-FFF2-40B4-BE49-F238E27FC236}">
                <a16:creationId xmlns:a16="http://schemas.microsoft.com/office/drawing/2014/main" id="{99627AD3-7A7F-AAD2-AFC6-A8E45F6B88E9}"/>
              </a:ext>
            </a:extLst>
          </p:cNvPr>
          <p:cNvSpPr/>
          <p:nvPr/>
        </p:nvSpPr>
        <p:spPr>
          <a:xfrm>
            <a:off x="118965" y="1979437"/>
            <a:ext cx="4279867" cy="1836989"/>
          </a:xfrm>
          <a:prstGeom prst="wedgeEllipseCallou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Unburden the electrolyte and let it focus on its true purpose</a:t>
            </a:r>
            <a:endParaRPr lang="en-GB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644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8" grpId="0" animBg="1"/>
      <p:bldP spid="19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</a:t>
            </a: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05DE8-9249-1EA0-6D9F-1FB480DCFC62}"/>
              </a:ext>
            </a:extLst>
          </p:cNvPr>
          <p:cNvSpPr txBox="1"/>
          <p:nvPr/>
        </p:nvSpPr>
        <p:spPr>
          <a:xfrm>
            <a:off x="8926286" y="6417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Nat Energy 3, 783–791 (2018)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C0B1BB5-7C96-A00C-AFE8-570E31FA97B7}"/>
              </a:ext>
            </a:extLst>
          </p:cNvPr>
          <p:cNvSpPr txBox="1"/>
          <p:nvPr/>
        </p:nvSpPr>
        <p:spPr>
          <a:xfrm>
            <a:off x="566928" y="999864"/>
            <a:ext cx="11418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achieve a low E/S ratio cell, it is important to decouple the electrolyte volume and sulfur speciation pathway.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873E16E-E075-0428-FC82-A45F4847E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42352" r="67848"/>
          <a:stretch/>
        </p:blipFill>
        <p:spPr>
          <a:xfrm>
            <a:off x="304754" y="1408938"/>
            <a:ext cx="2732360" cy="3659735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D5EF92BD-4991-1A8D-9100-2C2598CA9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94" t="42352" r="518"/>
          <a:stretch/>
        </p:blipFill>
        <p:spPr>
          <a:xfrm>
            <a:off x="3234004" y="1408938"/>
            <a:ext cx="2732360" cy="3363055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3380588D-D41C-B2D4-8818-3E8C03D62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617" r="52067" b="56130"/>
          <a:stretch/>
        </p:blipFill>
        <p:spPr>
          <a:xfrm>
            <a:off x="7897063" y="1657874"/>
            <a:ext cx="3883152" cy="2684943"/>
          </a:xfrm>
          <a:prstGeom prst="rect">
            <a:avLst/>
          </a:prstGeom>
        </p:spPr>
      </p:pic>
      <p:sp>
        <p:nvSpPr>
          <p:cNvPr id="40" name="文字方塊 39">
            <a:extLst>
              <a:ext uri="{FF2B5EF4-FFF2-40B4-BE49-F238E27FC236}">
                <a16:creationId xmlns:a16="http://schemas.microsoft.com/office/drawing/2014/main" id="{49875216-D11A-84CE-3283-444FC45A6A09}"/>
              </a:ext>
            </a:extLst>
          </p:cNvPr>
          <p:cNvSpPr txBox="1"/>
          <p:nvPr/>
        </p:nvSpPr>
        <p:spPr>
          <a:xfrm>
            <a:off x="991035" y="4939974"/>
            <a:ext cx="105700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By reducing free solvents, the dissolution of polysulfides is suppressed to realize a quasi-solid-solid reaction.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sulfur electrochemical reaction is decoupled from the electrolyte volume and effectively inhibits lithium metal side reactions.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3BE5756A-DF80-495D-CA2E-E533D026C825}"/>
              </a:ext>
            </a:extLst>
          </p:cNvPr>
          <p:cNvSpPr txBox="1"/>
          <p:nvPr/>
        </p:nvSpPr>
        <p:spPr>
          <a:xfrm>
            <a:off x="5325778" y="3447717"/>
            <a:ext cx="2653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3D network/Aggregate</a:t>
            </a:r>
            <a:endParaRPr lang="en-GB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AC89562-CFC1-DAFC-F0D7-238545E1D6FA}"/>
                  </a:ext>
                </a:extLst>
              </p:cNvPr>
              <p:cNvSpPr txBox="1"/>
              <p:nvPr/>
            </p:nvSpPr>
            <p:spPr>
              <a:xfrm>
                <a:off x="8678578" y="4218122"/>
                <a:ext cx="26534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The solubility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𝐋𝐢</m:t>
                        </m:r>
                      </m:e>
                      <m:sub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altLang="zh-CN" b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𝐒</m:t>
                        </m:r>
                      </m:e>
                      <m:sub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𝟖</m:t>
                        </m:r>
                        <m:r>
                          <a:rPr lang="en-US" altLang="zh-CN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</m:sub>
                    </m:sSub>
                    <m:r>
                      <a:rPr lang="en-US" altLang="zh-CN" b="1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GB" altLang="zh-CN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AC89562-CFC1-DAFC-F0D7-238545E1D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8578" y="4218122"/>
                <a:ext cx="2653451" cy="369332"/>
              </a:xfrm>
              <a:prstGeom prst="rect">
                <a:avLst/>
              </a:prstGeom>
              <a:blipFill>
                <a:blip r:embed="rId5"/>
                <a:stretch>
                  <a:fillRect l="-2069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</a:t>
            </a: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05DE8-9249-1EA0-6D9F-1FB480DCFC62}"/>
              </a:ext>
            </a:extLst>
          </p:cNvPr>
          <p:cNvSpPr txBox="1"/>
          <p:nvPr/>
        </p:nvSpPr>
        <p:spPr>
          <a:xfrm>
            <a:off x="8926286" y="6417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Nat Energy 3, 783–791 (2018)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D8F7AA1-5A04-C317-8DDB-174A04C891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330"/>
          <a:stretch/>
        </p:blipFill>
        <p:spPr>
          <a:xfrm>
            <a:off x="3418081" y="1274648"/>
            <a:ext cx="4816864" cy="2590800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8DB680CD-150C-3AA6-D412-F8FCD3153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742" b="71063"/>
          <a:stretch/>
        </p:blipFill>
        <p:spPr>
          <a:xfrm>
            <a:off x="185895" y="3901444"/>
            <a:ext cx="2506997" cy="197884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49A0B78A-C65C-0A2E-8400-97431969C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747" r="55850" b="36696"/>
          <a:stretch/>
        </p:blipFill>
        <p:spPr>
          <a:xfrm>
            <a:off x="2884865" y="3808493"/>
            <a:ext cx="2650648" cy="2164741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C8DAB169-4BBC-1641-E71F-5D4FECACE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955" r="57161" b="2488"/>
          <a:stretch/>
        </p:blipFill>
        <p:spPr>
          <a:xfrm>
            <a:off x="5727486" y="3808493"/>
            <a:ext cx="2649149" cy="2229732"/>
          </a:xfrm>
          <a:prstGeom prst="rect">
            <a:avLst/>
          </a:prstGeom>
        </p:spPr>
      </p:pic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719CB46E-6194-EE43-4E44-16CA34A7F7CC}"/>
              </a:ext>
            </a:extLst>
          </p:cNvPr>
          <p:cNvSpPr/>
          <p:nvPr/>
        </p:nvSpPr>
        <p:spPr>
          <a:xfrm>
            <a:off x="8365112" y="1123901"/>
            <a:ext cx="3771622" cy="5293401"/>
          </a:xfrm>
          <a:prstGeom prst="round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Liquid state reaction is gradually converted to be qusai-solid state reaction when solvent is getting less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System with G2:LiTFSI(0.8:1) can run for 100 cycles with the CE of 100%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issue of corrosion of lithium anode is eased 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0AB5AFE2-6924-4B34-19B0-F2A745FC2312}"/>
              </a:ext>
            </a:extLst>
          </p:cNvPr>
          <p:cNvSpPr txBox="1"/>
          <p:nvPr/>
        </p:nvSpPr>
        <p:spPr>
          <a:xfrm>
            <a:off x="174372" y="5955637"/>
            <a:ext cx="8190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Reaction kinetics of qusai-solid state reaction is sluggish, leading to limited rate and cycle performance 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8DABDDF3-F645-3EEC-F751-4CB50ED589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56" b="49365"/>
          <a:stretch/>
        </p:blipFill>
        <p:spPr>
          <a:xfrm>
            <a:off x="55266" y="1123901"/>
            <a:ext cx="3362815" cy="289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+ Surface-Localized Liquid Phase </a:t>
            </a: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05DE8-9249-1EA0-6D9F-1FB480DCFC62}"/>
              </a:ext>
            </a:extLst>
          </p:cNvPr>
          <p:cNvSpPr txBox="1"/>
          <p:nvPr/>
        </p:nvSpPr>
        <p:spPr>
          <a:xfrm>
            <a:off x="8732215" y="64785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Nat. Chem. 17, 614–623 (2025)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F06B4B50-D62E-D130-D099-2AB43267B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7AB9C67B-D051-6E60-27CB-CD16C6875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07" y="891928"/>
            <a:ext cx="6096001" cy="3855309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D14C8253-E56B-1A8B-6B6E-A301790CB8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770" t="70550"/>
          <a:stretch/>
        </p:blipFill>
        <p:spPr>
          <a:xfrm>
            <a:off x="7208402" y="1612960"/>
            <a:ext cx="3982112" cy="2219976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FBC08890-1EB1-9E08-BD37-E857643452B0}"/>
              </a:ext>
            </a:extLst>
          </p:cNvPr>
          <p:cNvSpPr txBox="1"/>
          <p:nvPr/>
        </p:nvSpPr>
        <p:spPr>
          <a:xfrm>
            <a:off x="213720" y="4846151"/>
            <a:ext cx="117645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Baseline electrolyte configuration: Employing a sparingly-solvating electrolyte to maintain a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minimally dissolving effect on lithium polysulfides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BDTS as a "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phase-regulating mediator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 to trigger intermolecular chelation with lithium polysulfides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Inducing slight particle dissolution to form a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surface-localized liquid phase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thereby accelerating kinetics and conversion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altLang="zh-CN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37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pk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887" y="256032"/>
            <a:ext cx="1481328" cy="536981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66928" y="379476"/>
            <a:ext cx="1009752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500" b="1" dirty="0">
                <a:solidFill>
                  <a:srgbClr val="8B0012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Weakly Solvating Electrolytes + Surface-Localized Liquid Phase </a:t>
            </a:r>
          </a:p>
        </p:txBody>
      </p:sp>
      <p:sp>
        <p:nvSpPr>
          <p:cNvPr id="4" name="redbar"/>
          <p:cNvSpPr/>
          <p:nvPr/>
        </p:nvSpPr>
        <p:spPr>
          <a:xfrm>
            <a:off x="566928" y="932688"/>
            <a:ext cx="960120" cy="50292"/>
          </a:xfrm>
          <a:prstGeom prst="rect">
            <a:avLst/>
          </a:prstGeom>
          <a:solidFill>
            <a:srgbClr val="8B0012"/>
          </a:solidFill>
        </p:spPr>
        <p:txBody>
          <a:bodyPr/>
          <a:lstStyle/>
          <a:p>
            <a:endParaRPr lang="en-GB"/>
          </a:p>
        </p:txBody>
      </p:sp>
      <p:sp>
        <p:nvSpPr>
          <p:cNvPr id="5" name="rule"/>
          <p:cNvSpPr/>
          <p:nvPr/>
        </p:nvSpPr>
        <p:spPr>
          <a:xfrm>
            <a:off x="1527048" y="960120"/>
            <a:ext cx="100975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6405DE8-9249-1EA0-6D9F-1FB480DCFC62}"/>
              </a:ext>
            </a:extLst>
          </p:cNvPr>
          <p:cNvSpPr txBox="1"/>
          <p:nvPr/>
        </p:nvSpPr>
        <p:spPr>
          <a:xfrm>
            <a:off x="8732215" y="6417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Nat. Chem. 17, 614–623 (2025)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F06B4B50-D62E-D130-D099-2AB43267BE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181E028-FDE0-49A5-7C55-3FD9EAAA6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1203" b="66746"/>
          <a:stretch/>
        </p:blipFill>
        <p:spPr>
          <a:xfrm>
            <a:off x="816430" y="1169827"/>
            <a:ext cx="4887685" cy="275260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68AEDE7-5CDD-A95C-935A-8C7BF8BE2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33085" r="1203" b="33492"/>
          <a:stretch/>
        </p:blipFill>
        <p:spPr>
          <a:xfrm>
            <a:off x="6386343" y="1266681"/>
            <a:ext cx="4691743" cy="265570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BFAE3E8-69F5-7A06-10B8-70AF86F0A1C8}"/>
                  </a:ext>
                </a:extLst>
              </p:cNvPr>
              <p:cNvSpPr txBox="1"/>
              <p:nvPr/>
            </p:nvSpPr>
            <p:spPr>
              <a:xfrm>
                <a:off x="566928" y="4263465"/>
                <a:ext cx="1108080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Li–S cells achieve excellent kinetics showing 494 mA h 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-sulfur capacity at a discharge rate of 16C, and stabilized cycling under lean electrolyte (3–5 </a:t>
                </a:r>
                <a:r>
                  <a:rPr lang="en-US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μl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mg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 and high sulfur loading (3–5 mg</a:t>
                </a:r>
                <a:r>
                  <a:rPr lang="en-US" altLang="zh-CN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cm</m:t>
                        </m:r>
                      </m:e>
                      <m:sup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en-GB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9BFAE3E8-69F5-7A06-10B8-70AF86F0A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8" y="4263465"/>
                <a:ext cx="11080809" cy="646331"/>
              </a:xfrm>
              <a:prstGeom prst="rect">
                <a:avLst/>
              </a:prstGeom>
              <a:blipFill>
                <a:blip r:embed="rId4"/>
                <a:stretch>
                  <a:fillRect l="-440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517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490</Words>
  <Application>Microsoft Office PowerPoint</Application>
  <PresentationFormat>寬螢幕</PresentationFormat>
  <Paragraphs>73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等线</vt:lpstr>
      <vt:lpstr>等线 Light</vt:lpstr>
      <vt:lpstr>Arial</vt:lpstr>
      <vt:lpstr>Cambria Math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 Agonie</dc:creator>
  <cp:lastModifiedBy>SI Agonie</cp:lastModifiedBy>
  <cp:revision>26</cp:revision>
  <dcterms:created xsi:type="dcterms:W3CDTF">2026-06-06T17:09:23Z</dcterms:created>
  <dcterms:modified xsi:type="dcterms:W3CDTF">2026-06-07T16:23:08Z</dcterms:modified>
</cp:coreProperties>
</file>