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橙皮苷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38.2</c:v>
                </c:pt>
                <c:pt idx="1">
                  <c:v>31.6</c:v>
                </c:pt>
                <c:pt idx="2">
                  <c:v>29.4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川陈皮素</c:v>
                </c:pt>
              </c:strCache>
            </c:strRef>
          </c:tx>
          <c:spPr>
            <a:solidFill>
              <a:srgbClr val="BE2A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4.8</c:v>
                </c:pt>
                <c:pt idx="1">
                  <c:v>2.1</c:v>
                </c:pt>
                <c:pt idx="2">
                  <c:v>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橘皮素</c:v>
                </c:pt>
              </c:strCache>
            </c:strRef>
          </c:tx>
          <c:spPr>
            <a:solidFill>
              <a:srgbClr val="CEAB6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新会</c:v>
                  </c:pt>
                  <c:pt idx="1">
                    <c:v>四川</c:v>
                  </c:pt>
                  <c:pt idx="2">
                    <c:v>浙江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3.1</c:v>
                </c:pt>
                <c:pt idx="1">
                  <c:v>1.2</c:v>
                </c:pt>
                <c:pt idx="2">
                  <c:v>0.9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含量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50 ℃</c:v>
                </c:pt>
              </c:strCache>
            </c:strRef>
          </c:tx>
          <c:spPr>
            <a:solidFill>
              <a:srgbClr val="9A0001"/>
            </a:solidFill>
            <a:ln w="27940" cap="flat">
              <a:solidFill>
                <a:srgbClr val="9A0001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0001"/>
              </a:solidFill>
              <a:ln w="9525" cap="flat">
                <a:solidFill>
                  <a:srgbClr val="9A000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21.4</c:v>
                </c:pt>
                <c:pt idx="1">
                  <c:v>30.2</c:v>
                </c:pt>
                <c:pt idx="2">
                  <c:v>35.8</c:v>
                </c:pt>
                <c:pt idx="3">
                  <c:v>38.1</c:v>
                </c:pt>
                <c:pt idx="4">
                  <c:v>35</c:v>
                </c:pt>
                <c:pt idx="5">
                  <c:v>28.6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 ℃</c:v>
                </c:pt>
              </c:strCache>
            </c:strRef>
          </c:tx>
          <c:spPr>
            <a:solidFill>
              <a:srgbClr val="BE2A2E"/>
            </a:solidFill>
            <a:ln w="27940" cap="flat">
              <a:solidFill>
                <a:srgbClr val="BE2A2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E2A2E"/>
              </a:solidFill>
              <a:ln w="9525" cap="flat">
                <a:solidFill>
                  <a:srgbClr val="BE2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24.8</c:v>
                </c:pt>
                <c:pt idx="1">
                  <c:v>34.6</c:v>
                </c:pt>
                <c:pt idx="2">
                  <c:v>40.2</c:v>
                </c:pt>
                <c:pt idx="3">
                  <c:v>42.7</c:v>
                </c:pt>
                <c:pt idx="4">
                  <c:v>39.4</c:v>
                </c:pt>
                <c:pt idx="5">
                  <c:v>31.2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70 ℃</c:v>
                </c:pt>
              </c:strCache>
            </c:strRef>
          </c:tx>
          <c:spPr>
            <a:solidFill>
              <a:srgbClr val="CEAB6E"/>
            </a:solidFill>
            <a:ln w="27940" cap="flat">
              <a:solidFill>
                <a:srgbClr val="CEAB6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EAB6E"/>
              </a:solidFill>
              <a:ln w="9525" cap="flat">
                <a:solidFill>
                  <a:srgbClr val="CEAB6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</c:v>
                  </c:pt>
                  <c:pt idx="1">
                    <c:v>50</c:v>
                  </c:pt>
                  <c:pt idx="2">
                    <c:v>60</c:v>
                  </c:pt>
                  <c:pt idx="3">
                    <c:v>70</c:v>
                  </c:pt>
                  <c:pt idx="4">
                    <c:v>80</c:v>
                  </c:pt>
                  <c:pt idx="5">
                    <c:v>90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25.1</c:v>
                </c:pt>
                <c:pt idx="1">
                  <c:v>34.9</c:v>
                </c:pt>
                <c:pt idx="2">
                  <c:v>39.8</c:v>
                </c:pt>
                <c:pt idx="3">
                  <c:v>41</c:v>
                </c:pt>
                <c:pt idx="4">
                  <c:v>37.2</c:v>
                </c:pt>
                <c:pt idx="5">
                  <c:v>29.1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乙醇体积分数 (%)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总黄酮收率 (mg·g⁻¹)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VIP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橙皮苷</c:v>
                  </c:pt>
                  <c:pt idx="1">
                    <c:v>柚皮苷</c:v>
                  </c:pt>
                  <c:pt idx="2">
                    <c:v>新橙皮苷</c:v>
                  </c:pt>
                  <c:pt idx="3">
                    <c:v>川陈皮素</c:v>
                  </c:pt>
                  <c:pt idx="4">
                    <c:v>橘皮素</c:v>
                  </c:pt>
                  <c:pt idx="5">
                    <c:v>5-去甲川陈皮素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0.41</c:v>
                </c:pt>
                <c:pt idx="1">
                  <c:v>0.68</c:v>
                </c:pt>
                <c:pt idx="2">
                  <c:v>0.92</c:v>
                </c:pt>
                <c:pt idx="3">
                  <c:v>1.86</c:v>
                </c:pt>
                <c:pt idx="4">
                  <c:v>1.72</c:v>
                </c:pt>
                <c:pt idx="5">
                  <c:v>1.34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VIP 值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占比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A0001"/>
              </a:solidFill>
              <a:effectLst/>
            </c:spPr>
          </c:dPt>
          <c:dPt>
            <c:idx val="1"/>
            <c:bubble3D val="0"/>
            <c:spPr>
              <a:solidFill>
                <a:srgbClr val="BE2A2E"/>
              </a:solidFill>
              <a:effectLst/>
            </c:spPr>
          </c:dPt>
          <c:dPt>
            <c:idx val="2"/>
            <c:bubble3D val="0"/>
            <c:spPr>
              <a:solidFill>
                <a:srgbClr val="CEAB6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  <a:ea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黄酮苷类</c:v>
                </c:pt>
                <c:pt idx="1">
                  <c:v>多甲氧基黄酮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71</c:v>
                </c:pt>
                <c:pt idx="1">
                  <c:v>21</c:v>
                </c:pt>
                <c:pt idx="2">
                  <c:v>8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2A242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多甲氧基黄酮占比</c:v>
                </c:pt>
              </c:strCache>
            </c:strRef>
          </c:tx>
          <c:spPr>
            <a:solidFill>
              <a:srgbClr val="9A000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2422"/>
                    </a:solidFill>
                    <a:latin typeface="Arial"/>
                    <a:ea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年</c:v>
                  </c:pt>
                  <c:pt idx="1">
                    <c:v>3 年</c:v>
                  </c:pt>
                  <c:pt idx="2">
                    <c:v>5 年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12.4</c:v>
                </c:pt>
                <c:pt idx="1">
                  <c:v>21</c:v>
                </c:pt>
                <c:pt idx="2">
                  <c:v>26.8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2A2422"/>
                  </a:solidFill>
                  <a:latin typeface="Arial"/>
                  <a:ea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-8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陈化年份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E7DAD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DAD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defRPr>
                </a:pPr>
                <a:r>
                  <a:rPr sz="1100" b="0" i="0" u="none" strike="noStrike">
                    <a:solidFill>
                      <a:srgbClr val="797069"/>
                    </a:solidFill>
                    <a:latin typeface="Arial"/>
                    <a:ea typeface="Microsoft YaHei"/>
                  </a:rPr>
                  <a:t>占总黄酮比例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97069"/>
                </a:solidFill>
                <a:latin typeface="Arial"/>
                <a:ea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开场：陈皮按年份卖出十倍价差，但药典只测橙皮苷一个指标——这个缺口就是本文的切入点。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先让评审看到药材本体与分级依据，后面讲“为什么单一指标不够”才有落点。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先给价格与含量的反差，评审立刻能理解问题为什么值得做。多甲氧基黄酮是全篇伏笔。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三个数字对应三章。强调“接成一条链”——这是与只优化收率的工作的差别。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先给全局图，后面每页对应图上一个方框。被问方法就回到这页定位。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答辩必问方法细节，这页把条件与验证数据一次给全；最后一条解释双波长，是与“候选标志物”呼应的伏笔。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讲清 70% 的极值成因（溶解度 vs 杂质共提），这是评审最常追问的点；70 ℃ 降解是不再往上加温的理由。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两条式子的作用不同：式 (1) 定时间，式 (2) 定浓度。被问“为什么不用更高浓度”就用式 (2) 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这页是全文最硬的结果：药典指标判别力最低。念 VIP 值时强调阈值 1.0 这条线。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环形图只讲“多甲氧基黄酮占两成”这一件事，右侧柱图给年份趋势。收益上限那句是主动交代局限。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逐行念，重点在最后两行：药典指标与活性无关，这是把标志物换掉的依据。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停留本页。最可能被问：九组样品够不够（答：够支撑判别力排序，不够支撑限量标准，已写进不足）。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致谢：念到名字即可，不逐条展开。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结束页；细节问题退回结论页或对应页码。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right:9A0001:12"/>
          <p:cNvSpPr/>
          <p:nvPr/>
        </p:nvSpPr>
        <p:spPr>
          <a:xfrm>
            <a:off x="4114800" y="0"/>
            <a:ext cx="3127248" cy="6858000"/>
          </a:xfrm>
          <a:prstGeom prst="rect">
            <a:avLst/>
          </a:prstGeom>
          <a:gradFill rotWithShape="1">
            <a:gsLst>
              <a:gs pos="0">
                <a:srgbClr val="9A0001">
                  <a:alpha val="12000"/>
                </a:srgbClr>
              </a:gs>
              <a:gs pos="100000">
                <a:srgbClr val="9A0001">
                  <a:alpha val="0"/>
                </a:srgbClr>
              </a:gs>
            </a:gsLst>
            <a:lin ang="0" scaled="0"/>
          </a:gra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133088" cy="6858000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237744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硕士学位论文答辩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51389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534009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7058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100" kern="0" dirty="0">
                <a:solidFill>
                  <a:srgbClr val="E6BEB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5907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</a:t>
            </a:r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</a:t>
            </a:r>
            <a:endParaRPr lang="en-US" sz="1400" dirty="0"/>
          </a:p>
        </p:txBody>
      </p:sp>
      <p:pic>
        <p:nvPicPr>
          <p:cNvPr id="9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90288" y="2444496"/>
            <a:ext cx="6940296" cy="1328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陈皮黄酮的提取工艺优化与质量标志物筛选</a:t>
            </a:r>
            <a:endParaRPr lang="en-US" sz="4200" dirty="0"/>
          </a:p>
        </p:txBody>
      </p:sp>
      <p:sp>
        <p:nvSpPr>
          <p:cNvPr id="11" name="Shape 8"/>
          <p:cNvSpPr/>
          <p:nvPr/>
        </p:nvSpPr>
        <p:spPr>
          <a:xfrm>
            <a:off x="4590288" y="4104132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2" name="Text 9"/>
          <p:cNvSpPr/>
          <p:nvPr/>
        </p:nvSpPr>
        <p:spPr>
          <a:xfrm>
            <a:off x="4590288" y="4405884"/>
            <a:ext cx="6940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把“陈久者良”从经验说法变成可测的成分指标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4133088" y="5138928"/>
            <a:ext cx="7397496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1"/>
          <p:cNvSpPr/>
          <p:nvPr/>
        </p:nvSpPr>
        <p:spPr>
          <a:xfrm>
            <a:off x="4590288" y="5358384"/>
            <a:ext cx="6940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指导教师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90288" y="5559552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4590288" y="5961888"/>
            <a:ext cx="6940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</a:t>
            </a:r>
            <a:endParaRPr lang="en-US" sz="125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5" name="Text 2"/>
          <p:cNvSpPr/>
          <p:nvPr/>
        </p:nvSpPr>
        <p:spPr>
          <a:xfrm>
            <a:off x="704088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527048" y="1737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613648" y="1737360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527048" y="2551176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263347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27048" y="263347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8613648" y="2633472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27048" y="3447288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352958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527048" y="352958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8613648" y="3529584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527048" y="4343400"/>
            <a:ext cx="10003536" cy="7315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" y="442569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527048" y="442569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8613648" y="4425696"/>
            <a:ext cx="2916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药典指标与实际质量的脱节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一个指标定不了等级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橙皮苷在三产地间差异不足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1.5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倍，无法区分优劣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提取工艺各家不一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文献报道的乙醇浓度跨度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50–90%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，收率无法互比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“陈久者良”缺证据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年份与活性成分的定量关系尚未建立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陈皮是柑橘果皮的干燥饮片，按产地与陈化年份分级流通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435439" y="1568704"/>
            <a:ext cx="3676227" cy="2773172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peel1_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443" y="1600708"/>
            <a:ext cx="3612219" cy="270916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401312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干燥陈皮饮片的内外表面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松岡明芳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300216" y="1747012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鉴别特征：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外表面棕褐、密布凹入的油室，内表面类白色并带维管束纹路——油室密度与内表面色泽是传统分级依据。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300216" y="235864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300216" y="2450084"/>
            <a:ext cx="5230368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新会、四川、浙江三产地，各取陈化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年样品，共九组；同批采收以排除年际差异。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300216" y="3061716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300216" y="3153156"/>
            <a:ext cx="5230368" cy="296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前处理：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烘至恒重，粉碎过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目筛，避光干燥保存。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药典只测橙皮苷，而它在产地间的差异远小于价格差异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6126480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《中国药典》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年版一部；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 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</a:t>
            </a:r>
            <a:pPr algn="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(2021) J Ethnopharmacol</a:t>
            </a:r>
            <a:endParaRPr lang="en-US" sz="12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600708"/>
          <a:ext cx="5753405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658368" y="4554220"/>
            <a:ext cx="5753405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三产地六种黄酮的含量对比（合成示意数据）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823253" y="1747012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价格与指标脱节：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新会陈皮的市价可达四川货的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8–10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倍，但橙皮苷含量只高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30%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23253" y="2358644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6823253" y="2450084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差异藏在多甲氧基黄酮：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川陈皮素与橘皮素在新会样品中分别高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2.3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倍与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3.4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倍，而药典不测这两项。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823253" y="3061716"/>
            <a:ext cx="4707331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6823253" y="3153156"/>
            <a:ext cx="4707331" cy="538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4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由此产生的问题：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4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以单一指标验收，无法把真正决定价格的成分纳入质量控制。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本文要做三件事：定工艺、找标志物、验活性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658368" y="1618996"/>
            <a:ext cx="23774" cy="704088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59536" y="1655572"/>
            <a:ext cx="7924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798320" y="1637284"/>
            <a:ext cx="973226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以响应面法确定可复现的超声辅助提取工艺，在此基础上定量六种黄酮，用多变量统计筛出能区分产地与年份的质量标志物，并以抗炎活性验证所筛标志物是否与药效相关。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58368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种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658368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定量黄酮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58368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HPLC-DAD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同步测定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3" name="Text 10"/>
          <p:cNvSpPr/>
          <p:nvPr/>
        </p:nvSpPr>
        <p:spPr>
          <a:xfrm>
            <a:off x="4379976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</a:t>
            </a:r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379976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工艺实验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379976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BBD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01584" y="2579116"/>
            <a:ext cx="3429000" cy="2377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17" name="Text 14"/>
          <p:cNvSpPr/>
          <p:nvPr/>
        </p:nvSpPr>
        <p:spPr>
          <a:xfrm>
            <a:off x="8101584" y="2725420"/>
            <a:ext cx="3429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× 3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8101584" y="336550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样品矩阵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101584" y="36215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</a:t>
            </a:r>
            <a:pPr algn="l" indent="0" marL="0">
              <a:buNone/>
            </a:pPr>
            <a:r>
              <a:rPr lang="en-US" sz="11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三陈化年份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8368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与已有工作的区别：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多数报道只优化收率；本文把“提取工艺”与“质量评价”接在一条链上。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300216" y="412445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可交付的东西：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一套工艺参数、一组标志物、以及二者之间的定量对应关系。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响应面优化与动力学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四因素三水平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乙醇浓度、温度、时间、液料比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以总黄酮为响应值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Box–Behnken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27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用动力学解释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两段行为对应溶出与平衡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两条链在最优工艺处交接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600708"/>
            <a:ext cx="10872216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这张图回答两个问题：工艺参数在哪一步被固定下来，以及后续的定量与活性数据为什么彼此可比。</a:t>
            </a:r>
            <a:endParaRPr lang="en-US" sz="1350" dirty="0"/>
          </a:p>
        </p:txBody>
      </p:sp>
      <p:pic>
        <p:nvPicPr>
          <p:cNvPr id="6" name="Image 1" descr="assets/d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08200"/>
            <a:ext cx="10872216" cy="10018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3201508"/>
            <a:ext cx="10872216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研究技术路线（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Graphviz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布局引擎绘制）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658368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响应面把乙醇浓度、温度、时间、液料比四个参数收敛到唯一一组取值，此后不再变动。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300216" y="3692744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解析链：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定量、统计与活性验证都在同一批最优工艺提取物上完成，避免跨工艺数据互不可比。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六种黄酮在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内实现基线分离</a:t>
            </a:r>
            <a:endParaRPr lang="en-US" sz="2500" dirty="0"/>
          </a:p>
        </p:txBody>
      </p:sp>
      <p:sp>
        <p:nvSpPr>
          <p:cNvPr id="5" name="Shape 2"/>
          <p:cNvSpPr/>
          <p:nvPr/>
        </p:nvSpPr>
        <p:spPr>
          <a:xfrm>
            <a:off x="1789173" y="1568704"/>
            <a:ext cx="1922685" cy="2665984"/>
          </a:xfrm>
          <a:prstGeom prst="rect">
            <a:avLst/>
          </a:prstGeom>
          <a:ln w="9525">
            <a:solidFill>
              <a:srgbClr val="E7DAD8"/>
            </a:solidFill>
            <a:prstDash val="solid"/>
          </a:ln>
        </p:spPr>
      </p:sp>
      <p:pic>
        <p:nvPicPr>
          <p:cNvPr id="6" name="Image 1" descr="assets/web/hplc4_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1177" y="1600708"/>
            <a:ext cx="1858677" cy="260197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58368" y="4294124"/>
            <a:ext cx="4184294" cy="506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定量所用液相色谱系统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(Nadina Wiórkiewicz / CC BY-SA / Wikimedia Commons)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5254142" y="1681175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色谱柱与流动相：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C18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柱（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 × 4.6 mm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μm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）；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甲酸水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乙腈梯度洗脱，流速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 mL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254142" y="2266391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0" name="Text 6"/>
          <p:cNvSpPr/>
          <p:nvPr/>
        </p:nvSpPr>
        <p:spPr>
          <a:xfrm>
            <a:off x="5254142" y="2348687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检测条件：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柱温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，进样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μL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；黄酮苷类于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283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、多甲氧基黄酮于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330 nm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254142" y="2933903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8"/>
          <p:cNvSpPr/>
          <p:nvPr/>
        </p:nvSpPr>
        <p:spPr>
          <a:xfrm>
            <a:off x="5254142" y="3016199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方法学验证：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六种成分线性范围内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r² &gt; 0.999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，加样回收率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96.4–102.1%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，日内精密度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&lt; 2.0%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254142" y="3601415"/>
            <a:ext cx="6276442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4" name="Text 10"/>
          <p:cNvSpPr/>
          <p:nvPr/>
        </p:nvSpPr>
        <p:spPr>
          <a:xfrm>
            <a:off x="5254142" y="3683711"/>
            <a:ext cx="627644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为什么要双波长：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两类黄酮的最大吸收相差近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 nm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，单波长会低估多甲氧基黄酮——而它们正是本文的候选标志物。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乙醇浓度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70%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时总黄酮收率达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不同温度下的乙醇浓度响应（合成示意数据）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621333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浓度存在极值：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处收率最高；再升高时黄酮苷类溶解度下降，同时蜡质与色素被大量共提。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197405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270557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温度收益有限：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→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收率反降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 mg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，川陈皮素在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70 ℃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下检出降解产物。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846629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2919781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工艺取值：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；三次平行的相对标准偏差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300216" y="3843325"/>
            <a:ext cx="23774" cy="635000"/>
          </a:xfrm>
          <a:prstGeom prst="rect">
            <a:avLst/>
          </a:prstGeom>
          <a:solidFill>
            <a:srgbClr val="CEAB6E"/>
          </a:solidFill>
          <a:ln/>
        </p:spPr>
      </p:sp>
      <p:sp>
        <p:nvSpPr>
          <p:cNvPr id="13" name="Text 9"/>
          <p:cNvSpPr/>
          <p:nvPr/>
        </p:nvSpPr>
        <p:spPr>
          <a:xfrm>
            <a:off x="6501384" y="3879901"/>
            <a:ext cx="469392" cy="56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CEAB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7117080" y="3861613"/>
            <a:ext cx="4413504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全篇数值为方法演示用的合成示意数据，非真实实验结果。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溶出曲线用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Weibull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模型拟合，两段行为对应不同控速步骤</a:t>
            </a:r>
            <a:endParaRPr lang="en-US" sz="2500" dirty="0"/>
          </a:p>
        </p:txBody>
      </p:sp>
      <p:pic>
        <p:nvPicPr>
          <p:cNvPr id="5" name="Image 1" descr="assets/eq/ex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7220" y="1600708"/>
            <a:ext cx="3894513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58368" y="1747012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1248" y="2259076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Y∞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平衡收率；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速率常数；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形状参数，反映控速机制。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658368" y="2758948"/>
            <a:ext cx="523036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15 min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0.62 &lt; 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，表面洗脱主导，收率达到平衡值的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78%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6300216" y="2758948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 </a:t>
            </a:r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转为细胞内扩散控速，延长到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仅再增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4%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，故取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40 min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pic>
        <p:nvPicPr>
          <p:cNvPr id="10" name="Image 2" descr="assets/eq/d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6415" y="3627628"/>
            <a:ext cx="2556123" cy="53035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58368" y="3764788"/>
            <a:ext cx="10872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841248" y="4267708"/>
            <a:ext cx="10506456" cy="262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其中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植物相与溶剂相的分配系数；</a:t>
            </a:r>
            <a:pPr indent="0" marL="0">
              <a:lnSpc>
                <a:spcPct val="124000"/>
              </a:lnSpc>
              <a:buNone/>
            </a:pPr>
            <a:r>
              <a:rPr lang="en-US" sz="12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ΔG </a:t>
            </a:r>
            <a:pPr indent="0" marL="0">
              <a:lnSpc>
                <a:spcPct val="124000"/>
              </a:lnSpc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转移自由能。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658368" y="478586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式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(2)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解释了浓度极值：乙醇比例升高使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ΔG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先降后升，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处分配系数最有利于黄酮苷向溶剂相转移。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从含量矩阵到可判别指标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多变量统计筛选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OPLS-DA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值排序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三个候选标志物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两种多甲氧基黄酮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一种苷元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与活性对齐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候选物与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值排在最前，橙皮苷排在末位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41706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  OPLS-DA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变量重要性排序（合成示意数据）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6300216" y="1747012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判别力排序颠倒：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药典指标橙皮苷的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，远低于阈值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1.0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；三种多甲氧基黄酮全部超过阈值。</a:t>
            </a:r>
            <a:endParaRPr lang="en-US" sz="1350" dirty="0"/>
          </a:p>
        </p:txBody>
      </p:sp>
      <p:sp>
        <p:nvSpPr>
          <p:cNvPr id="8" name="Shape 4"/>
          <p:cNvSpPr/>
          <p:nvPr/>
        </p:nvSpPr>
        <p:spPr>
          <a:xfrm>
            <a:off x="6300216" y="2323084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5"/>
          <p:cNvSpPr/>
          <p:nvPr/>
        </p:nvSpPr>
        <p:spPr>
          <a:xfrm>
            <a:off x="6300216" y="2396236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机理上说得通：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橙皮苷是柑橘属普遍成分，而多甲氧基黄酮的积累与陈化过程中的脱糖苷化相关。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300216" y="2972308"/>
            <a:ext cx="5230368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1" name="Text 7"/>
          <p:cNvSpPr/>
          <p:nvPr/>
        </p:nvSpPr>
        <p:spPr>
          <a:xfrm>
            <a:off x="6300216" y="3045460"/>
            <a:ext cx="523036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候选标志物：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川陈皮素、橘皮素、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</a:t>
            </a:r>
            <a:pPr indent="0" marL="0">
              <a:lnSpc>
                <a:spcPct val="126000"/>
              </a:lnSpc>
              <a:buNone/>
            </a:pPr>
            <a:r>
              <a:rPr lang="en-US" sz="13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去甲川陈皮素，三者组合可把九组样品完全分开。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陈化三年样品中多甲氧基黄酮占比升至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21%</a:t>
            </a:r>
            <a:endParaRPr lang="en-US" sz="2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58368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658368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陈化三年样品的黄酮组成（合成示意数据）</a:t>
            </a:r>
            <a:endParaRPr lang="en-US" sz="115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6300216" y="1600708"/>
          <a:ext cx="523036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6300216" y="4371340"/>
            <a:ext cx="5230368" cy="308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 </a:t>
            </a:r>
            <a:pPr algn="ctr" indent="0" marL="0">
              <a:buNone/>
            </a:pPr>
            <a:r>
              <a:rPr lang="en-US" sz="11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多甲氧基黄酮占比随陈化年份的变化（合成示意数据）</a:t>
            </a:r>
            <a:endParaRPr lang="en-US" sz="1150" dirty="0"/>
          </a:p>
        </p:txBody>
      </p:sp>
      <p:sp>
        <p:nvSpPr>
          <p:cNvPr id="9" name="Text 4"/>
          <p:cNvSpPr/>
          <p:nvPr/>
        </p:nvSpPr>
        <p:spPr>
          <a:xfrm>
            <a:off x="658368" y="4844288"/>
            <a:ext cx="10872216" cy="261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占比随年份单调上升，与“陈久者良”的传统判断方向一致；但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年样品的总黄酮已下降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，说明陈化存在收益上限。</a:t>
            </a:r>
            <a:endParaRPr lang="en-US" sz="1300" dirty="0"/>
          </a:p>
        </p:txBody>
      </p:sp>
      <p:sp>
        <p:nvSpPr>
          <p:cNvPr id="10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1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候选标志物含量与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 </a:t>
            </a:r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抑制率相关，橙皮苷不相关</a:t>
            </a:r>
            <a:endParaRPr lang="en-US" sz="2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708"/>
          <a:ext cx="10872216" cy="914400"/>
        </p:xfrm>
        <a:graphic>
          <a:graphicData uri="http://schemas.openxmlformats.org/drawingml/2006/table">
            <a:tbl>
              <a:tblPr/>
              <a:tblGrid>
                <a:gridCol w="3261665"/>
                <a:gridCol w="1956999"/>
                <a:gridCol w="2174443"/>
                <a:gridCol w="347910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NO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抑制率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000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作为标志物是否成立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7970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0.89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成立：判别力与活性双高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橘皮素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去甲川陈皮素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成立，但含量低、定量误差偏大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不成立：判别力不足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E7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橙皮苷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A242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不成立：与活性无关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9A000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58368" y="4455922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7" name="Text 3"/>
          <p:cNvSpPr/>
          <p:nvPr/>
        </p:nvSpPr>
        <p:spPr>
          <a:xfrm>
            <a:off x="859536" y="4492498"/>
            <a:ext cx="46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475232" y="4474210"/>
            <a:ext cx="100553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抑制率取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 μg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mL⁻¹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提取物在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RAW264.7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细胞上的三次平行均值；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为含量与抑制率的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Pearson 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系数，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9</a:t>
            </a:r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3504" y="105156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F4E4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1"/>
          <p:cNvSpPr/>
          <p:nvPr/>
        </p:nvSpPr>
        <p:spPr>
          <a:xfrm>
            <a:off x="676656" y="27980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58368" y="3127248"/>
            <a:ext cx="29261" cy="493776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Text 3"/>
          <p:cNvSpPr/>
          <p:nvPr/>
        </p:nvSpPr>
        <p:spPr>
          <a:xfrm>
            <a:off x="877824" y="3072384"/>
            <a:ext cx="10652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877824" y="3749040"/>
            <a:ext cx="9500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58368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工艺可复现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RSD 1.8%</a:t>
            </a:r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，参数区间明确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34840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2" name="Text 9"/>
          <p:cNvSpPr/>
          <p:nvPr/>
        </p:nvSpPr>
        <p:spPr>
          <a:xfrm>
            <a:off x="4434840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标志物换人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434840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多甲氧基黄酮取代橙皮苷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211312" y="4443984"/>
            <a:ext cx="3319272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455371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211312" y="4846320"/>
            <a:ext cx="33192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陈化机制与批次外推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58368" y="5806440"/>
            <a:ext cx="8279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742313" y="5806440"/>
            <a:ext cx="11375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提取工艺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135884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</a:t>
            </a:r>
            <a:pPr indent="0" marL="0">
              <a:buNone/>
            </a:pPr>
            <a:r>
              <a:rPr lang="en-US" sz="11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质量标志物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684268" y="5806440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</a:t>
            </a:r>
            <a:pPr indent="0" marL="0">
              <a:buNone/>
            </a:pPr>
            <a:r>
              <a:rPr lang="en-US" sz="1150" b="1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结论：应当以多甲氧基黄酮作为陈皮的质量标志物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55529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乙醇、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℃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min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、液料比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25∶1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，总黄酮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42.7 mg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g⁻¹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，三次平行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RSD 1.8%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；溶出的两段行为由式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的形状参数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区分。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58368" y="228884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239857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标志物：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川陈皮素与橘皮素的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VIP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分别为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1.86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1.72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，而药典指标橙皮苷仅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0.41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，且与抗炎活性无相关（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= 0.12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58368" y="3132125"/>
            <a:ext cx="10872216" cy="6401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241853"/>
            <a:ext cx="10872216" cy="64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26000"/>
              </a:lnSpc>
              <a:buNone/>
            </a:pPr>
            <a:r>
              <a:rPr lang="en-US" sz="17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陈化：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多甲氧基黄酮占比由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12.4%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升至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年的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26.8%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，但总黄酮在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 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年时已降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9%</a:t>
            </a:r>
            <a:pPr indent="0" marL="0">
              <a:lnSpc>
                <a:spcPct val="126000"/>
              </a:lnSpc>
              <a:buNone/>
            </a:pPr>
            <a:r>
              <a:rPr lang="en-US" sz="17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，陈化收益存在上限。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58368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尚未解决：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脱糖苷化究竟由内源酶还是非酶反应主导，本文的数据无法区分。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300216" y="4322877"/>
            <a:ext cx="523036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3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外推限制：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pPr indent="0" marL="0">
              <a:lnSpc>
                <a:spcPct val="126000"/>
              </a:lnSpc>
              <a:buNone/>
            </a:pPr>
            <a:r>
              <a:rPr lang="en-US" sz="13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样品仅九组、单一采收季，跨批次稳定性需扩大样本后再判。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58368" y="5192573"/>
            <a:ext cx="23774" cy="530352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13" name="Text 10"/>
          <p:cNvSpPr/>
          <p:nvPr/>
        </p:nvSpPr>
        <p:spPr>
          <a:xfrm>
            <a:off x="859536" y="5229149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Q&amp;A </a:t>
            </a:r>
            <a:pPr algn="l" indent="0" marL="0">
              <a:buNone/>
            </a:pPr>
            <a:r>
              <a:rPr lang="en-US" sz="1200" b="1" spc="8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导航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801368" y="5210861"/>
            <a:ext cx="972921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工艺参数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P7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；动力学与式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(1)(2) → P8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VIP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P10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；活性对齐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P12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402336"/>
            <a:ext cx="1087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BE2A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58368" y="768096"/>
            <a:ext cx="10872216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658368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42416" y="1436116"/>
            <a:ext cx="4777740" cy="50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国家药典委员会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(2020).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中华人民共和国药典（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年版·一部）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中国医药科技出版社</a:t>
            </a:r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201523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42416" y="2015236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Zhang, M., Duan, C., Zang, Y., et al. (2011). The flavonoid composition of flavedo and juice from the pummelo cultivar and grapefruit cultivar. Food Chemistry, 129, 1530–1536.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28016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42416" y="2801620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Li, S., Lo, C.-Y., &amp; Ho, C.-T. (2006). Hydroxylated polymethoxyflavones and methylated flavonoids in sweet orange peel. Journal of Agricultural and Food Chemistry, 54, 4176–4185.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68796" y="14361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752844" y="1436116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Wang, F., Chen, L., Chen, H., et al. (2019). Analysis of flavonoids in Citri Reticulatae Pericarpium by UPLC-Q-TOF-MS. Journal of Pharmaceutical and Biomedical Analysis, 172, 100–110.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68796" y="24297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752844" y="2429764"/>
            <a:ext cx="47777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Ferreira, S.L.C., Bruns, R.E., Ferreira, H.S., et al. (2007). Box-Behnken design: An alternative for the optimization of analytical methods. Analytica Chimica Acta, 597, 179–186.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368796" y="321614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E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[6]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752844" y="3216148"/>
            <a:ext cx="4777740" cy="92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Bylesjö, M., Rantalainen, M., Cloarec, O., et al. (2006). OPLS discriminant analysis: combining the strengths of PLS-DA and SIMCA classification. Journal of Chemometrics, 20, 341–351.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down:9A0001:12"/>
          <p:cNvSpPr/>
          <p:nvPr/>
        </p:nvSpPr>
        <p:spPr>
          <a:xfrm>
            <a:off x="0" y="0"/>
            <a:ext cx="12188952" cy="2377440"/>
          </a:xfrm>
          <a:prstGeom prst="rect">
            <a:avLst/>
          </a:prstGeom>
          <a:gradFill rotWithShape="1">
            <a:gsLst>
              <a:gs pos="0">
                <a:srgbClr val="9A0001">
                  <a:alpha val="12000"/>
                </a:srgbClr>
              </a:gs>
              <a:gs pos="100000">
                <a:srgbClr val="9A0001">
                  <a:alpha val="0"/>
                </a:srgbClr>
              </a:gs>
            </a:gsLst>
            <a:lin ang="5400000" scaled="0"/>
          </a:gradFill>
          <a:ln/>
        </p:spPr>
      </p:sp>
      <p:pic>
        <p:nvPicPr>
          <p:cNvPr id="3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5669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3000" b="1" spc="600" kern="0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58368" y="1335024"/>
            <a:ext cx="1051560" cy="25603"/>
          </a:xfrm>
          <a:prstGeom prst="rect">
            <a:avLst/>
          </a:prstGeom>
          <a:solidFill>
            <a:srgbClr val="BE2A2E"/>
          </a:solidFill>
          <a:ln/>
        </p:spPr>
      </p:sp>
      <p:sp>
        <p:nvSpPr>
          <p:cNvPr id="6" name="Shape 3"/>
          <p:cNvSpPr/>
          <p:nvPr/>
        </p:nvSpPr>
        <p:spPr>
          <a:xfrm>
            <a:off x="658368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指导与合作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教授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58368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选题指导与全程把关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8368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博士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8368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HPLC-MS </a:t>
            </a:r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方法学建立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8368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悦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58368" y="385876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三产地样品采集与前处理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300216" y="1810512"/>
            <a:ext cx="5230368" cy="18288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15" name="Text 12"/>
          <p:cNvSpPr/>
          <p:nvPr/>
        </p:nvSpPr>
        <p:spPr>
          <a:xfrm>
            <a:off x="6300216" y="188366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项目与平台支持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300216" y="230428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国家自然科学基金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00216" y="257860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22374012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300216" y="294436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北京大学基础科研种子基金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300216" y="3218688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970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BMU2025SEED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300216" y="3584448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分子材料与纳米加工实验室（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MMNL</a:t>
            </a:r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300216" y="3986784"/>
            <a:ext cx="5230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药学院公共仪器平台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58368" y="5632704"/>
            <a:ext cx="10872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感谢药物分析课题组全体同学在实验与讨论中的帮助。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24" name="Text 21"/>
          <p:cNvSpPr/>
          <p:nvPr/>
        </p:nvSpPr>
        <p:spPr>
          <a:xfrm>
            <a:off x="658368" y="64556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陈皮黄酮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结论与不足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433304" y="6455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79E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20</a:t>
            </a:r>
            <a:endParaRPr lang="en-US" sz="950" dirty="0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kfade:up:9A0001:8"/>
          <p:cNvSpPr/>
          <p:nvPr/>
        </p:nvSpPr>
        <p:spPr>
          <a:xfrm>
            <a:off x="0" y="5202936"/>
            <a:ext cx="12188952" cy="1618488"/>
          </a:xfrm>
          <a:prstGeom prst="rect">
            <a:avLst/>
          </a:prstGeom>
          <a:gradFill rotWithShape="1">
            <a:gsLst>
              <a:gs pos="0">
                <a:srgbClr val="9A0001">
                  <a:alpha val="8000"/>
                </a:srgbClr>
              </a:gs>
              <a:gs pos="100000">
                <a:srgbClr val="9A0001">
                  <a:alpha val="0"/>
                </a:srgbClr>
              </a:gs>
            </a:gsLst>
            <a:lin ang="16200000" scaled="0"/>
          </a:gradFill>
          <a:ln/>
        </p:spPr>
      </p:sp>
      <p:pic>
        <p:nvPicPr>
          <p:cNvPr id="3" name="Image 0" descr="/Users/shodan/project/academic-skills/examples/tcm-flavonoid-slides/assets/pk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710" y="310896"/>
            <a:ext cx="1242874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2331720"/>
            <a:ext cx="10872216" cy="592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9A000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恳请各位专家批评指正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58368" y="3216148"/>
            <a:ext cx="1371600" cy="5029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6" name="Text 3"/>
          <p:cNvSpPr/>
          <p:nvPr/>
        </p:nvSpPr>
        <p:spPr>
          <a:xfrm>
            <a:off x="658368" y="3581908"/>
            <a:ext cx="86868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2A24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多甲氧基黄酮应取代橙皮苷，成为陈皮的质量标志物。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58368" y="5134356"/>
            <a:ext cx="1371600" cy="27432"/>
          </a:xfrm>
          <a:prstGeom prst="rect">
            <a:avLst/>
          </a:prstGeom>
          <a:solidFill>
            <a:srgbClr val="9A0001"/>
          </a:solidFill>
          <a:ln/>
        </p:spPr>
      </p:sp>
      <p:sp>
        <p:nvSpPr>
          <p:cNvPr id="8" name="Shape 5"/>
          <p:cNvSpPr/>
          <p:nvPr/>
        </p:nvSpPr>
        <p:spPr>
          <a:xfrm>
            <a:off x="2029968" y="5142586"/>
            <a:ext cx="2926080" cy="10973"/>
          </a:xfrm>
          <a:prstGeom prst="rect">
            <a:avLst/>
          </a:prstGeom>
          <a:solidFill>
            <a:srgbClr val="E7DAD8"/>
          </a:solidFill>
          <a:ln/>
        </p:spPr>
      </p:sp>
      <p:sp>
        <p:nvSpPr>
          <p:cNvPr id="9" name="Shape 6"/>
          <p:cNvSpPr/>
          <p:nvPr/>
        </p:nvSpPr>
        <p:spPr>
          <a:xfrm>
            <a:off x="4956048" y="5145329"/>
            <a:ext cx="6574536" cy="5486"/>
          </a:xfrm>
          <a:prstGeom prst="rect">
            <a:avLst/>
          </a:prstGeom>
          <a:solidFill>
            <a:srgbClr val="F0E1DF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联系方式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liming@pku.edu.cn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315968" y="53583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100" kern="0" dirty="0">
                <a:solidFill>
                  <a:srgbClr val="7970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数据与代码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15968" y="55595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A24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github.com/liming/citri-flavone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9A0001"/>
          </a:solidFill>
          <a:ln/>
        </p:spPr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2026-07-25T18:44:08Z</dcterms:created>
  <dcterms:modified xsi:type="dcterms:W3CDTF">2026-07-25T18:44:08Z</dcterms:modified>
</cp:coreProperties>
</file>