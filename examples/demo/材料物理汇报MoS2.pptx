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8" r:id="rId3"/>
  </p:sldMasterIdLst>
  <p:notesMasterIdLst>
    <p:notesMasterId r:id="rId5"/>
  </p:notesMasterIdLst>
  <p:sldIdLst>
    <p:sldId id="257" r:id="rId4"/>
    <p:sldId id="739" r:id="rId6"/>
    <p:sldId id="700" r:id="rId7"/>
    <p:sldId id="740" r:id="rId8"/>
    <p:sldId id="741" r:id="rId9"/>
    <p:sldId id="742" r:id="rId10"/>
    <p:sldId id="735" r:id="rId11"/>
    <p:sldId id="731" r:id="rId12"/>
    <p:sldId id="743" r:id="rId13"/>
    <p:sldId id="734" r:id="rId14"/>
    <p:sldId id="627"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A4A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3" autoAdjust="0"/>
    <p:restoredTop sz="87952" autoAdjust="0"/>
  </p:normalViewPr>
  <p:slideViewPr>
    <p:cSldViewPr snapToGrid="0">
      <p:cViewPr varScale="1">
        <p:scale>
          <a:sx n="117" d="100"/>
          <a:sy n="117" d="100"/>
        </p:scale>
        <p:origin x="99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6E393B-3DF4-46FF-B39A-6243BD3B638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B101BE-A4B9-406D-9DCE-9CD63ACEB73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9473230-4E3A-4DB6-9F19-8F77BA3848D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迄今为止，光学显微镜、扫描电子显微镜和原子力显微镜测量主要用于监测氧化引起的</a:t>
            </a:r>
            <a:r>
              <a:rPr lang="en-US" altLang="zh-CN" b="1" dirty="0"/>
              <a:t>MoS2</a:t>
            </a:r>
            <a:r>
              <a:rPr lang="zh-CN" altLang="en-US" b="1" dirty="0"/>
              <a:t>层结构变化；然而，这些方法的空间分辨率不足以检测单原子级的变化。</a:t>
            </a:r>
            <a:endParaRPr lang="en-US" altLang="zh-CN" b="1" dirty="0"/>
          </a:p>
          <a:p>
            <a:r>
              <a:rPr lang="zh-CN" altLang="en-US" b="1" dirty="0"/>
              <a:t>箭头指的是本征点缺陷</a:t>
            </a:r>
            <a:endParaRPr lang="en-US" altLang="zh-CN" b="1" dirty="0"/>
          </a:p>
          <a:p>
            <a:r>
              <a:rPr lang="zh-CN" altLang="en-US" b="1" dirty="0"/>
              <a:t>二维 </a:t>
            </a:r>
            <a:r>
              <a:rPr lang="en-US" altLang="zh-CN" b="1" dirty="0"/>
              <a:t>MoS2 </a:t>
            </a:r>
            <a:r>
              <a:rPr lang="zh-CN" altLang="en-US" b="1" dirty="0"/>
              <a:t>晶体的 </a:t>
            </a:r>
            <a:r>
              <a:rPr lang="en-US" altLang="zh-CN" b="1" dirty="0"/>
              <a:t>STM </a:t>
            </a:r>
            <a:r>
              <a:rPr lang="zh-CN" altLang="en-US" b="1" dirty="0"/>
              <a:t>图像中的暗三角形是硫原子空位的特征</a:t>
            </a:r>
            <a:r>
              <a:rPr lang="en-US" altLang="zh-CN" b="1" dirty="0"/>
              <a:t>.</a:t>
            </a:r>
            <a:r>
              <a:rPr lang="zh-CN" altLang="en-US" b="1" dirty="0"/>
              <a:t>在这些暗三角形内，可以清晰地检测到以前未曾观察到的亮点。</a:t>
            </a:r>
            <a:endParaRPr lang="en-US" altLang="zh-CN" b="1" dirty="0"/>
          </a:p>
          <a:p>
            <a:r>
              <a:rPr lang="zh-CN" altLang="en-US" b="1" dirty="0"/>
              <a:t>最直接的解释是，硫空位内部的亮点是由于氧原子或氧分子在环境条件下饱和了这些空位所致。</a:t>
            </a:r>
            <a:endParaRPr lang="en-US" altLang="zh-CN" b="1" dirty="0"/>
          </a:p>
          <a:p>
            <a:endParaRPr lang="zh-CN" altLang="en-US" b="1"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迄今为止，光学显微镜、扫描电子显微镜和原子力显微镜测量主要用于监测氧化引起的</a:t>
            </a:r>
            <a:r>
              <a:rPr lang="en-US" altLang="zh-CN" b="1" dirty="0"/>
              <a:t>MoS2</a:t>
            </a:r>
            <a:r>
              <a:rPr lang="zh-CN" altLang="en-US" b="1" dirty="0"/>
              <a:t>层结构变化；然而，这些方法的空间分辨率不足以检测单原子级的变化。</a:t>
            </a:r>
            <a:endParaRPr lang="en-US" altLang="zh-CN" b="1" dirty="0"/>
          </a:p>
          <a:p>
            <a:r>
              <a:rPr lang="zh-CN" altLang="en-US" b="1" dirty="0"/>
              <a:t>箭头指的是本征点缺陷</a:t>
            </a:r>
            <a:endParaRPr lang="en-US" altLang="zh-CN" b="1" dirty="0"/>
          </a:p>
          <a:p>
            <a:r>
              <a:rPr lang="zh-CN" altLang="en-US" b="1" dirty="0"/>
              <a:t>二维 </a:t>
            </a:r>
            <a:r>
              <a:rPr lang="en-US" altLang="zh-CN" b="1" dirty="0"/>
              <a:t>MoS2 </a:t>
            </a:r>
            <a:r>
              <a:rPr lang="zh-CN" altLang="en-US" b="1" dirty="0"/>
              <a:t>晶体的 </a:t>
            </a:r>
            <a:r>
              <a:rPr lang="en-US" altLang="zh-CN" b="1" dirty="0"/>
              <a:t>STM </a:t>
            </a:r>
            <a:r>
              <a:rPr lang="zh-CN" altLang="en-US" b="1" dirty="0"/>
              <a:t>图像中的暗三角形是硫原子空位的特征</a:t>
            </a:r>
            <a:r>
              <a:rPr lang="en-US" altLang="zh-CN" b="1" dirty="0"/>
              <a:t>.</a:t>
            </a:r>
            <a:r>
              <a:rPr lang="zh-CN" altLang="en-US" b="1" dirty="0"/>
              <a:t>在这些暗三角形内，可以清晰地检测到以前未曾观察到的亮点。</a:t>
            </a:r>
            <a:endParaRPr lang="en-US" altLang="zh-CN" b="1" dirty="0"/>
          </a:p>
          <a:p>
            <a:r>
              <a:rPr lang="zh-CN" altLang="en-US" b="1" dirty="0"/>
              <a:t>最直接的解释是，硫空位内部的亮点是由于氧原子或氧分子在环境条件下饱和了这些空位所致。</a:t>
            </a:r>
            <a:endParaRPr lang="en-US" altLang="zh-CN" b="1" dirty="0"/>
          </a:p>
          <a:p>
            <a:r>
              <a:rPr lang="en-US" altLang="zh-CN" b="1" dirty="0"/>
              <a:t>DFT</a:t>
            </a:r>
            <a:r>
              <a:rPr lang="zh-CN" altLang="en-US" b="1"/>
              <a:t>不能完美拟合，这</a:t>
            </a:r>
            <a:r>
              <a:rPr lang="zh-CN" altLang="en-US" b="1" dirty="0"/>
              <a:t>部分原因可归因于室温下不可避免的扫描隧道显微镜（</a:t>
            </a:r>
            <a:r>
              <a:rPr lang="en-US" altLang="zh-CN" b="1" dirty="0"/>
              <a:t>STM</a:t>
            </a:r>
            <a:r>
              <a:rPr lang="zh-CN" altLang="en-US" b="1" dirty="0"/>
              <a:t>）图像畸变，部分原因可归因于单原子附近经常出现的暗“晕圈”。</a:t>
            </a:r>
            <a:endParaRPr lang="en-US" altLang="zh-CN" b="1" dirty="0"/>
          </a:p>
          <a:p>
            <a:endParaRPr lang="en-US" altLang="zh-CN" b="1" dirty="0"/>
          </a:p>
          <a:p>
            <a:endParaRPr lang="en-US" altLang="zh-CN" b="1" dirty="0"/>
          </a:p>
          <a:p>
            <a:endParaRPr lang="en-US" altLang="zh-CN" b="1" dirty="0"/>
          </a:p>
          <a:p>
            <a:endParaRPr lang="en-US" altLang="zh-CN" b="1" dirty="0"/>
          </a:p>
          <a:p>
            <a:endParaRPr lang="zh-CN" altLang="en-US" b="1"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MoS2 </a:t>
            </a:r>
            <a:r>
              <a:rPr lang="zh-CN" altLang="en-US" b="1" dirty="0"/>
              <a:t>基面在环境条件下的氧化速率约为每分钟每微米</a:t>
            </a:r>
            <a:r>
              <a:rPr lang="en-US" altLang="zh-CN" b="1" dirty="0"/>
              <a:t>1</a:t>
            </a:r>
            <a:r>
              <a:rPr lang="zh-CN" altLang="en-US" b="1" dirty="0"/>
              <a:t>个原子。</a:t>
            </a:r>
            <a:endParaRPr lang="en-US" altLang="zh-CN" b="1" dirty="0"/>
          </a:p>
          <a:p>
            <a:r>
              <a:rPr lang="zh-CN" altLang="en-US" b="1" dirty="0"/>
              <a:t>升温加速氧化过程排除了是臭氧或是单线态氧等物种的氧化的可能性，这些物种的氧化速率不会随着温度而改变</a:t>
            </a:r>
            <a:endParaRPr lang="zh-CN" altLang="en-US" b="1"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0"/>
            <a:ext cx="12192000" cy="3357217"/>
          </a:xfrm>
          <a:prstGeom prst="rect">
            <a:avLst/>
          </a:prstGeom>
        </p:spPr>
      </p:pic>
      <p:sp>
        <p:nvSpPr>
          <p:cNvPr id="4" name="矩形 3"/>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userDrawn="1"/>
        </p:nvGrpSpPr>
        <p:grpSpPr>
          <a:xfrm>
            <a:off x="5410200" y="2670375"/>
            <a:ext cx="1371600" cy="1368402"/>
            <a:chOff x="2105799" y="20055838"/>
            <a:chExt cx="6748090" cy="6732363"/>
          </a:xfrm>
          <a:solidFill>
            <a:srgbClr val="8B0012">
              <a:alpha val="80000"/>
            </a:srgbClr>
          </a:solidFill>
        </p:grpSpPr>
        <p:sp>
          <p:nvSpPr>
            <p:cNvPr id="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9"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grpSp>
      <p:sp>
        <p:nvSpPr>
          <p:cNvPr id="36" name="文本占位符 35"/>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Microsoft YaHei" panose="020B0503020204020204" pitchFamily="34" charset="-122"/>
                <a:cs typeface="Microsoft YaHei"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Microsoft YaHei" panose="020B0503020204020204" pitchFamily="34" charset="-122"/>
                <a:ea typeface="Microsoft YaHei" panose="020B0503020204020204" pitchFamily="34" charset="-122"/>
                <a:cs typeface="经典圆体简" panose="02010609000101010101" pitchFamily="49" charset="-122"/>
                <a:sym typeface="Microsoft YaHei" panose="020B0503020204020204" pitchFamily="34" charset="-122"/>
              </a:rPr>
              <a:t>北京大学学术答辩通用</a:t>
            </a:r>
            <a:r>
              <a:rPr lang="en-US" altLang="zh-CN" sz="4000" b="1" spc="300" dirty="0">
                <a:solidFill>
                  <a:schemeClr val="tx1">
                    <a:lumMod val="85000"/>
                    <a:lumOff val="15000"/>
                  </a:schemeClr>
                </a:solidFill>
                <a:latin typeface="Microsoft YaHei" panose="020B0503020204020204" pitchFamily="34" charset="-122"/>
                <a:ea typeface="Microsoft YaHei" panose="020B0503020204020204" pitchFamily="34" charset="-122"/>
                <a:cs typeface="经典圆体简" panose="02010609000101010101" pitchFamily="49" charset="-122"/>
                <a:sym typeface="Microsoft YaHei" panose="020B0503020204020204" pitchFamily="34" charset="-122"/>
              </a:rPr>
              <a:t>PPT</a:t>
            </a:r>
            <a:r>
              <a:rPr lang="zh-CN" altLang="en-US" sz="4000" b="1" spc="300" dirty="0">
                <a:solidFill>
                  <a:schemeClr val="tx1">
                    <a:lumMod val="85000"/>
                    <a:lumOff val="15000"/>
                  </a:schemeClr>
                </a:solidFill>
                <a:latin typeface="Microsoft YaHei" panose="020B0503020204020204" pitchFamily="34" charset="-122"/>
                <a:ea typeface="Microsoft YaHei" panose="020B0503020204020204" pitchFamily="34" charset="-122"/>
                <a:cs typeface="经典圆体简" panose="02010609000101010101" pitchFamily="49" charset="-122"/>
                <a:sym typeface="Microsoft YaHei" panose="020B0503020204020204" pitchFamily="34" charset="-122"/>
              </a:rPr>
              <a:t>模板</a:t>
            </a:r>
            <a:endParaRPr lang="zh-CN" altLang="en-US" sz="4000" b="1" spc="300" dirty="0">
              <a:solidFill>
                <a:schemeClr val="tx1">
                  <a:lumMod val="85000"/>
                  <a:lumOff val="15000"/>
                </a:schemeClr>
              </a:solidFill>
              <a:latin typeface="Microsoft YaHei" panose="020B0503020204020204" pitchFamily="34" charset="-122"/>
              <a:ea typeface="Microsoft YaHei" panose="020B0503020204020204" pitchFamily="34" charset="-122"/>
              <a:cs typeface="经典圆体简" panose="02010609000101010101" pitchFamily="49" charset="-122"/>
              <a:sym typeface="Microsoft YaHei" panose="020B0503020204020204" pitchFamily="34" charset="-122"/>
            </a:endParaRPr>
          </a:p>
        </p:txBody>
      </p:sp>
      <p:sp>
        <p:nvSpPr>
          <p:cNvPr id="41" name="文本占位符 37"/>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Microsoft YaHei" panose="020B0503020204020204" pitchFamily="34" charset="-122"/>
                <a:ea typeface="Microsoft YaHei"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Microsoft YaHei" panose="020B0503020204020204" pitchFamily="34" charset="-122"/>
                <a:ea typeface="Microsoft YaHei"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Microsoft YaHei" panose="020B0503020204020204" pitchFamily="34" charset="-122"/>
                <a:ea typeface="Microsoft YaHei" panose="020B0503020204020204" pitchFamily="34" charset="-122"/>
              </a:defRPr>
            </a:lvl1pPr>
          </a:lstStyle>
          <a:p>
            <a:pPr marL="0" lvl="0"/>
            <a:r>
              <a:rPr lang="zh-CN" altLang="en-US" dirty="0"/>
              <a:t>院系：</a:t>
            </a:r>
            <a:r>
              <a:rPr lang="en-US" altLang="zh-CN" dirty="0"/>
              <a:t>XXX</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Microsoft YaHei"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endParaRPr>
            </a:p>
          </p:txBody>
        </p:sp>
      </p:grpSp>
      <p:sp>
        <p:nvSpPr>
          <p:cNvPr id="45" name="文本占位符 40"/>
          <p:cNvSpPr>
            <a:spLocks noGrp="1"/>
          </p:cNvSpPr>
          <p:nvPr>
            <p:ph type="body" sz="quarter" idx="10" hasCustomPrompt="1"/>
          </p:nvPr>
        </p:nvSpPr>
        <p:spPr>
          <a:xfrm>
            <a:off x="7825514" y="2108759"/>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6" name="文本占位符 40"/>
          <p:cNvSpPr>
            <a:spLocks noGrp="1"/>
          </p:cNvSpPr>
          <p:nvPr>
            <p:ph type="body" sz="quarter" idx="11" hasCustomPrompt="1"/>
          </p:nvPr>
        </p:nvSpPr>
        <p:spPr>
          <a:xfrm>
            <a:off x="7825514" y="3198513"/>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7" name="文本占位符 40"/>
          <p:cNvSpPr>
            <a:spLocks noGrp="1"/>
          </p:cNvSpPr>
          <p:nvPr>
            <p:ph type="body" sz="quarter" idx="12" hasCustomPrompt="1"/>
          </p:nvPr>
        </p:nvSpPr>
        <p:spPr>
          <a:xfrm>
            <a:off x="7825514" y="4288267"/>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grpSp>
        <p:nvGrpSpPr>
          <p:cNvPr id="56" name="组合 55"/>
          <p:cNvGrpSpPr/>
          <p:nvPr userDrawn="1"/>
        </p:nvGrpSpPr>
        <p:grpSpPr>
          <a:xfrm>
            <a:off x="2425132" y="3183822"/>
            <a:ext cx="1945700" cy="1941162"/>
            <a:chOff x="2105799" y="20055838"/>
            <a:chExt cx="6748090" cy="6732363"/>
          </a:xfrm>
          <a:solidFill>
            <a:schemeClr val="accent1"/>
          </a:solidFill>
        </p:grpSpPr>
        <p:sp>
          <p:nvSpPr>
            <p:cNvPr id="5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5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5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7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7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7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7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7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7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7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7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7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79"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90204"/>
                <a:ea typeface="Microsoft YaHei" panose="020B0503020204020204" pitchFamily="34" charset="-122"/>
                <a:cs typeface="+mn-ea"/>
                <a:sym typeface="+mn-lt"/>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pitchFamily="34" charset="-122"/>
              <a:cs typeface="+mn-ea"/>
              <a:sym typeface="+mn-lt"/>
            </a:endParaRPr>
          </a:p>
        </p:txBody>
      </p:sp>
      <p:sp>
        <p:nvSpPr>
          <p:cNvPr id="71" name="矩形 70"/>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Microsoft YaHei"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2" name="文本占位符 40"/>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3" name="文本占位符 40"/>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4" name="文本占位符 40"/>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36" name="文本占位符 40"/>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2" name="文本框 1"/>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p:cNvGrpSpPr/>
          <p:nvPr userDrawn="1"/>
        </p:nvGrpSpPr>
        <p:grpSpPr>
          <a:xfrm>
            <a:off x="2425132" y="3183822"/>
            <a:ext cx="1945700" cy="1941162"/>
            <a:chOff x="2105799" y="20055838"/>
            <a:chExt cx="6748090" cy="6732363"/>
          </a:xfrm>
          <a:solidFill>
            <a:schemeClr val="accent1"/>
          </a:solidFill>
        </p:grpSpPr>
        <p:sp>
          <p:nvSpPr>
            <p:cNvPr id="48"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49"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50"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51"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52"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53"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54"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55"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56"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57"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58"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59"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0"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1"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2"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3"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4"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5"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6"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7"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8"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9"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70"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90204"/>
                <a:ea typeface="Microsoft YaHei" panose="020B0503020204020204" pitchFamily="34" charset="-122"/>
                <a:cs typeface="+mn-ea"/>
                <a:sym typeface="+mn-lt"/>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49" name="矩形 48"/>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Microsoft YaHei"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endParaRPr>
            </a:p>
          </p:txBody>
        </p:sp>
      </p:grpSp>
      <p:grpSp>
        <p:nvGrpSpPr>
          <p:cNvPr id="11" name="组合 10"/>
          <p:cNvGrpSpPr/>
          <p:nvPr userDrawn="1"/>
        </p:nvGrpSpPr>
        <p:grpSpPr>
          <a:xfrm>
            <a:off x="2425132" y="3183822"/>
            <a:ext cx="1945700" cy="1941162"/>
            <a:chOff x="2105799" y="20055838"/>
            <a:chExt cx="6748090" cy="6732363"/>
          </a:xfrm>
          <a:solidFill>
            <a:schemeClr val="accent1"/>
          </a:solidFill>
        </p:grpSpPr>
        <p:sp>
          <p:nvSpPr>
            <p:cNvPr id="1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2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2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2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2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2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2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2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2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2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2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3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3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3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3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34"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90204"/>
                <a:ea typeface="Microsoft YaHei"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2" name="文本占位符 40"/>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3" name="文本占位符 40"/>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4" name="文本占位符 40"/>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36" name="文本占位符 40"/>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2" name="文本框 1"/>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8" name="文本框 47"/>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pitchFamily="34" charset="-122"/>
              <a:cs typeface="+mn-ea"/>
              <a:sym typeface="+mn-lt"/>
            </a:endParaRPr>
          </a:p>
        </p:txBody>
      </p:sp>
      <p:cxnSp>
        <p:nvCxnSpPr>
          <p:cNvPr id="70" name="直接连接符 69"/>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B0604020202090204"/>
                <a:ea typeface="Microsoft YaHei"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XX</a:t>
            </a:r>
            <a:endParaRPr lang="zh-CN" altLang="en-US" dirty="0"/>
          </a:p>
        </p:txBody>
      </p:sp>
      <p:sp>
        <p:nvSpPr>
          <p:cNvPr id="127" name="文本占位符 3"/>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B0604020202090204"/>
                <a:ea typeface="Microsoft YaHei"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输入标题文本</a:t>
            </a:r>
            <a:endParaRPr lang="zh-CN" altLang="en-US" dirty="0"/>
          </a:p>
        </p:txBody>
      </p:sp>
      <p:pic>
        <p:nvPicPr>
          <p:cNvPr id="128" name="图形 12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grpSp>
        <p:nvGrpSpPr>
          <p:cNvPr id="62" name="组合 61"/>
          <p:cNvGrpSpPr/>
          <p:nvPr userDrawn="1"/>
        </p:nvGrpSpPr>
        <p:grpSpPr>
          <a:xfrm>
            <a:off x="1654090" y="1145460"/>
            <a:ext cx="1477533" cy="108755"/>
            <a:chOff x="4616246" y="3878362"/>
            <a:chExt cx="5571416" cy="410087"/>
          </a:xfrm>
          <a:solidFill>
            <a:schemeClr val="tx1">
              <a:alpha val="80000"/>
            </a:schemeClr>
          </a:solidFill>
        </p:grpSpPr>
        <p:sp>
          <p:nvSpPr>
            <p:cNvPr id="63"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64"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65"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67"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68"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69"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1"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29"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30"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31"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32"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33"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34"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35"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36"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37"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38" name="组合 137"/>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0"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1"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2"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3"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4"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5"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6"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7"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8"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9"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0"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51" name="组合 150"/>
          <p:cNvGrpSpPr/>
          <p:nvPr userDrawn="1"/>
        </p:nvGrpSpPr>
        <p:grpSpPr>
          <a:xfrm>
            <a:off x="882188" y="613507"/>
            <a:ext cx="664422" cy="662874"/>
            <a:chOff x="2105799" y="20055838"/>
            <a:chExt cx="6748090" cy="6732363"/>
          </a:xfrm>
          <a:solidFill>
            <a:schemeClr val="accent1">
              <a:alpha val="80000"/>
            </a:schemeClr>
          </a:solidFill>
        </p:grpSpPr>
        <p:sp>
          <p:nvSpPr>
            <p:cNvPr id="15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5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5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5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5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5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5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5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6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6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6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6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6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6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6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6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6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6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7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7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7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7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74"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sp>
        <p:nvSpPr>
          <p:cNvPr id="5" name="矩形 4"/>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B0604020202090204"/>
                <a:ea typeface="Microsoft YaHei" panose="020B0503020204020204" pitchFamily="34" charset="-122"/>
                <a:cs typeface="+mn-ea"/>
              </a:rPr>
              <a:t>PART</a:t>
            </a:r>
            <a:endParaRPr kumimoji="0" lang="zh-CN" altLang="en-US" sz="4000" b="0" i="0" u="none" strike="noStrike" kern="1200" cap="none" spc="0" normalizeH="0" baseline="0" dirty="0">
              <a:ln>
                <a:noFill/>
              </a:ln>
              <a:solidFill>
                <a:prstClr val="white"/>
              </a:solidFill>
              <a:effectLst/>
              <a:uLnTx/>
              <a:uFillTx/>
              <a:latin typeface="Arial" panose="020B0604020202090204"/>
              <a:ea typeface="Microsoft YaHei" panose="020B0503020204020204" pitchFamily="34" charset="-122"/>
              <a:cs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pitchFamily="34" charset="-122"/>
              <a:cs typeface="+mn-ea"/>
              <a:sym typeface="+mn-lt"/>
            </a:endParaRPr>
          </a:p>
        </p:txBody>
      </p:sp>
      <p:sp>
        <p:nvSpPr>
          <p:cNvPr id="63" name="椭圆 62"/>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pitchFamily="34" charset="-122"/>
              <a:cs typeface="+mn-ea"/>
              <a:sym typeface="+mn-lt"/>
            </a:endParaRPr>
          </a:p>
        </p:txBody>
      </p:sp>
      <p:grpSp>
        <p:nvGrpSpPr>
          <p:cNvPr id="64" name="组合 63"/>
          <p:cNvGrpSpPr/>
          <p:nvPr/>
        </p:nvGrpSpPr>
        <p:grpSpPr>
          <a:xfrm>
            <a:off x="5317814" y="741574"/>
            <a:ext cx="1614432" cy="1610666"/>
            <a:chOff x="2105799" y="20055838"/>
            <a:chExt cx="6748090" cy="6732363"/>
          </a:xfrm>
          <a:solidFill>
            <a:schemeClr val="accent1"/>
          </a:solidFill>
        </p:grpSpPr>
        <p:sp>
          <p:nvSpPr>
            <p:cNvPr id="6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7"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8"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9"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7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29"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30"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31"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32"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33"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34"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35"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36"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37"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38"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39"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40"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41"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42"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43"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44"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45"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46"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grpSp>
      <p:sp>
        <p:nvSpPr>
          <p:cNvPr id="147" name="标题 1"/>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B0604020202090204"/>
                <a:ea typeface="Microsoft YaHei" panose="020B0503020204020204" pitchFamily="34" charset="-122"/>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defRPr/>
            </a:pPr>
            <a:r>
              <a:rPr lang="zh-CN" altLang="en-US" dirty="0"/>
              <a:t>单击此处编辑结束语</a:t>
            </a:r>
            <a:endParaRPr lang="zh-CN" altLang="en-US" dirty="0"/>
          </a:p>
        </p:txBody>
      </p:sp>
      <p:sp>
        <p:nvSpPr>
          <p:cNvPr id="148" name="副标题 2"/>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B0604020202090204"/>
                <a:ea typeface="Microsoft YaHei" panose="020B0503020204020204" pitchFamily="34" charset="-122"/>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fld>
            <a:r>
              <a:rPr lang="zh-CN" altLang="en-US" dirty="0"/>
              <a:t> </a:t>
            </a:r>
            <a:r>
              <a:rPr lang="en-US" altLang="zh-CN" dirty="0"/>
              <a:t>&gt;</a:t>
            </a:r>
            <a:endParaRPr lang="zh-CN" altLang="en-US" dirty="0"/>
          </a:p>
        </p:txBody>
      </p:sp>
      <p:cxnSp>
        <p:nvCxnSpPr>
          <p:cNvPr id="71" name="直接连接符 70"/>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p:cNvGrpSpPr/>
          <p:nvPr userDrawn="1"/>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fld>
            <a:r>
              <a:rPr lang="zh-CN" altLang="en-US" dirty="0"/>
              <a:t> </a:t>
            </a:r>
            <a:r>
              <a:rPr lang="en-US" altLang="zh-CN" dirty="0"/>
              <a:t>&gt;</a:t>
            </a:r>
            <a:endParaRPr lang="zh-CN" altLang="en-US" dirty="0"/>
          </a:p>
        </p:txBody>
      </p:sp>
      <p:sp>
        <p:nvSpPr>
          <p:cNvPr id="125"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71" name="文本框 70"/>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sp>
        <p:nvSpPr>
          <p:cNvPr id="57"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66" name="图片占位符 65"/>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9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3" name="图片占位符 2"/>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4" name="图片占位符 3"/>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5" name="图片占位符 4"/>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p:nvPr>
        </p:nvSpPr>
        <p:spPr>
          <a:xfrm>
            <a:off x="2546350" y="1186670"/>
            <a:ext cx="6170930" cy="2242330"/>
          </a:xfrm>
        </p:spPr>
        <p:txBody>
          <a:bodyPr/>
          <a:lstStyle/>
          <a:p>
            <a:endParaRPr lang="zh-CN" altLang="en-US"/>
          </a:p>
        </p:txBody>
      </p:sp>
      <p:sp>
        <p:nvSpPr>
          <p:cNvPr id="3" name="图片占位符 2"/>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p:cNvSpPr>
            <a:spLocks noGrp="1"/>
          </p:cNvSpPr>
          <p:nvPr>
            <p:ph type="pic" sz="quarter" idx="13"/>
          </p:nvPr>
        </p:nvSpPr>
        <p:spPr>
          <a:xfrm>
            <a:off x="8839200" y="1186670"/>
            <a:ext cx="2499360" cy="4767090"/>
          </a:xfrm>
          <a:prstGeom prst="rect">
            <a:avLst/>
          </a:prstGeom>
        </p:spPr>
        <p:txBody>
          <a:bodyPr/>
          <a:lstStyle/>
          <a:p>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0"/>
            <a:ext cx="12192000" cy="3357217"/>
          </a:xfrm>
          <a:prstGeom prst="rect">
            <a:avLst/>
          </a:prstGeom>
        </p:spPr>
      </p:pic>
      <p:sp>
        <p:nvSpPr>
          <p:cNvPr id="4" name="矩形 3"/>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userDrawn="1"/>
        </p:nvGrpSpPr>
        <p:grpSpPr>
          <a:xfrm>
            <a:off x="5410200" y="2670375"/>
            <a:ext cx="1371600" cy="1368402"/>
            <a:chOff x="2105799" y="20055838"/>
            <a:chExt cx="6748090" cy="6732363"/>
          </a:xfrm>
          <a:solidFill>
            <a:srgbClr val="8B0012">
              <a:alpha val="80000"/>
            </a:srgbClr>
          </a:solidFill>
        </p:grpSpPr>
        <p:sp>
          <p:nvSpPr>
            <p:cNvPr id="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9"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grpSp>
      <p:sp>
        <p:nvSpPr>
          <p:cNvPr id="36" name="文本占位符 35"/>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Microsoft YaHei" panose="020B0503020204020204" pitchFamily="34" charset="-122"/>
                <a:cs typeface="Microsoft YaHei"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Microsoft YaHei" panose="020B0503020204020204" pitchFamily="34" charset="-122"/>
                <a:ea typeface="Microsoft YaHei" panose="020B0503020204020204" pitchFamily="34" charset="-122"/>
                <a:cs typeface="经典圆体简" panose="02010609000101010101" pitchFamily="49" charset="-122"/>
                <a:sym typeface="Microsoft YaHei" panose="020B0503020204020204" pitchFamily="34" charset="-122"/>
              </a:rPr>
              <a:t>北京大学学术答辩通用</a:t>
            </a:r>
            <a:r>
              <a:rPr lang="en-US" altLang="zh-CN" sz="4000" b="1" spc="300" dirty="0">
                <a:solidFill>
                  <a:schemeClr val="tx1">
                    <a:lumMod val="85000"/>
                    <a:lumOff val="15000"/>
                  </a:schemeClr>
                </a:solidFill>
                <a:latin typeface="Microsoft YaHei" panose="020B0503020204020204" pitchFamily="34" charset="-122"/>
                <a:ea typeface="Microsoft YaHei" panose="020B0503020204020204" pitchFamily="34" charset="-122"/>
                <a:cs typeface="经典圆体简" panose="02010609000101010101" pitchFamily="49" charset="-122"/>
                <a:sym typeface="Microsoft YaHei" panose="020B0503020204020204" pitchFamily="34" charset="-122"/>
              </a:rPr>
              <a:t>PPT</a:t>
            </a:r>
            <a:r>
              <a:rPr lang="zh-CN" altLang="en-US" sz="4000" b="1" spc="300" dirty="0">
                <a:solidFill>
                  <a:schemeClr val="tx1">
                    <a:lumMod val="85000"/>
                    <a:lumOff val="15000"/>
                  </a:schemeClr>
                </a:solidFill>
                <a:latin typeface="Microsoft YaHei" panose="020B0503020204020204" pitchFamily="34" charset="-122"/>
                <a:ea typeface="Microsoft YaHei" panose="020B0503020204020204" pitchFamily="34" charset="-122"/>
                <a:cs typeface="经典圆体简" panose="02010609000101010101" pitchFamily="49" charset="-122"/>
                <a:sym typeface="Microsoft YaHei" panose="020B0503020204020204" pitchFamily="34" charset="-122"/>
              </a:rPr>
              <a:t>模板</a:t>
            </a:r>
            <a:endParaRPr lang="zh-CN" altLang="en-US" sz="4000" b="1" spc="300" dirty="0">
              <a:solidFill>
                <a:schemeClr val="tx1">
                  <a:lumMod val="85000"/>
                  <a:lumOff val="15000"/>
                </a:schemeClr>
              </a:solidFill>
              <a:latin typeface="Microsoft YaHei" panose="020B0503020204020204" pitchFamily="34" charset="-122"/>
              <a:ea typeface="Microsoft YaHei" panose="020B0503020204020204" pitchFamily="34" charset="-122"/>
              <a:cs typeface="经典圆体简" panose="02010609000101010101" pitchFamily="49" charset="-122"/>
              <a:sym typeface="Microsoft YaHei" panose="020B0503020204020204" pitchFamily="34" charset="-122"/>
            </a:endParaRPr>
          </a:p>
        </p:txBody>
      </p:sp>
      <p:sp>
        <p:nvSpPr>
          <p:cNvPr id="41" name="文本占位符 37"/>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Microsoft YaHei" panose="020B0503020204020204" pitchFamily="34" charset="-122"/>
                <a:ea typeface="Microsoft YaHei"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Microsoft YaHei" panose="020B0503020204020204" pitchFamily="34" charset="-122"/>
                <a:ea typeface="Microsoft YaHei"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Microsoft YaHei" panose="020B0503020204020204" pitchFamily="34" charset="-122"/>
                <a:ea typeface="Microsoft YaHei" panose="020B0503020204020204" pitchFamily="34" charset="-122"/>
              </a:defRPr>
            </a:lvl1pPr>
          </a:lstStyle>
          <a:p>
            <a:pPr marL="0" lvl="0"/>
            <a:r>
              <a:rPr lang="zh-CN" altLang="en-US" dirty="0"/>
              <a:t>院系：</a:t>
            </a:r>
            <a:r>
              <a:rPr lang="en-US" altLang="zh-CN" dirty="0"/>
              <a:t>XXX</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pitchFamily="34" charset="-122"/>
              <a:cs typeface="+mn-ea"/>
              <a:sym typeface="+mn-lt"/>
            </a:endParaRPr>
          </a:p>
        </p:txBody>
      </p:sp>
      <p:grpSp>
        <p:nvGrpSpPr>
          <p:cNvPr id="8" name="组合 7"/>
          <p:cNvGrpSpPr/>
          <p:nvPr userDrawn="1"/>
        </p:nvGrpSpPr>
        <p:grpSpPr>
          <a:xfrm>
            <a:off x="1310641"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Microsoft YaHei"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endParaRPr>
            </a:p>
          </p:txBody>
        </p:sp>
      </p:grpSp>
      <p:sp>
        <p:nvSpPr>
          <p:cNvPr id="45" name="文本占位符 40"/>
          <p:cNvSpPr>
            <a:spLocks noGrp="1"/>
          </p:cNvSpPr>
          <p:nvPr>
            <p:ph type="body" sz="quarter" idx="10" hasCustomPrompt="1"/>
          </p:nvPr>
        </p:nvSpPr>
        <p:spPr>
          <a:xfrm>
            <a:off x="7825514" y="2108759"/>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6" name="文本占位符 40"/>
          <p:cNvSpPr>
            <a:spLocks noGrp="1"/>
          </p:cNvSpPr>
          <p:nvPr>
            <p:ph type="body" sz="quarter" idx="11" hasCustomPrompt="1"/>
          </p:nvPr>
        </p:nvSpPr>
        <p:spPr>
          <a:xfrm>
            <a:off x="7825514" y="3198513"/>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7" name="文本占位符 40"/>
          <p:cNvSpPr>
            <a:spLocks noGrp="1"/>
          </p:cNvSpPr>
          <p:nvPr>
            <p:ph type="body" sz="quarter" idx="12" hasCustomPrompt="1"/>
          </p:nvPr>
        </p:nvSpPr>
        <p:spPr>
          <a:xfrm>
            <a:off x="7825514" y="4288267"/>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grpSp>
        <p:nvGrpSpPr>
          <p:cNvPr id="56" name="组合 55"/>
          <p:cNvGrpSpPr/>
          <p:nvPr userDrawn="1"/>
        </p:nvGrpSpPr>
        <p:grpSpPr>
          <a:xfrm>
            <a:off x="1439560" y="3183822"/>
            <a:ext cx="1945700" cy="1941162"/>
            <a:chOff x="2105799" y="20055838"/>
            <a:chExt cx="6748090" cy="6732363"/>
          </a:xfrm>
          <a:solidFill>
            <a:schemeClr val="accent1"/>
          </a:solidFill>
        </p:grpSpPr>
        <p:sp>
          <p:nvSpPr>
            <p:cNvPr id="5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5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5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7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7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7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7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7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7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7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7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7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79"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90204"/>
                <a:ea typeface="Microsoft YaHei" panose="020B0503020204020204" pitchFamily="34" charset="-122"/>
                <a:cs typeface="+mn-ea"/>
                <a:sym typeface="+mn-lt"/>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pitchFamily="34" charset="-122"/>
              <a:cs typeface="+mn-ea"/>
              <a:sym typeface="+mn-lt"/>
            </a:endParaRPr>
          </a:p>
        </p:txBody>
      </p:sp>
      <p:sp>
        <p:nvSpPr>
          <p:cNvPr id="71" name="矩形 70"/>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Microsoft YaHei"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2" name="文本占位符 40"/>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3" name="文本占位符 40"/>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4" name="文本占位符 40"/>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36" name="文本占位符 40"/>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2" name="文本框 1"/>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p:cNvGrpSpPr/>
          <p:nvPr userDrawn="1"/>
        </p:nvGrpSpPr>
        <p:grpSpPr>
          <a:xfrm>
            <a:off x="2425132" y="3183822"/>
            <a:ext cx="1945700" cy="1941162"/>
            <a:chOff x="2105799" y="20055838"/>
            <a:chExt cx="6748090" cy="6732363"/>
          </a:xfrm>
          <a:solidFill>
            <a:schemeClr val="accent1"/>
          </a:solidFill>
        </p:grpSpPr>
        <p:sp>
          <p:nvSpPr>
            <p:cNvPr id="48"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49"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50"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51"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52"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53"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54"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55"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56"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57"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58"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59"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0"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1"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2"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3"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4"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5"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6"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7"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8"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9"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70"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90204"/>
                <a:ea typeface="Microsoft YaHei" panose="020B0503020204020204" pitchFamily="34" charset="-122"/>
                <a:cs typeface="+mn-ea"/>
                <a:sym typeface="+mn-lt"/>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pitchFamily="3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49" name="矩形 48"/>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pitchFamily="3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Microsoft YaHei"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90204"/>
                <a:ea typeface="Microsoft YaHei" panose="020B0503020204020204" pitchFamily="34" charset="-122"/>
                <a:cs typeface="+mn-ea"/>
                <a:sym typeface="+mn-lt"/>
              </a:endParaRPr>
            </a:p>
          </p:txBody>
        </p:sp>
      </p:grpSp>
      <p:grpSp>
        <p:nvGrpSpPr>
          <p:cNvPr id="11" name="组合 10"/>
          <p:cNvGrpSpPr/>
          <p:nvPr userDrawn="1"/>
        </p:nvGrpSpPr>
        <p:grpSpPr>
          <a:xfrm>
            <a:off x="2425132" y="3183822"/>
            <a:ext cx="1945700" cy="1941162"/>
            <a:chOff x="2105799" y="20055838"/>
            <a:chExt cx="6748090" cy="6732363"/>
          </a:xfrm>
          <a:solidFill>
            <a:schemeClr val="accent1"/>
          </a:solidFill>
        </p:grpSpPr>
        <p:sp>
          <p:nvSpPr>
            <p:cNvPr id="1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2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2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2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2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2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2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2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2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2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2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3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3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3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3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34"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90204"/>
                <a:ea typeface="Microsoft YaHei" panose="020B0503020204020204" pitchFamily="34" charset="-122"/>
                <a:cs typeface="+mn-ea"/>
                <a:sym typeface="+mn-lt"/>
              </a:endParaRPr>
            </a:p>
          </p:txBody>
        </p:sp>
      </p:grpSp>
      <p:sp>
        <p:nvSpPr>
          <p:cNvPr id="41" name="文本占位符 40"/>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2" name="文本占位符 40"/>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3" name="文本占位符 40"/>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4" name="文本占位符 40"/>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36" name="文本占位符 40"/>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2" name="文本框 1"/>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Microsoft YaHei"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8" name="文本框 47"/>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pitchFamily="34" charset="-122"/>
              <a:cs typeface="+mn-ea"/>
              <a:sym typeface="+mn-lt"/>
            </a:endParaRPr>
          </a:p>
        </p:txBody>
      </p:sp>
      <p:cxnSp>
        <p:nvCxnSpPr>
          <p:cNvPr id="70" name="直接连接符 69"/>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B0604020202090204"/>
                <a:ea typeface="Microsoft YaHei"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XX</a:t>
            </a:r>
            <a:endParaRPr lang="zh-CN" altLang="en-US" dirty="0"/>
          </a:p>
        </p:txBody>
      </p:sp>
      <p:sp>
        <p:nvSpPr>
          <p:cNvPr id="127" name="文本占位符 3"/>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B0604020202090204"/>
                <a:ea typeface="Microsoft YaHei"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输入标题文本</a:t>
            </a:r>
            <a:endParaRPr lang="zh-CN" altLang="en-US" dirty="0"/>
          </a:p>
        </p:txBody>
      </p:sp>
      <p:pic>
        <p:nvPicPr>
          <p:cNvPr id="128" name="图形 12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grpSp>
        <p:nvGrpSpPr>
          <p:cNvPr id="62" name="组合 61"/>
          <p:cNvGrpSpPr/>
          <p:nvPr userDrawn="1"/>
        </p:nvGrpSpPr>
        <p:grpSpPr>
          <a:xfrm>
            <a:off x="1654090" y="1145460"/>
            <a:ext cx="1477533" cy="108755"/>
            <a:chOff x="4616246" y="3878362"/>
            <a:chExt cx="5571416" cy="410087"/>
          </a:xfrm>
          <a:solidFill>
            <a:schemeClr val="tx1">
              <a:alpha val="80000"/>
            </a:schemeClr>
          </a:solidFill>
        </p:grpSpPr>
        <p:sp>
          <p:nvSpPr>
            <p:cNvPr id="63"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64"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65"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67"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68"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69"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1"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29"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30"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31"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32"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33"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34"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35"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36"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37"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38" name="组合 137"/>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0"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1"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2"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3"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4"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5"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6"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7"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8"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9"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0"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51" name="组合 150"/>
          <p:cNvGrpSpPr/>
          <p:nvPr userDrawn="1"/>
        </p:nvGrpSpPr>
        <p:grpSpPr>
          <a:xfrm>
            <a:off x="882188" y="613507"/>
            <a:ext cx="664422" cy="662874"/>
            <a:chOff x="2105799" y="20055838"/>
            <a:chExt cx="6748090" cy="6732363"/>
          </a:xfrm>
          <a:solidFill>
            <a:schemeClr val="accent1">
              <a:alpha val="80000"/>
            </a:schemeClr>
          </a:solidFill>
        </p:grpSpPr>
        <p:sp>
          <p:nvSpPr>
            <p:cNvPr id="15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5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5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5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5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5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5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5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6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6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6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6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6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6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6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6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6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6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7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7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7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7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74"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sp>
        <p:nvSpPr>
          <p:cNvPr id="5" name="矩形 4"/>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B0604020202090204"/>
                <a:ea typeface="Microsoft YaHei" panose="020B0503020204020204" pitchFamily="34" charset="-122"/>
                <a:cs typeface="+mn-ea"/>
              </a:rPr>
              <a:t>PART</a:t>
            </a:r>
            <a:endParaRPr kumimoji="0" lang="zh-CN" altLang="en-US" sz="4000" b="0" i="0" u="none" strike="noStrike" kern="1200" cap="none" spc="0" normalizeH="0" baseline="0" dirty="0">
              <a:ln>
                <a:noFill/>
              </a:ln>
              <a:solidFill>
                <a:prstClr val="white"/>
              </a:solidFill>
              <a:effectLst/>
              <a:uLnTx/>
              <a:uFillTx/>
              <a:latin typeface="Arial" panose="020B0604020202090204"/>
              <a:ea typeface="Microsoft YaHei" panose="020B0503020204020204" pitchFamily="34" charset="-122"/>
              <a:cs typeface="+mn-ea"/>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pitchFamily="34" charset="-122"/>
              <a:cs typeface="+mn-ea"/>
              <a:sym typeface="+mn-lt"/>
            </a:endParaRPr>
          </a:p>
        </p:txBody>
      </p:sp>
      <p:sp>
        <p:nvSpPr>
          <p:cNvPr id="63" name="椭圆 62"/>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pitchFamily="34" charset="-122"/>
              <a:cs typeface="+mn-ea"/>
              <a:sym typeface="+mn-lt"/>
            </a:endParaRPr>
          </a:p>
        </p:txBody>
      </p:sp>
      <p:grpSp>
        <p:nvGrpSpPr>
          <p:cNvPr id="64" name="组合 63"/>
          <p:cNvGrpSpPr/>
          <p:nvPr/>
        </p:nvGrpSpPr>
        <p:grpSpPr>
          <a:xfrm>
            <a:off x="5317814" y="741574"/>
            <a:ext cx="1614432" cy="1610666"/>
            <a:chOff x="2105799" y="20055838"/>
            <a:chExt cx="6748090" cy="6732363"/>
          </a:xfrm>
          <a:solidFill>
            <a:schemeClr val="accent1"/>
          </a:solidFill>
        </p:grpSpPr>
        <p:sp>
          <p:nvSpPr>
            <p:cNvPr id="6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7"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8"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69"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7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29"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30"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31"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32"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33"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34"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35"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36"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37"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38"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39"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40"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41"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42"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43"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44"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45"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sp>
          <p:nvSpPr>
            <p:cNvPr id="146"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ea"/>
                <a:sym typeface="+mn-lt"/>
              </a:endParaRPr>
            </a:p>
          </p:txBody>
        </p:sp>
      </p:grpSp>
      <p:sp>
        <p:nvSpPr>
          <p:cNvPr id="147" name="标题 1"/>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B0604020202090204"/>
                <a:ea typeface="Microsoft YaHei" panose="020B0503020204020204" pitchFamily="34" charset="-122"/>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defRPr/>
            </a:pPr>
            <a:r>
              <a:rPr lang="zh-CN" altLang="en-US" dirty="0"/>
              <a:t>单击此处编辑结束语</a:t>
            </a:r>
            <a:endParaRPr lang="zh-CN" altLang="en-US" dirty="0"/>
          </a:p>
        </p:txBody>
      </p:sp>
      <p:sp>
        <p:nvSpPr>
          <p:cNvPr id="148" name="副标题 2"/>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B0604020202090204"/>
                <a:ea typeface="Microsoft YaHei" panose="020B0503020204020204" pitchFamily="34" charset="-122"/>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dirty="0" smtClean="0"/>
            </a:fld>
            <a:r>
              <a:rPr lang="zh-CN" altLang="en-US" dirty="0"/>
              <a:t> </a:t>
            </a:r>
            <a:r>
              <a:rPr lang="en-US" altLang="zh-CN" dirty="0"/>
              <a:t>&gt;</a:t>
            </a:r>
            <a:endParaRPr lang="zh-CN" altLang="en-US" dirty="0"/>
          </a:p>
        </p:txBody>
      </p:sp>
      <p:cxnSp>
        <p:nvCxnSpPr>
          <p:cNvPr id="71" name="直接连接符 70"/>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p:cNvGrpSpPr/>
          <p:nvPr userDrawn="1"/>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dirty="0" smtClean="0"/>
            </a:fld>
            <a:r>
              <a:rPr lang="zh-CN" altLang="en-US" dirty="0"/>
              <a:t> </a:t>
            </a:r>
            <a:r>
              <a:rPr lang="en-US" altLang="zh-CN" dirty="0"/>
              <a:t>&gt;</a:t>
            </a:r>
            <a:endParaRPr lang="zh-CN" altLang="en-US" dirty="0"/>
          </a:p>
        </p:txBody>
      </p:sp>
      <p:sp>
        <p:nvSpPr>
          <p:cNvPr id="125"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sp>
        <p:nvSpPr>
          <p:cNvPr id="57"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2" name="图片占位符 1"/>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2" name="图片占位符 1"/>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6" name="图片占位符 65"/>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9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3" name="图片占位符 2"/>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4" name="图片占位符 3"/>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5" name="图片占位符 4"/>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2" name="图片占位符 1"/>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endParaRPr lang="zh-CN" alt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2" name="图片占位符 1"/>
          <p:cNvSpPr>
            <a:spLocks noGrp="1"/>
          </p:cNvSpPr>
          <p:nvPr>
            <p:ph type="pic" idx="10"/>
          </p:nvPr>
        </p:nvSpPr>
        <p:spPr>
          <a:xfrm>
            <a:off x="2546350" y="1186670"/>
            <a:ext cx="6170930" cy="2242330"/>
          </a:xfrm>
        </p:spPr>
        <p:txBody>
          <a:bodyPr/>
          <a:lstStyle/>
          <a:p>
            <a:endParaRPr lang="zh-CN" altLang="en-US"/>
          </a:p>
        </p:txBody>
      </p:sp>
      <p:sp>
        <p:nvSpPr>
          <p:cNvPr id="3" name="图片占位符 2"/>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p:cNvSpPr>
            <a:spLocks noGrp="1"/>
          </p:cNvSpPr>
          <p:nvPr>
            <p:ph type="pic" sz="quarter" idx="13"/>
          </p:nvPr>
        </p:nvSpPr>
        <p:spPr>
          <a:xfrm>
            <a:off x="8839200" y="1186670"/>
            <a:ext cx="2499360" cy="4767090"/>
          </a:xfrm>
          <a:prstGeom prst="rect">
            <a:avLst/>
          </a:prstGeom>
        </p:spPr>
        <p:txBody>
          <a:bodyPr/>
          <a:lstStyle/>
          <a:p>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pitchFamily="3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pitchFamily="3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Microsoft YaHei"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cSld name="全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8.xml"/><Relationship Id="rId8" Type="http://schemas.openxmlformats.org/officeDocument/2006/relationships/slideLayout" Target="../slideLayouts/slideLayout27.xml"/><Relationship Id="rId7" Type="http://schemas.openxmlformats.org/officeDocument/2006/relationships/slideLayout" Target="../slideLayouts/slideLayout26.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 Id="rId3" Type="http://schemas.openxmlformats.org/officeDocument/2006/relationships/slideLayout" Target="../slideLayouts/slideLayout22.xml"/><Relationship Id="rId21" Type="http://schemas.openxmlformats.org/officeDocument/2006/relationships/theme" Target="../theme/theme2.xml"/><Relationship Id="rId20" Type="http://schemas.openxmlformats.org/officeDocument/2006/relationships/slideLayout" Target="../slideLayouts/slideLayout39.xml"/><Relationship Id="rId2" Type="http://schemas.openxmlformats.org/officeDocument/2006/relationships/slideLayout" Target="../slideLayouts/slideLayout21.xml"/><Relationship Id="rId19" Type="http://schemas.openxmlformats.org/officeDocument/2006/relationships/slideLayout" Target="../slideLayouts/slideLayout38.xml"/><Relationship Id="rId18" Type="http://schemas.openxmlformats.org/officeDocument/2006/relationships/slideLayout" Target="../slideLayouts/slideLayout37.xml"/><Relationship Id="rId17" Type="http://schemas.openxmlformats.org/officeDocument/2006/relationships/slideLayout" Target="../slideLayouts/slideLayout36.xml"/><Relationship Id="rId16" Type="http://schemas.openxmlformats.org/officeDocument/2006/relationships/slideLayout" Target="../slideLayouts/slideLayout35.xml"/><Relationship Id="rId15" Type="http://schemas.openxmlformats.org/officeDocument/2006/relationships/slideLayout" Target="../slideLayouts/slideLayout34.xml"/><Relationship Id="rId14" Type="http://schemas.openxmlformats.org/officeDocument/2006/relationships/slideLayout" Target="../slideLayouts/slideLayout33.xml"/><Relationship Id="rId13" Type="http://schemas.openxmlformats.org/officeDocument/2006/relationships/slideLayout" Target="../slideLayouts/slideLayout32.xml"/><Relationship Id="rId12" Type="http://schemas.openxmlformats.org/officeDocument/2006/relationships/slideLayout" Target="../slideLayouts/slideLayout31.xml"/><Relationship Id="rId11" Type="http://schemas.openxmlformats.org/officeDocument/2006/relationships/slideLayout" Target="../slideLayouts/slideLayout30.xml"/><Relationship Id="rId10" Type="http://schemas.openxmlformats.org/officeDocument/2006/relationships/slideLayout" Target="../slideLayouts/slideLayout29.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30.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38.xml"/><Relationship Id="rId2" Type="http://schemas.openxmlformats.org/officeDocument/2006/relationships/image" Target="../media/image8.png"/><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38.xml"/><Relationship Id="rId2" Type="http://schemas.openxmlformats.org/officeDocument/2006/relationships/image" Target="../media/image9.pn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38.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8.xml"/><Relationship Id="rId2" Type="http://schemas.openxmlformats.org/officeDocument/2006/relationships/image" Target="../media/image14.png"/><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38.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38.xml"/><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38.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38.xml"/><Relationship Id="rId2" Type="http://schemas.openxmlformats.org/officeDocument/2006/relationships/image" Target="../media/image28.png"/><Relationship Id="rId1" Type="http://schemas.openxmlformats.org/officeDocument/2006/relationships/image" Target="../media/image2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9.xml"/><Relationship Id="rId1"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矩形 6"/>
          <p:cNvSpPr>
            <a:spLocks noChangeArrowheads="1"/>
          </p:cNvSpPr>
          <p:nvPr/>
        </p:nvSpPr>
        <p:spPr bwMode="auto">
          <a:xfrm>
            <a:off x="0" y="4902200"/>
            <a:ext cx="12192000" cy="1955800"/>
          </a:xfrm>
          <a:prstGeom prst="rect">
            <a:avLst/>
          </a:prstGeom>
          <a:solidFill>
            <a:srgbClr val="9A0000"/>
          </a:solidFill>
          <a:ln>
            <a:noFill/>
          </a:ln>
        </p:spPr>
        <p:txBody>
          <a:bodyPr anchor="ctr"/>
          <a:lstStyle>
            <a:lvl1pPr>
              <a:defRPr>
                <a:solidFill>
                  <a:schemeClr val="tx1"/>
                </a:solidFill>
                <a:latin typeface="Calibri" panose="020F0502020204030204" pitchFamily="34" charset="0"/>
                <a:ea typeface="SimSun" pitchFamily="2" charset="-122"/>
              </a:defRPr>
            </a:lvl1pPr>
            <a:lvl2pPr marL="742950" indent="-285750">
              <a:defRPr>
                <a:solidFill>
                  <a:schemeClr val="tx1"/>
                </a:solidFill>
                <a:latin typeface="Calibri" panose="020F0502020204030204" pitchFamily="34" charset="0"/>
                <a:ea typeface="SimSun" pitchFamily="2" charset="-122"/>
              </a:defRPr>
            </a:lvl2pPr>
            <a:lvl3pPr marL="1143000" indent="-228600">
              <a:defRPr>
                <a:solidFill>
                  <a:schemeClr val="tx1"/>
                </a:solidFill>
                <a:latin typeface="Calibri" panose="020F0502020204030204" pitchFamily="34" charset="0"/>
                <a:ea typeface="SimSun" pitchFamily="2" charset="-122"/>
              </a:defRPr>
            </a:lvl3pPr>
            <a:lvl4pPr marL="1600200" indent="-228600">
              <a:defRPr>
                <a:solidFill>
                  <a:schemeClr val="tx1"/>
                </a:solidFill>
                <a:latin typeface="Calibri" panose="020F0502020204030204" pitchFamily="34" charset="0"/>
                <a:ea typeface="SimSun" pitchFamily="2" charset="-122"/>
              </a:defRPr>
            </a:lvl4pPr>
            <a:lvl5pPr marL="2057400" indent="-228600">
              <a:defRPr>
                <a:solidFill>
                  <a:schemeClr val="tx1"/>
                </a:solidFill>
                <a:latin typeface="Calibri" panose="020F0502020204030204" pitchFamily="34" charset="0"/>
                <a:ea typeface="SimSun"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SimSun"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SimSun"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SimSun"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SimSun" pitchFamily="2" charset="-122"/>
              </a:defRPr>
            </a:lvl9pPr>
          </a:lstStyle>
          <a:p>
            <a:pPr algn="ctr" eaLnBrk="1" hangingPunct="1"/>
            <a:endParaRPr lang="zh-CN" altLang="en-US">
              <a:solidFill>
                <a:srgbClr val="FFFFFF"/>
              </a:solidFill>
            </a:endParaRPr>
          </a:p>
        </p:txBody>
      </p:sp>
      <p:sp>
        <p:nvSpPr>
          <p:cNvPr id="2056" name="文本框 58"/>
          <p:cNvSpPr txBox="1">
            <a:spLocks noChangeArrowheads="1"/>
          </p:cNvSpPr>
          <p:nvPr/>
        </p:nvSpPr>
        <p:spPr bwMode="auto">
          <a:xfrm>
            <a:off x="417993" y="1510995"/>
            <a:ext cx="11356013" cy="1305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SimSun" pitchFamily="2" charset="-122"/>
              </a:defRPr>
            </a:lvl1pPr>
            <a:lvl2pPr marL="742950" indent="-285750">
              <a:defRPr>
                <a:solidFill>
                  <a:schemeClr val="tx1"/>
                </a:solidFill>
                <a:latin typeface="Calibri" panose="020F0502020204030204" pitchFamily="34" charset="0"/>
                <a:ea typeface="SimSun" pitchFamily="2" charset="-122"/>
              </a:defRPr>
            </a:lvl2pPr>
            <a:lvl3pPr marL="1143000" indent="-228600">
              <a:defRPr>
                <a:solidFill>
                  <a:schemeClr val="tx1"/>
                </a:solidFill>
                <a:latin typeface="Calibri" panose="020F0502020204030204" pitchFamily="34" charset="0"/>
                <a:ea typeface="SimSun" pitchFamily="2" charset="-122"/>
              </a:defRPr>
            </a:lvl3pPr>
            <a:lvl4pPr marL="1600200" indent="-228600">
              <a:defRPr>
                <a:solidFill>
                  <a:schemeClr val="tx1"/>
                </a:solidFill>
                <a:latin typeface="Calibri" panose="020F0502020204030204" pitchFamily="34" charset="0"/>
                <a:ea typeface="SimSun" pitchFamily="2" charset="-122"/>
              </a:defRPr>
            </a:lvl4pPr>
            <a:lvl5pPr marL="2057400" indent="-228600">
              <a:defRPr>
                <a:solidFill>
                  <a:schemeClr val="tx1"/>
                </a:solidFill>
                <a:latin typeface="Calibri" panose="020F0502020204030204" pitchFamily="34" charset="0"/>
                <a:ea typeface="SimSun"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SimSun"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SimSun"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SimSun"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SimSun" pitchFamily="2" charset="-122"/>
              </a:defRPr>
            </a:lvl9pPr>
          </a:lstStyle>
          <a:p>
            <a:pPr algn="just" eaLnBrk="1" hangingPunct="1">
              <a:lnSpc>
                <a:spcPct val="150000"/>
              </a:lnSpc>
            </a:pPr>
            <a:r>
              <a:rPr lang="en-US" altLang="zh-CN" sz="2800" b="1" dirty="0">
                <a:solidFill>
                  <a:srgbClr val="9A0000"/>
                </a:solidFill>
                <a:latin typeface="+mj-lt"/>
                <a:ea typeface="华文中宋" panose="02010600040101010101" pitchFamily="2" charset="-122"/>
                <a:cs typeface="Times New Roman" panose="02020503050405090304" pitchFamily="18" charset="0"/>
              </a:rPr>
              <a:t>Spontaneous doping of the basal plane of MoS2 single layers through oxygen substitution under ambient conditions</a:t>
            </a:r>
            <a:endParaRPr lang="zh-CN" altLang="en-US" sz="2800" b="1" dirty="0">
              <a:solidFill>
                <a:srgbClr val="9A0000"/>
              </a:solidFill>
              <a:latin typeface="+mj-lt"/>
              <a:ea typeface="华文中宋" panose="02010600040101010101" pitchFamily="2" charset="-122"/>
              <a:cs typeface="Times New Roman" panose="02020503050405090304" pitchFamily="18" charset="0"/>
            </a:endParaRPr>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0838" y="289138"/>
            <a:ext cx="2921778" cy="820669"/>
          </a:xfrm>
          <a:prstGeom prst="rect">
            <a:avLst/>
          </a:prstGeom>
        </p:spPr>
      </p:pic>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46342" y="3195847"/>
            <a:ext cx="5260154" cy="3412704"/>
          </a:xfrm>
          <a:prstGeom prst="rect">
            <a:avLst/>
          </a:prstGeom>
        </p:spPr>
      </p:pic>
      <p:sp>
        <p:nvSpPr>
          <p:cNvPr id="7" name="文本框 6"/>
          <p:cNvSpPr txBox="1"/>
          <p:nvPr/>
        </p:nvSpPr>
        <p:spPr>
          <a:xfrm>
            <a:off x="466090" y="5439410"/>
            <a:ext cx="6774180" cy="988695"/>
          </a:xfrm>
          <a:prstGeom prst="rect">
            <a:avLst/>
          </a:prstGeom>
          <a:noFill/>
        </p:spPr>
        <p:txBody>
          <a:bodyPr wrap="square" rtlCol="0">
            <a:spAutoFit/>
          </a:bodyPr>
          <a:lstStyle/>
          <a:p>
            <a:pPr>
              <a:lnSpc>
                <a:spcPts val="3500"/>
              </a:lnSpc>
            </a:pPr>
            <a:r>
              <a:rPr lang="zh-CN" altLang="en-US" sz="2000" b="1" dirty="0">
                <a:solidFill>
                  <a:schemeClr val="bg1"/>
                </a:solidFill>
                <a:latin typeface="Times New Roman" panose="02020503050405090304" pitchFamily="18" charset="0"/>
                <a:ea typeface="SimSun" pitchFamily="2" charset="-122"/>
                <a:cs typeface="Times New Roman" panose="02020503050405090304" pitchFamily="18" charset="0"/>
              </a:rPr>
              <a:t>段城尧</a:t>
            </a:r>
            <a:r>
              <a:rPr lang="en-US" altLang="zh-CN" sz="2000" b="1" dirty="0">
                <a:solidFill>
                  <a:schemeClr val="bg1"/>
                </a:solidFill>
                <a:latin typeface="Times New Roman" panose="02020503050405090304" pitchFamily="18" charset="0"/>
                <a:ea typeface="SimSun" pitchFamily="2" charset="-122"/>
                <a:cs typeface="Times New Roman" panose="02020503050405090304" pitchFamily="18" charset="0"/>
              </a:rPr>
              <a:t> </a:t>
            </a:r>
            <a:r>
              <a:rPr lang="zh-CN" altLang="en-US" sz="2000" b="1" dirty="0">
                <a:solidFill>
                  <a:schemeClr val="bg1"/>
                </a:solidFill>
                <a:latin typeface="Times New Roman" panose="02020503050405090304" pitchFamily="18" charset="0"/>
                <a:ea typeface="SimSun" pitchFamily="2" charset="-122"/>
                <a:cs typeface="Times New Roman" panose="02020503050405090304" pitchFamily="18" charset="0"/>
              </a:rPr>
              <a:t>曹阳</a:t>
            </a:r>
            <a:endParaRPr lang="en-US" altLang="zh-CN" sz="2000" b="1" dirty="0">
              <a:solidFill>
                <a:schemeClr val="bg1"/>
              </a:solidFill>
              <a:latin typeface="Times New Roman" panose="02020503050405090304" pitchFamily="18" charset="0"/>
              <a:ea typeface="SimSun" pitchFamily="2" charset="-122"/>
              <a:cs typeface="Times New Roman" panose="02020503050405090304" pitchFamily="18" charset="0"/>
            </a:endParaRPr>
          </a:p>
          <a:p>
            <a:pPr>
              <a:lnSpc>
                <a:spcPts val="3500"/>
              </a:lnSpc>
            </a:pPr>
            <a:r>
              <a:rPr lang="en-US" altLang="zh-CN" sz="2000" b="1" dirty="0">
                <a:solidFill>
                  <a:schemeClr val="bg1"/>
                </a:solidFill>
                <a:latin typeface="Times New Roman" panose="02020503050405090304" pitchFamily="18" charset="0"/>
                <a:ea typeface="SimSun" pitchFamily="2" charset="-122"/>
                <a:cs typeface="Times New Roman" panose="02020503050405090304" pitchFamily="18" charset="0"/>
              </a:rPr>
              <a:t>2026.3.25</a:t>
            </a:r>
            <a:endParaRPr lang="en-US" altLang="zh-CN" sz="2000" b="1" dirty="0">
              <a:solidFill>
                <a:schemeClr val="bg1"/>
              </a:solidFill>
              <a:latin typeface="Times New Roman" panose="02020503050405090304" pitchFamily="18" charset="0"/>
              <a:ea typeface="SimSun" pitchFamily="2" charset="-122"/>
              <a:cs typeface="Times New Roman" panose="02020503050405090304" pitchFamily="18" charset="0"/>
            </a:endParaRPr>
          </a:p>
        </p:txBody>
      </p:sp>
      <p:pic>
        <p:nvPicPr>
          <p:cNvPr id="3" name="图片 2"/>
          <p:cNvPicPr>
            <a:picLocks noChangeAspect="1"/>
          </p:cNvPicPr>
          <p:nvPr/>
        </p:nvPicPr>
        <p:blipFill>
          <a:blip r:embed="rId3"/>
          <a:stretch>
            <a:fillRect/>
          </a:stretch>
        </p:blipFill>
        <p:spPr>
          <a:xfrm>
            <a:off x="350838" y="3686993"/>
            <a:ext cx="2293094" cy="89698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7408693" y="3769403"/>
            <a:ext cx="3846699" cy="2564466"/>
          </a:xfrm>
          <a:prstGeom prst="rect">
            <a:avLst/>
          </a:prstGeom>
        </p:spPr>
      </p:pic>
      <p:grpSp>
        <p:nvGrpSpPr>
          <p:cNvPr id="5" name="组合 4"/>
          <p:cNvGrpSpPr/>
          <p:nvPr/>
        </p:nvGrpSpPr>
        <p:grpSpPr>
          <a:xfrm>
            <a:off x="1163019" y="3829887"/>
            <a:ext cx="3620290" cy="2253631"/>
            <a:chOff x="569167" y="3733236"/>
            <a:chExt cx="3427564" cy="2133659"/>
          </a:xfrm>
        </p:grpSpPr>
        <p:pic>
          <p:nvPicPr>
            <p:cNvPr id="3" name="图片 2"/>
            <p:cNvPicPr>
              <a:picLocks noChangeAspect="1"/>
            </p:cNvPicPr>
            <p:nvPr/>
          </p:nvPicPr>
          <p:blipFill>
            <a:blip r:embed="rId2"/>
            <a:stretch>
              <a:fillRect/>
            </a:stretch>
          </p:blipFill>
          <p:spPr>
            <a:xfrm>
              <a:off x="569167" y="3733236"/>
              <a:ext cx="3427564" cy="2133659"/>
            </a:xfrm>
            <a:prstGeom prst="rect">
              <a:avLst/>
            </a:prstGeom>
          </p:spPr>
        </p:pic>
        <p:sp>
          <p:nvSpPr>
            <p:cNvPr id="4" name="矩形 3"/>
            <p:cNvSpPr/>
            <p:nvPr/>
          </p:nvSpPr>
          <p:spPr>
            <a:xfrm>
              <a:off x="3186404" y="5318449"/>
              <a:ext cx="690465" cy="5484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标题 19"/>
          <p:cNvSpPr>
            <a:spLocks noGrp="1"/>
          </p:cNvSpPr>
          <p:nvPr>
            <p:ph type="title"/>
          </p:nvPr>
        </p:nvSpPr>
        <p:spPr>
          <a:xfrm>
            <a:off x="442749" y="326935"/>
            <a:ext cx="9056851" cy="617518"/>
          </a:xfrm>
        </p:spPr>
        <p:txBody>
          <a:bodyPr/>
          <a:lstStyle/>
          <a:p>
            <a:r>
              <a:rPr lang="zh-CN" altLang="en-US" sz="2800" dirty="0">
                <a:sym typeface="Arial" panose="020B0604020202090204" pitchFamily="34" charset="0"/>
              </a:rPr>
              <a:t>研究背景</a:t>
            </a:r>
            <a:r>
              <a:rPr lang="en-US" altLang="zh-CN" sz="2800" dirty="0">
                <a:sym typeface="Arial" panose="020B0604020202090204" pitchFamily="34" charset="0"/>
              </a:rPr>
              <a:t> </a:t>
            </a:r>
            <a:endParaRPr lang="en-US" altLang="zh-CN" sz="2800" dirty="0">
              <a:sym typeface="Arial" panose="020B0604020202090204" pitchFamily="34" charset="0"/>
            </a:endParaRPr>
          </a:p>
        </p:txBody>
      </p:sp>
      <p:sp>
        <p:nvSpPr>
          <p:cNvPr id="2" name="灯片编号占位符 1"/>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t>&lt; </a:t>
            </a:r>
            <a:fld id="{A548B57D-AE10-4CF7-A9DF-59FEFA91B28E}" type="slidenum">
              <a:rPr kumimoji="0" lang="zh-CN" altLang="en-US" sz="1200" b="0" i="0" u="none" strike="noStrike" kern="1200" cap="none" spc="0" normalizeH="0" baseline="0" noProof="0" smtClean="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fld>
            <a:r>
              <a:rPr kumimoji="0" lang="zh-CN" altLang="en-US" sz="1200" b="0" i="0" u="none" strike="noStrike" kern="1200" cap="none" spc="0" normalizeH="0" baseline="0" noProof="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t> </a:t>
            </a:r>
            <a:r>
              <a:rPr kumimoji="0" lang="en-US" altLang="zh-CN" sz="1200" b="0" i="0" u="none" strike="noStrike" kern="1200" cap="none" spc="0" normalizeH="0" baseline="0" noProof="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t>&gt;</a:t>
            </a:r>
            <a:endPar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endParaRPr>
          </a:p>
        </p:txBody>
      </p:sp>
      <p:sp>
        <p:nvSpPr>
          <p:cNvPr id="23" name="文本占位符 10"/>
          <p:cNvSpPr txBox="1"/>
          <p:nvPr/>
        </p:nvSpPr>
        <p:spPr>
          <a:xfrm>
            <a:off x="671804" y="1023763"/>
            <a:ext cx="10613572" cy="2657164"/>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28600" marR="0" lvl="0" indent="-228600" algn="just" defTabSz="914400" rtl="0" eaLnBrk="1" fontAlgn="auto" latinLnBrk="0" hangingPunct="1">
              <a:lnSpc>
                <a:spcPct val="150000"/>
              </a:lnSpc>
              <a:spcBef>
                <a:spcPts val="1000"/>
              </a:spcBef>
              <a:spcAft>
                <a:spcPts val="0"/>
              </a:spcAft>
              <a:buClrTx/>
              <a:buSzTx/>
              <a:buFont typeface="Arial" panose="020B0604020202090204" pitchFamily="34" charset="0"/>
              <a:buChar char="•"/>
              <a:defRPr/>
            </a:pP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迄今为止，尚未有直接证据表明原始 </a:t>
            </a:r>
            <a:r>
              <a:rPr lang="en-US" altLang="zh-CN" sz="2000" b="1" dirty="0">
                <a:latin typeface="Times New Roman" panose="02020503050405090304" pitchFamily="18" charset="0"/>
                <a:ea typeface="Microsoft YaHei" panose="020B0503020204020204" pitchFamily="34" charset="-122"/>
                <a:cs typeface="Times New Roman" panose="02020503050405090304" pitchFamily="18" charset="0"/>
              </a:rPr>
              <a:t>MoS</a:t>
            </a:r>
            <a:r>
              <a:rPr lang="en-US" altLang="zh-CN" sz="2000" b="1" baseline="-25000" dirty="0">
                <a:latin typeface="Times New Roman" panose="02020503050405090304" pitchFamily="18" charset="0"/>
                <a:ea typeface="Microsoft YaHei" panose="020B0503020204020204" pitchFamily="34" charset="-122"/>
                <a:cs typeface="Times New Roman" panose="02020503050405090304" pitchFamily="18" charset="0"/>
              </a:rPr>
              <a:t>2</a:t>
            </a:r>
            <a:r>
              <a:rPr lang="en-US" altLang="zh-CN" sz="2000" b="1" dirty="0">
                <a:latin typeface="Times New Roman" panose="02020503050405090304" pitchFamily="18" charset="0"/>
                <a:ea typeface="Microsoft YaHei" panose="020B0503020204020204" pitchFamily="34" charset="-122"/>
                <a:cs typeface="Times New Roman" panose="02020503050405090304" pitchFamily="18" charset="0"/>
              </a:rPr>
              <a:t> </a:t>
            </a: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在常温常压下会发生氧化。这主要是由于此前所采用的结构表征手段</a:t>
            </a:r>
            <a:r>
              <a:rPr lang="zh-CN" altLang="en-US"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无法分辨单原子尺度</a:t>
            </a: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的结构变化。</a:t>
            </a:r>
            <a:endParaRPr lang="en-US" altLang="zh-CN" sz="2000" b="1" dirty="0">
              <a:latin typeface="Times New Roman" panose="02020503050405090304" pitchFamily="18" charset="0"/>
              <a:ea typeface="Microsoft YaHei" panose="020B0503020204020204" pitchFamily="34" charset="-122"/>
              <a:cs typeface="Times New Roman" panose="02020503050405090304" pitchFamily="18" charset="0"/>
            </a:endParaRPr>
          </a:p>
          <a:p>
            <a:pPr lvl="0" algn="just">
              <a:lnSpc>
                <a:spcPct val="150000"/>
              </a:lnSpc>
              <a:defRPr/>
            </a:pPr>
            <a:r>
              <a:rPr kumimoji="0" lang="zh-CN" altLang="en-US"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氧化</a:t>
            </a:r>
            <a:r>
              <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MoS</a:t>
            </a:r>
            <a:r>
              <a:rPr lang="en-US" altLang="zh-CN" sz="2000" b="1" baseline="-25000" dirty="0">
                <a:latin typeface="Times New Roman" panose="02020503050405090304" pitchFamily="18" charset="0"/>
                <a:cs typeface="Times New Roman" panose="02020503050405090304" pitchFamily="18" charset="0"/>
              </a:rPr>
              <a:t>2</a:t>
            </a:r>
            <a:r>
              <a:rPr kumimoji="0" lang="zh-CN" altLang="en-US"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的策略：氧等离子体处理、紫外</a:t>
            </a:r>
            <a:r>
              <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a:t>
            </a:r>
            <a:r>
              <a:rPr kumimoji="0" lang="zh-CN" altLang="en-US"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臭氧辐照、电化学剥离、高温（</a:t>
            </a:r>
            <a:r>
              <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&gt; 300 °C</a:t>
            </a:r>
            <a:r>
              <a:rPr kumimoji="0" lang="zh-CN" altLang="en-US"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）退火。这都为严苛的氧化过程。</a:t>
            </a:r>
            <a:r>
              <a:rPr kumimoji="0" lang="zh-CN" altLang="en-US" sz="2000" b="1" i="0" u="none" strike="noStrike" kern="1200" cap="none" spc="0" normalizeH="0" noProof="0" dirty="0">
                <a:ln>
                  <a:noFill/>
                </a:ln>
                <a:solidFill>
                  <a:srgbClr val="C00000"/>
                </a:solidFill>
                <a:effectLst/>
                <a:uLnTx/>
                <a:uFillTx/>
                <a:latin typeface="Times New Roman" panose="02020503050405090304" pitchFamily="18" charset="0"/>
                <a:ea typeface="Microsoft YaHei" panose="020B0503020204020204" pitchFamily="34" charset="-122"/>
                <a:cs typeface="Times New Roman" panose="02020503050405090304" pitchFamily="18" charset="0"/>
              </a:rPr>
              <a:t>结果为</a:t>
            </a:r>
            <a:r>
              <a:rPr kumimoji="0" lang="en-US" altLang="zh-CN" sz="2000" b="1" i="0" u="none" strike="noStrike" kern="1200" cap="none" spc="0" normalizeH="0" noProof="0" dirty="0">
                <a:ln>
                  <a:noFill/>
                </a:ln>
                <a:solidFill>
                  <a:srgbClr val="C00000"/>
                </a:solidFill>
                <a:effectLst/>
                <a:uLnTx/>
                <a:uFillTx/>
                <a:latin typeface="Times New Roman" panose="02020503050405090304" pitchFamily="18" charset="0"/>
                <a:ea typeface="Microsoft YaHei" panose="020B0503020204020204" pitchFamily="34" charset="-122"/>
                <a:cs typeface="Times New Roman" panose="02020503050405090304" pitchFamily="18" charset="0"/>
              </a:rPr>
              <a:t>O</a:t>
            </a:r>
            <a:r>
              <a:rPr kumimoji="0" lang="zh-CN" altLang="en-US" sz="2000" b="1" i="0" u="none" strike="noStrike" kern="1200" cap="none" spc="0" normalizeH="0" noProof="0" dirty="0">
                <a:ln>
                  <a:noFill/>
                </a:ln>
                <a:solidFill>
                  <a:srgbClr val="C00000"/>
                </a:solidFill>
                <a:effectLst/>
                <a:uLnTx/>
                <a:uFillTx/>
                <a:latin typeface="Times New Roman" panose="02020503050405090304" pitchFamily="18" charset="0"/>
                <a:ea typeface="Microsoft YaHei" panose="020B0503020204020204" pitchFamily="34" charset="-122"/>
                <a:cs typeface="Times New Roman" panose="02020503050405090304" pitchFamily="18" charset="0"/>
              </a:rPr>
              <a:t>与</a:t>
            </a:r>
            <a:r>
              <a:rPr kumimoji="0" lang="en-US" altLang="zh-CN" sz="2000" b="1" i="0" u="none" strike="noStrike" kern="1200" cap="none" spc="0" normalizeH="0" noProof="0" dirty="0">
                <a:ln>
                  <a:noFill/>
                </a:ln>
                <a:solidFill>
                  <a:srgbClr val="C00000"/>
                </a:solidFill>
                <a:effectLst/>
                <a:uLnTx/>
                <a:uFillTx/>
                <a:latin typeface="Times New Roman" panose="02020503050405090304" pitchFamily="18" charset="0"/>
                <a:ea typeface="Microsoft YaHei" panose="020B0503020204020204" pitchFamily="34" charset="-122"/>
                <a:cs typeface="Times New Roman" panose="02020503050405090304" pitchFamily="18" charset="0"/>
              </a:rPr>
              <a:t>S</a:t>
            </a:r>
            <a:r>
              <a:rPr kumimoji="0" lang="zh-CN" altLang="en-US" sz="2000" b="1" i="0" u="none" strike="noStrike" kern="1200" cap="none" spc="0" normalizeH="0" noProof="0" dirty="0">
                <a:ln>
                  <a:noFill/>
                </a:ln>
                <a:solidFill>
                  <a:srgbClr val="C00000"/>
                </a:solidFill>
                <a:effectLst/>
                <a:uLnTx/>
                <a:uFillTx/>
                <a:latin typeface="Times New Roman" panose="02020503050405090304" pitchFamily="18" charset="0"/>
                <a:ea typeface="Microsoft YaHei" panose="020B0503020204020204" pitchFamily="34" charset="-122"/>
                <a:cs typeface="Times New Roman" panose="02020503050405090304" pitchFamily="18" charset="0"/>
              </a:rPr>
              <a:t>以共价键的形式键合。</a:t>
            </a:r>
            <a:endParaRPr kumimoji="0" lang="en-US" altLang="zh-CN" sz="2000" b="1" i="0" u="none" strike="noStrike" kern="1200" cap="none" spc="0" normalizeH="0" noProof="0" dirty="0">
              <a:ln>
                <a:noFill/>
              </a:ln>
              <a:solidFill>
                <a:srgbClr val="C00000"/>
              </a:solidFill>
              <a:effectLst/>
              <a:uLnTx/>
              <a:uFillTx/>
              <a:latin typeface="Times New Roman" panose="02020503050405090304" pitchFamily="18" charset="0"/>
              <a:ea typeface="Microsoft YaHei" panose="020B0503020204020204" pitchFamily="34" charset="-122"/>
              <a:cs typeface="Times New Roman" panose="02020503050405090304" pitchFamily="18" charset="0"/>
            </a:endParaRPr>
          </a:p>
          <a:p>
            <a:pPr lvl="0" algn="just">
              <a:lnSpc>
                <a:spcPct val="150000"/>
              </a:lnSpc>
              <a:defRPr/>
            </a:pPr>
            <a:r>
              <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MoO</a:t>
            </a:r>
            <a:r>
              <a:rPr kumimoji="0" lang="en-US" altLang="zh-CN" sz="2000" b="1" i="0" u="none" strike="noStrike" kern="1200" cap="none" spc="0" normalizeH="0" baseline="-2500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3</a:t>
            </a:r>
            <a:r>
              <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 </a:t>
            </a:r>
            <a:r>
              <a:rPr kumimoji="0" lang="zh-CN" altLang="en-US"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的形成会破坏原有的 </a:t>
            </a:r>
            <a:r>
              <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MoS</a:t>
            </a:r>
            <a:r>
              <a:rPr kumimoji="0" lang="en-US" altLang="zh-CN" sz="2000" b="1" i="0" u="none" strike="noStrike" kern="1200" cap="none" spc="0" normalizeH="0" baseline="-2500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2</a:t>
            </a:r>
            <a:r>
              <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 </a:t>
            </a:r>
            <a:r>
              <a:rPr kumimoji="0" lang="zh-CN" altLang="en-US"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晶格，从而导致整体结构呈现无序且碎裂的状态。可能会破坏</a:t>
            </a:r>
            <a:r>
              <a:rPr lang="en-US" altLang="zh-CN" sz="2000" b="1" dirty="0">
                <a:latin typeface="Times New Roman" panose="02020503050405090304" pitchFamily="18" charset="0"/>
                <a:cs typeface="Times New Roman" panose="02020503050405090304" pitchFamily="18" charset="0"/>
              </a:rPr>
              <a:t>MoS</a:t>
            </a:r>
            <a:r>
              <a:rPr lang="en-US" altLang="zh-CN" sz="2000" b="1" baseline="-25000" dirty="0">
                <a:latin typeface="Times New Roman" panose="02020503050405090304" pitchFamily="18" charset="0"/>
                <a:cs typeface="Times New Roman" panose="02020503050405090304" pitchFamily="18" charset="0"/>
              </a:rPr>
              <a:t>2</a:t>
            </a:r>
            <a:r>
              <a:rPr kumimoji="0" lang="zh-CN" altLang="en-US"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催化活性</a:t>
            </a:r>
            <a:endPar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endParaRPr>
          </a:p>
        </p:txBody>
      </p:sp>
      <p:sp>
        <p:nvSpPr>
          <p:cNvPr id="8" name="箭头: 右 7"/>
          <p:cNvSpPr/>
          <p:nvPr/>
        </p:nvSpPr>
        <p:spPr>
          <a:xfrm>
            <a:off x="5295530" y="4673746"/>
            <a:ext cx="1898780" cy="37789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4840663" y="4327564"/>
            <a:ext cx="2743200" cy="398780"/>
          </a:xfrm>
          <a:prstGeom prst="rect">
            <a:avLst/>
          </a:prstGeom>
          <a:noFill/>
        </p:spPr>
        <p:txBody>
          <a:bodyPr wrap="square" rtlCol="0" anchor="t">
            <a:spAutoFit/>
          </a:bodyPr>
          <a:lstStyle/>
          <a:p>
            <a:pPr marL="0" indent="0" algn="ctr"/>
            <a:r>
              <a:rPr lang="zh-CN" altLang="en-US" sz="2000" b="1" dirty="0">
                <a:solidFill>
                  <a:srgbClr val="C00000"/>
                </a:solidFill>
                <a:latin typeface="Arial" panose="020B0604020202090204" pitchFamily="34" charset="0"/>
                <a:ea typeface="Inter"/>
                <a:cs typeface="Arial" panose="020B0604020202090204" pitchFamily="34" charset="0"/>
                <a:sym typeface="+mn-ea"/>
              </a:rPr>
              <a:t>严苛氧化</a:t>
            </a:r>
            <a:r>
              <a:rPr lang="en-US" altLang="zh-CN" sz="2000" b="1" dirty="0">
                <a:solidFill>
                  <a:srgbClr val="C00000"/>
                </a:solidFill>
                <a:latin typeface="Arial" panose="020B0604020202090204" pitchFamily="34" charset="0"/>
                <a:ea typeface="Inter"/>
                <a:cs typeface="Arial" panose="020B0604020202090204" pitchFamily="34" charset="0"/>
                <a:sym typeface="+mn-ea"/>
              </a:rPr>
              <a:t> </a:t>
            </a:r>
            <a:endParaRPr lang="en-US" altLang="zh-CN" sz="2000" b="1" dirty="0">
              <a:solidFill>
                <a:srgbClr val="C00000"/>
              </a:solidFill>
              <a:latin typeface="Arial" panose="020B0604020202090204" pitchFamily="34" charset="0"/>
              <a:ea typeface="Inter"/>
              <a:cs typeface="Arial" panose="020B0604020202090204" pitchFamily="34" charset="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163019" y="3829887"/>
            <a:ext cx="3620290" cy="2253631"/>
            <a:chOff x="569167" y="3733236"/>
            <a:chExt cx="3427564" cy="2133659"/>
          </a:xfrm>
        </p:grpSpPr>
        <p:pic>
          <p:nvPicPr>
            <p:cNvPr id="3" name="图片 2"/>
            <p:cNvPicPr>
              <a:picLocks noChangeAspect="1"/>
            </p:cNvPicPr>
            <p:nvPr/>
          </p:nvPicPr>
          <p:blipFill>
            <a:blip r:embed="rId1"/>
            <a:stretch>
              <a:fillRect/>
            </a:stretch>
          </p:blipFill>
          <p:spPr>
            <a:xfrm>
              <a:off x="569167" y="3733236"/>
              <a:ext cx="3427564" cy="2133659"/>
            </a:xfrm>
            <a:prstGeom prst="rect">
              <a:avLst/>
            </a:prstGeom>
          </p:spPr>
        </p:pic>
        <p:sp>
          <p:nvSpPr>
            <p:cNvPr id="4" name="矩形 3"/>
            <p:cNvSpPr/>
            <p:nvPr/>
          </p:nvSpPr>
          <p:spPr>
            <a:xfrm>
              <a:off x="3186404" y="5318449"/>
              <a:ext cx="690465" cy="5484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标题 19"/>
          <p:cNvSpPr>
            <a:spLocks noGrp="1"/>
          </p:cNvSpPr>
          <p:nvPr>
            <p:ph type="title"/>
          </p:nvPr>
        </p:nvSpPr>
        <p:spPr>
          <a:xfrm>
            <a:off x="442749" y="326935"/>
            <a:ext cx="9056851" cy="617518"/>
          </a:xfrm>
        </p:spPr>
        <p:txBody>
          <a:bodyPr/>
          <a:lstStyle/>
          <a:p>
            <a:r>
              <a:rPr lang="zh-CN" altLang="en-US" sz="2800" dirty="0">
                <a:sym typeface="Arial" panose="020B0604020202090204" pitchFamily="34" charset="0"/>
              </a:rPr>
              <a:t>研究背景</a:t>
            </a:r>
            <a:r>
              <a:rPr lang="en-US" altLang="zh-CN" sz="2800" dirty="0">
                <a:sym typeface="Arial" panose="020B0604020202090204" pitchFamily="34" charset="0"/>
              </a:rPr>
              <a:t> </a:t>
            </a:r>
            <a:endParaRPr lang="en-US" altLang="zh-CN" sz="2800" dirty="0">
              <a:sym typeface="Arial" panose="020B0604020202090204" pitchFamily="34" charset="0"/>
            </a:endParaRPr>
          </a:p>
        </p:txBody>
      </p:sp>
      <p:sp>
        <p:nvSpPr>
          <p:cNvPr id="2" name="灯片编号占位符 1"/>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t>&lt; </a:t>
            </a:r>
            <a:fld id="{A548B57D-AE10-4CF7-A9DF-59FEFA91B28E}" type="slidenum">
              <a:rPr kumimoji="0" lang="zh-CN" altLang="en-US" sz="1200" b="0" i="0" u="none" strike="noStrike" kern="1200" cap="none" spc="0" normalizeH="0" baseline="0" noProof="0" smtClean="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fld>
            <a:r>
              <a:rPr kumimoji="0" lang="zh-CN" altLang="en-US" sz="1200" b="0" i="0" u="none" strike="noStrike" kern="1200" cap="none" spc="0" normalizeH="0" baseline="0" noProof="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t> </a:t>
            </a:r>
            <a:r>
              <a:rPr kumimoji="0" lang="en-US" altLang="zh-CN" sz="1200" b="0" i="0" u="none" strike="noStrike" kern="1200" cap="none" spc="0" normalizeH="0" baseline="0" noProof="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t>&gt;</a:t>
            </a:r>
            <a:endPar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endParaRPr>
          </a:p>
        </p:txBody>
      </p:sp>
      <p:sp>
        <p:nvSpPr>
          <p:cNvPr id="23" name="文本占位符 10"/>
          <p:cNvSpPr txBox="1"/>
          <p:nvPr/>
        </p:nvSpPr>
        <p:spPr>
          <a:xfrm>
            <a:off x="727787" y="1311710"/>
            <a:ext cx="10613572" cy="268982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28600" marR="0" lvl="0" indent="-228600" algn="just" defTabSz="914400" rtl="0" eaLnBrk="1" fontAlgn="auto" latinLnBrk="0" hangingPunct="1">
              <a:lnSpc>
                <a:spcPct val="150000"/>
              </a:lnSpc>
              <a:spcBef>
                <a:spcPts val="1000"/>
              </a:spcBef>
              <a:spcAft>
                <a:spcPts val="0"/>
              </a:spcAft>
              <a:buClrTx/>
              <a:buSzTx/>
              <a:buFont typeface="Arial" panose="020B0604020202090204" pitchFamily="34" charset="0"/>
              <a:buChar char="•"/>
              <a:defRPr/>
            </a:pP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作者在本文报道了在暴露空气条件下，</a:t>
            </a:r>
            <a:r>
              <a:rPr lang="en-US" altLang="zh-CN"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MoS</a:t>
            </a:r>
            <a:r>
              <a:rPr lang="en-US" altLang="zh-CN" sz="2000" b="1" baseline="-25000"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2</a:t>
            </a:r>
            <a:r>
              <a:rPr lang="en-US" altLang="zh-CN"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 </a:t>
            </a:r>
            <a:r>
              <a:rPr lang="zh-CN" altLang="en-US"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单层的基面会发生极慢但自发的氧取代反应</a:t>
            </a:r>
            <a:r>
              <a:rPr lang="en-US" altLang="zh-CN"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a:t>
            </a:r>
            <a:r>
              <a:rPr lang="zh-CN" altLang="en-US"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氧原子逐个替代硫原子，形成保持晶格完整的二维固溶体型 </a:t>
            </a:r>
            <a:r>
              <a:rPr lang="en-US" altLang="zh-CN"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MoS</a:t>
            </a:r>
            <a:r>
              <a:rPr lang="en-US" altLang="zh-CN" sz="2000" b="1" baseline="-25000"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2-x</a:t>
            </a:r>
            <a:r>
              <a:rPr lang="en-US" altLang="zh-CN"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O</a:t>
            </a:r>
            <a:r>
              <a:rPr lang="en-US" altLang="zh-CN" sz="2000" b="1" baseline="-25000"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x</a:t>
            </a:r>
            <a:endParaRPr lang="en-US" altLang="zh-CN" sz="2000" b="1" baseline="-25000"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endParaRPr>
          </a:p>
          <a:p>
            <a:pPr lvl="0" algn="just">
              <a:lnSpc>
                <a:spcPct val="150000"/>
              </a:lnSpc>
              <a:defRPr/>
            </a:pP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同时发现</a:t>
            </a:r>
            <a:r>
              <a:rPr kumimoji="0" lang="zh-CN" altLang="en-US"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分布在整个基面上的单原子 </a:t>
            </a:r>
            <a:r>
              <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O </a:t>
            </a:r>
            <a:r>
              <a:rPr kumimoji="0" lang="zh-CN" altLang="en-US"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取代位点</a:t>
            </a: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可</a:t>
            </a:r>
            <a:r>
              <a:rPr kumimoji="0" lang="zh-CN" altLang="en-US"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显著提升 </a:t>
            </a:r>
            <a:r>
              <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MoS</a:t>
            </a:r>
            <a:r>
              <a:rPr lang="en-US" altLang="zh-CN" sz="2000" b="1" baseline="-25000" dirty="0">
                <a:latin typeface="Times New Roman" panose="02020503050405090304" pitchFamily="18" charset="0"/>
                <a:cs typeface="Times New Roman" panose="02020503050405090304" pitchFamily="18" charset="0"/>
              </a:rPr>
              <a:t>2</a:t>
            </a:r>
            <a:r>
              <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 </a:t>
            </a:r>
            <a:r>
              <a:rPr kumimoji="0" lang="zh-CN" altLang="en-US"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基面对析氢反应（</a:t>
            </a:r>
            <a:r>
              <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HER</a:t>
            </a:r>
            <a:r>
              <a:rPr kumimoji="0" lang="zh-CN" altLang="en-US"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）的催化活性</a:t>
            </a:r>
            <a:endPar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endParaRPr>
          </a:p>
        </p:txBody>
      </p:sp>
      <p:pic>
        <p:nvPicPr>
          <p:cNvPr id="7" name="图片 6"/>
          <p:cNvPicPr>
            <a:picLocks noChangeAspect="1"/>
          </p:cNvPicPr>
          <p:nvPr/>
        </p:nvPicPr>
        <p:blipFill>
          <a:blip r:embed="rId2"/>
          <a:stretch>
            <a:fillRect/>
          </a:stretch>
        </p:blipFill>
        <p:spPr>
          <a:xfrm>
            <a:off x="7698571" y="3949859"/>
            <a:ext cx="2225903" cy="2133659"/>
          </a:xfrm>
          <a:prstGeom prst="rect">
            <a:avLst/>
          </a:prstGeom>
        </p:spPr>
      </p:pic>
      <p:sp>
        <p:nvSpPr>
          <p:cNvPr id="8" name="箭头: 右 7"/>
          <p:cNvSpPr/>
          <p:nvPr/>
        </p:nvSpPr>
        <p:spPr>
          <a:xfrm>
            <a:off x="5295530" y="4673746"/>
            <a:ext cx="1898780" cy="37789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4840663" y="4327564"/>
            <a:ext cx="2743200" cy="398780"/>
          </a:xfrm>
          <a:prstGeom prst="rect">
            <a:avLst/>
          </a:prstGeom>
          <a:noFill/>
        </p:spPr>
        <p:txBody>
          <a:bodyPr wrap="square" rtlCol="0" anchor="t">
            <a:spAutoFit/>
          </a:bodyPr>
          <a:lstStyle/>
          <a:p>
            <a:pPr marL="0" indent="0" algn="ctr"/>
            <a:r>
              <a:rPr lang="zh-CN" altLang="en-US" sz="2000" b="1" dirty="0">
                <a:solidFill>
                  <a:srgbClr val="C00000"/>
                </a:solidFill>
                <a:latin typeface="Arial" panose="020B0604020202090204" pitchFamily="34" charset="0"/>
                <a:ea typeface="Inter"/>
                <a:cs typeface="Arial" panose="020B0604020202090204" pitchFamily="34" charset="0"/>
                <a:sym typeface="+mn-ea"/>
              </a:rPr>
              <a:t>缓慢氧化</a:t>
            </a:r>
            <a:r>
              <a:rPr lang="en-US" altLang="zh-CN" sz="2000" b="1" dirty="0">
                <a:solidFill>
                  <a:srgbClr val="C00000"/>
                </a:solidFill>
                <a:latin typeface="Arial" panose="020B0604020202090204" pitchFamily="34" charset="0"/>
                <a:ea typeface="Inter"/>
                <a:cs typeface="Arial" panose="020B0604020202090204" pitchFamily="34" charset="0"/>
                <a:sym typeface="+mn-ea"/>
              </a:rPr>
              <a:t> </a:t>
            </a:r>
            <a:endParaRPr lang="en-US" altLang="zh-CN" sz="2000" b="1" dirty="0">
              <a:solidFill>
                <a:srgbClr val="C00000"/>
              </a:solidFill>
              <a:latin typeface="Arial" panose="020B0604020202090204" pitchFamily="34" charset="0"/>
              <a:ea typeface="Inter"/>
              <a:cs typeface="Arial" panose="020B0604020202090204" pitchFamily="34" charset="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标题 19"/>
          <p:cNvSpPr>
            <a:spLocks noGrp="1"/>
          </p:cNvSpPr>
          <p:nvPr>
            <p:ph type="title"/>
          </p:nvPr>
        </p:nvSpPr>
        <p:spPr>
          <a:xfrm>
            <a:off x="442913" y="243569"/>
            <a:ext cx="9713674" cy="617518"/>
          </a:xfrm>
        </p:spPr>
        <p:txBody>
          <a:bodyPr>
            <a:normAutofit/>
          </a:bodyPr>
          <a:lstStyle/>
          <a:p>
            <a:r>
              <a:rPr lang="zh-CN" altLang="en-US" sz="2800" dirty="0">
                <a:sym typeface="Arial" panose="020B0604020202090204" pitchFamily="34" charset="0"/>
              </a:rPr>
              <a:t>结果与讨论</a:t>
            </a:r>
            <a:r>
              <a:rPr lang="en-US" altLang="zh-CN" sz="2800" dirty="0">
                <a:sym typeface="Arial" panose="020B0604020202090204" pitchFamily="34" charset="0"/>
              </a:rPr>
              <a:t>——</a:t>
            </a:r>
            <a:endParaRPr lang="en-US" altLang="zh-CN" sz="2800" dirty="0">
              <a:sym typeface="Arial" panose="020B0604020202090204" pitchFamily="34" charset="0"/>
            </a:endParaRPr>
          </a:p>
        </p:txBody>
      </p:sp>
      <p:sp>
        <p:nvSpPr>
          <p:cNvPr id="2" name="灯片编号占位符 1"/>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t>&lt; </a:t>
            </a:r>
            <a:fld id="{A548B57D-AE10-4CF7-A9DF-59FEFA91B28E}" type="slidenum">
              <a:rPr kumimoji="0" lang="zh-CN" altLang="en-US" sz="1200" b="0" i="0" u="none" strike="noStrike" kern="1200" cap="none" spc="0" normalizeH="0" baseline="0" noProof="0" dirty="0" smtClean="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fld>
            <a:r>
              <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t> </a:t>
            </a:r>
            <a:r>
              <a:rPr kumimoji="0" lang="en-US" altLang="zh-CN"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t>&gt;</a:t>
            </a:r>
            <a:endPar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endParaRPr>
          </a:p>
        </p:txBody>
      </p:sp>
      <p:sp>
        <p:nvSpPr>
          <p:cNvPr id="10" name="文本占位符 10"/>
          <p:cNvSpPr txBox="1"/>
          <p:nvPr/>
        </p:nvSpPr>
        <p:spPr>
          <a:xfrm>
            <a:off x="442913" y="874659"/>
            <a:ext cx="11306078" cy="1567319"/>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28600" marR="0" lvl="0" indent="-228600" algn="just" defTabSz="914400" rtl="0" eaLnBrk="1" fontAlgn="auto" latinLnBrk="0" hangingPunct="1">
              <a:lnSpc>
                <a:spcPct val="150000"/>
              </a:lnSpc>
              <a:spcBef>
                <a:spcPts val="1000"/>
              </a:spcBef>
              <a:spcAft>
                <a:spcPts val="0"/>
              </a:spcAft>
              <a:buClrTx/>
              <a:buSzTx/>
              <a:buFont typeface="Arial" panose="020B0604020202090204" pitchFamily="34" charset="0"/>
              <a:buChar char="•"/>
              <a:defRPr/>
            </a:pP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在</a:t>
            </a:r>
            <a:r>
              <a:rPr lang="en-US" altLang="zh-CN" sz="2000" b="1" dirty="0">
                <a:latin typeface="Times New Roman" panose="02020503050405090304" pitchFamily="18" charset="0"/>
                <a:ea typeface="Microsoft YaHei" panose="020B0503020204020204" pitchFamily="34" charset="-122"/>
                <a:cs typeface="Times New Roman" panose="02020503050405090304" pitchFamily="18" charset="0"/>
              </a:rPr>
              <a:t>Au</a:t>
            </a: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Microsoft YaHei" panose="020B0503020204020204" pitchFamily="34" charset="-122"/>
                <a:cs typeface="Times New Roman" panose="02020503050405090304" pitchFamily="18" charset="0"/>
              </a:rPr>
              <a:t>111</a:t>
            </a: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）制备机械剥离单层</a:t>
            </a:r>
            <a:r>
              <a:rPr lang="en-US" altLang="zh-CN" sz="2000" b="1" dirty="0">
                <a:latin typeface="Times New Roman" panose="02020503050405090304" pitchFamily="18" charset="0"/>
                <a:ea typeface="Microsoft YaHei" panose="020B0503020204020204" pitchFamily="34" charset="-122"/>
                <a:cs typeface="Times New Roman" panose="02020503050405090304" pitchFamily="18" charset="0"/>
              </a:rPr>
              <a:t>MoS</a:t>
            </a:r>
            <a:r>
              <a:rPr lang="en-US" altLang="zh-CN" sz="2000" b="1" baseline="-25000" dirty="0">
                <a:latin typeface="Times New Roman" panose="02020503050405090304" pitchFamily="18" charset="0"/>
                <a:ea typeface="Microsoft YaHei" panose="020B0503020204020204" pitchFamily="34" charset="-122"/>
                <a:cs typeface="Times New Roman" panose="02020503050405090304" pitchFamily="18" charset="0"/>
              </a:rPr>
              <a:t>2</a:t>
            </a: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，单层横向尺寸达数百微米</a:t>
            </a:r>
            <a:endParaRPr lang="en-US" altLang="zh-CN" sz="2000" b="1" dirty="0">
              <a:latin typeface="Times New Roman" panose="02020503050405090304" pitchFamily="18" charset="0"/>
              <a:ea typeface="Microsoft YaHei" panose="020B0503020204020204" pitchFamily="34" charset="-122"/>
              <a:cs typeface="Times New Roman" panose="02020503050405090304" pitchFamily="18" charset="0"/>
            </a:endParaRPr>
          </a:p>
          <a:p>
            <a:pPr marL="228600" marR="0" lvl="0" indent="-228600" algn="just" defTabSz="914400" rtl="0" eaLnBrk="1" fontAlgn="auto" latinLnBrk="0" hangingPunct="1">
              <a:lnSpc>
                <a:spcPct val="150000"/>
              </a:lnSpc>
              <a:spcBef>
                <a:spcPts val="1000"/>
              </a:spcBef>
              <a:spcAft>
                <a:spcPts val="0"/>
              </a:spcAft>
              <a:buClrTx/>
              <a:buSzTx/>
              <a:buFont typeface="Arial" panose="020B0604020202090204" pitchFamily="34" charset="0"/>
              <a:buChar char="•"/>
              <a:defRPr/>
            </a:pPr>
            <a:r>
              <a:rPr kumimoji="0" lang="zh-CN" altLang="en-US" sz="2000" b="1" i="0" u="none" strike="noStrike" kern="1200" cap="none" spc="0" normalizeH="0" baseline="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在大气下保存</a:t>
            </a:r>
            <a:r>
              <a:rPr kumimoji="0" lang="en-US" altLang="zh-CN" sz="2000" b="1" i="0" u="none" strike="noStrike" kern="1200" cap="none" spc="0" normalizeH="0" baseline="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1.5</a:t>
            </a:r>
            <a:r>
              <a:rPr kumimoji="0" lang="zh-CN" altLang="en-US" sz="2000" b="1" i="0" u="none" strike="noStrike" kern="1200" cap="none" spc="0" normalizeH="0" baseline="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年，使用扫描隧道显微镜 </a:t>
            </a:r>
            <a:r>
              <a:rPr kumimoji="0" lang="en-US" altLang="zh-CN" sz="2000" b="1" i="0" u="none" strike="noStrike" kern="1200" cap="none" spc="0" normalizeH="0" baseline="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(STM) </a:t>
            </a:r>
            <a:r>
              <a:rPr kumimoji="0" lang="zh-CN" altLang="en-US" sz="2000" b="1" i="0" u="none" strike="noStrike" kern="1200" cap="none" spc="0" normalizeH="0" baseline="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测量来追踪二维 </a:t>
            </a:r>
            <a:r>
              <a:rPr kumimoji="0" lang="en-US" altLang="zh-CN" sz="2000" b="1" i="0" u="none" strike="noStrike" kern="1200" cap="none" spc="0" normalizeH="0" baseline="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MoS</a:t>
            </a:r>
            <a:r>
              <a:rPr kumimoji="0" lang="en-US" altLang="zh-CN" sz="2000" b="1" i="0" u="none" strike="noStrike" kern="1200" cap="none" spc="0" normalizeH="0" baseline="-2500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2</a:t>
            </a:r>
            <a:r>
              <a:rPr kumimoji="0" lang="zh-CN" altLang="en-US" sz="2000" b="1" i="0" u="none" strike="noStrike" kern="1200" cap="none" spc="0" normalizeH="0" baseline="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晶体在长期环境暴露过程中基面结构的原子级结构变化</a:t>
            </a:r>
            <a:endParaRPr kumimoji="0" lang="en-US" altLang="zh-CN" sz="2000" b="1" i="0" u="none" strike="noStrike" kern="1200" cap="none" spc="0" normalizeH="0" baseline="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endParaRPr>
          </a:p>
        </p:txBody>
      </p:sp>
      <p:pic>
        <p:nvPicPr>
          <p:cNvPr id="4" name="图片 3"/>
          <p:cNvPicPr>
            <a:picLocks noChangeAspect="1"/>
          </p:cNvPicPr>
          <p:nvPr/>
        </p:nvPicPr>
        <p:blipFill>
          <a:blip r:embed="rId1"/>
          <a:stretch>
            <a:fillRect/>
          </a:stretch>
        </p:blipFill>
        <p:spPr>
          <a:xfrm>
            <a:off x="4453211" y="2511929"/>
            <a:ext cx="3067932" cy="3039828"/>
          </a:xfrm>
          <a:prstGeom prst="rect">
            <a:avLst/>
          </a:prstGeom>
        </p:spPr>
      </p:pic>
      <p:pic>
        <p:nvPicPr>
          <p:cNvPr id="7" name="图片 6"/>
          <p:cNvPicPr>
            <a:picLocks noChangeAspect="1"/>
          </p:cNvPicPr>
          <p:nvPr/>
        </p:nvPicPr>
        <p:blipFill>
          <a:blip r:embed="rId2"/>
          <a:stretch>
            <a:fillRect/>
          </a:stretch>
        </p:blipFill>
        <p:spPr>
          <a:xfrm>
            <a:off x="7702925" y="2511929"/>
            <a:ext cx="3030446" cy="3039828"/>
          </a:xfrm>
          <a:prstGeom prst="rect">
            <a:avLst/>
          </a:prstGeom>
        </p:spPr>
      </p:pic>
      <p:sp>
        <p:nvSpPr>
          <p:cNvPr id="8" name="文本框 7"/>
          <p:cNvSpPr txBox="1"/>
          <p:nvPr/>
        </p:nvSpPr>
        <p:spPr>
          <a:xfrm>
            <a:off x="4598631" y="5565164"/>
            <a:ext cx="2743200" cy="338554"/>
          </a:xfrm>
          <a:prstGeom prst="rect">
            <a:avLst/>
          </a:prstGeom>
          <a:noFill/>
        </p:spPr>
        <p:txBody>
          <a:bodyPr wrap="square" rtlCol="0" anchor="t">
            <a:spAutoFit/>
          </a:bodyPr>
          <a:lstStyle/>
          <a:p>
            <a:pPr marL="0" indent="0" algn="ctr"/>
            <a:r>
              <a:rPr lang="zh-CN" altLang="en-US" sz="1600" b="1" dirty="0">
                <a:latin typeface="Arial" panose="020B0604020202090204" pitchFamily="34" charset="0"/>
                <a:ea typeface="Inter"/>
                <a:cs typeface="Arial" panose="020B0604020202090204" pitchFamily="34" charset="0"/>
                <a:sym typeface="+mn-ea"/>
              </a:rPr>
              <a:t>暴露一个月</a:t>
            </a:r>
            <a:r>
              <a:rPr lang="en-US" altLang="zh-CN" sz="1600" b="1" dirty="0">
                <a:latin typeface="Arial" panose="020B0604020202090204" pitchFamily="34" charset="0"/>
                <a:ea typeface="Inter"/>
                <a:cs typeface="Arial" panose="020B0604020202090204" pitchFamily="34" charset="0"/>
                <a:sym typeface="+mn-ea"/>
              </a:rPr>
              <a:t>STM</a:t>
            </a:r>
            <a:r>
              <a:rPr lang="zh-CN" altLang="en-US" sz="1600" b="1" dirty="0">
                <a:latin typeface="Arial" panose="020B0604020202090204" pitchFamily="34" charset="0"/>
                <a:ea typeface="Inter"/>
                <a:cs typeface="Arial" panose="020B0604020202090204" pitchFamily="34" charset="0"/>
                <a:sym typeface="+mn-ea"/>
              </a:rPr>
              <a:t>图像</a:t>
            </a:r>
            <a:endParaRPr lang="en-US" altLang="zh-CN" sz="1600" b="1" dirty="0">
              <a:latin typeface="Arial" panose="020B0604020202090204" pitchFamily="34" charset="0"/>
              <a:ea typeface="Inter"/>
              <a:cs typeface="Arial" panose="020B0604020202090204" pitchFamily="34" charset="0"/>
              <a:sym typeface="+mn-ea"/>
            </a:endParaRPr>
          </a:p>
        </p:txBody>
      </p:sp>
      <p:sp>
        <p:nvSpPr>
          <p:cNvPr id="11" name="文本框 10"/>
          <p:cNvSpPr txBox="1"/>
          <p:nvPr/>
        </p:nvSpPr>
        <p:spPr>
          <a:xfrm>
            <a:off x="7950686" y="5565164"/>
            <a:ext cx="2743200" cy="338554"/>
          </a:xfrm>
          <a:prstGeom prst="rect">
            <a:avLst/>
          </a:prstGeom>
          <a:noFill/>
        </p:spPr>
        <p:txBody>
          <a:bodyPr wrap="square" rtlCol="0" anchor="t">
            <a:spAutoFit/>
          </a:bodyPr>
          <a:lstStyle/>
          <a:p>
            <a:pPr marL="0" indent="0" algn="ctr"/>
            <a:r>
              <a:rPr lang="zh-CN" altLang="en-US" sz="1600" b="1" dirty="0">
                <a:latin typeface="Arial" panose="020B0604020202090204" pitchFamily="34" charset="0"/>
                <a:ea typeface="Inter"/>
                <a:cs typeface="Arial" panose="020B0604020202090204" pitchFamily="34" charset="0"/>
                <a:sym typeface="+mn-ea"/>
              </a:rPr>
              <a:t>暴露一年</a:t>
            </a:r>
            <a:r>
              <a:rPr lang="en-US" altLang="zh-CN" sz="1600" b="1" dirty="0">
                <a:latin typeface="Arial" panose="020B0604020202090204" pitchFamily="34" charset="0"/>
                <a:ea typeface="Inter"/>
                <a:cs typeface="Arial" panose="020B0604020202090204" pitchFamily="34" charset="0"/>
                <a:sym typeface="+mn-ea"/>
              </a:rPr>
              <a:t>STM</a:t>
            </a:r>
            <a:r>
              <a:rPr lang="zh-CN" altLang="en-US" sz="1600" b="1" dirty="0">
                <a:latin typeface="Arial" panose="020B0604020202090204" pitchFamily="34" charset="0"/>
                <a:ea typeface="Inter"/>
                <a:cs typeface="Arial" panose="020B0604020202090204" pitchFamily="34" charset="0"/>
                <a:sym typeface="+mn-ea"/>
              </a:rPr>
              <a:t>图像</a:t>
            </a:r>
            <a:endParaRPr lang="en-US" altLang="zh-CN" sz="1600" b="1" dirty="0">
              <a:latin typeface="Arial" panose="020B0604020202090204" pitchFamily="34" charset="0"/>
              <a:ea typeface="Inter"/>
              <a:cs typeface="Arial" panose="020B0604020202090204" pitchFamily="34" charset="0"/>
              <a:sym typeface="+mn-ea"/>
            </a:endParaRPr>
          </a:p>
        </p:txBody>
      </p:sp>
      <p:sp>
        <p:nvSpPr>
          <p:cNvPr id="13" name="文本框 12"/>
          <p:cNvSpPr txBox="1"/>
          <p:nvPr/>
        </p:nvSpPr>
        <p:spPr>
          <a:xfrm>
            <a:off x="1836186" y="6099702"/>
            <a:ext cx="7765014" cy="369332"/>
          </a:xfrm>
          <a:prstGeom prst="rect">
            <a:avLst/>
          </a:prstGeom>
          <a:noFill/>
        </p:spPr>
        <p:txBody>
          <a:bodyPr wrap="square">
            <a:spAutoFit/>
          </a:bodyPr>
          <a:lstStyle/>
          <a:p>
            <a:r>
              <a:rPr lang="en-US" altLang="zh-CN" b="1" dirty="0"/>
              <a:t>MoS</a:t>
            </a:r>
            <a:r>
              <a:rPr lang="en-US" altLang="zh-CN" b="1" baseline="-25000" dirty="0"/>
              <a:t>2</a:t>
            </a:r>
            <a:r>
              <a:rPr lang="zh-CN" altLang="en-US" b="1" dirty="0"/>
              <a:t>的原子结构在暴露于环境空气中时发生了明显的变化</a:t>
            </a:r>
            <a:endParaRPr lang="zh-CN" altLang="en-US" b="1" dirty="0"/>
          </a:p>
        </p:txBody>
      </p:sp>
      <p:pic>
        <p:nvPicPr>
          <p:cNvPr id="15" name="图片 14"/>
          <p:cNvPicPr>
            <a:picLocks noChangeAspect="1"/>
          </p:cNvPicPr>
          <p:nvPr/>
        </p:nvPicPr>
        <p:blipFill>
          <a:blip r:embed="rId3"/>
          <a:stretch>
            <a:fillRect/>
          </a:stretch>
        </p:blipFill>
        <p:spPr>
          <a:xfrm>
            <a:off x="1246576" y="2511929"/>
            <a:ext cx="3024853" cy="3039828"/>
          </a:xfrm>
          <a:prstGeom prst="rect">
            <a:avLst/>
          </a:prstGeom>
        </p:spPr>
      </p:pic>
      <p:sp>
        <p:nvSpPr>
          <p:cNvPr id="16" name="文本框 15"/>
          <p:cNvSpPr txBox="1"/>
          <p:nvPr/>
        </p:nvSpPr>
        <p:spPr>
          <a:xfrm>
            <a:off x="1246576" y="5565164"/>
            <a:ext cx="2743200" cy="338554"/>
          </a:xfrm>
          <a:prstGeom prst="rect">
            <a:avLst/>
          </a:prstGeom>
          <a:noFill/>
        </p:spPr>
        <p:txBody>
          <a:bodyPr wrap="square" rtlCol="0" anchor="t">
            <a:spAutoFit/>
          </a:bodyPr>
          <a:lstStyle/>
          <a:p>
            <a:pPr algn="ctr"/>
            <a:r>
              <a:rPr lang="zh-CN" altLang="en-US" sz="1600" b="1" dirty="0">
                <a:latin typeface="Arial" panose="020B0604020202090204" pitchFamily="34" charset="0"/>
                <a:ea typeface="Inter"/>
                <a:cs typeface="Arial" panose="020B0604020202090204" pitchFamily="34" charset="0"/>
                <a:sym typeface="+mn-ea"/>
              </a:rPr>
              <a:t>新制备的</a:t>
            </a:r>
            <a:r>
              <a:rPr lang="en-US" altLang="zh-CN" sz="1600" b="1" dirty="0">
                <a:latin typeface="Times New Roman" panose="02020503050405090304" pitchFamily="18" charset="0"/>
                <a:cs typeface="Times New Roman" panose="02020503050405090304" pitchFamily="18" charset="0"/>
              </a:rPr>
              <a:t>MoS</a:t>
            </a:r>
            <a:r>
              <a:rPr lang="en-US" altLang="zh-CN" sz="1600" b="1" baseline="-25000" dirty="0">
                <a:latin typeface="Times New Roman" panose="02020503050405090304" pitchFamily="18" charset="0"/>
                <a:cs typeface="Times New Roman" panose="02020503050405090304" pitchFamily="18" charset="0"/>
              </a:rPr>
              <a:t>2</a:t>
            </a:r>
            <a:endParaRPr lang="en-US" altLang="zh-CN" sz="1600" b="1" dirty="0">
              <a:latin typeface="Arial" panose="020B0604020202090204" pitchFamily="34" charset="0"/>
              <a:ea typeface="Inter"/>
              <a:cs typeface="Arial" panose="020B0604020202090204" pitchFamily="34"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标题 19"/>
          <p:cNvSpPr>
            <a:spLocks noGrp="1"/>
          </p:cNvSpPr>
          <p:nvPr>
            <p:ph type="title"/>
          </p:nvPr>
        </p:nvSpPr>
        <p:spPr>
          <a:xfrm>
            <a:off x="442913" y="243569"/>
            <a:ext cx="9713674" cy="617518"/>
          </a:xfrm>
        </p:spPr>
        <p:txBody>
          <a:bodyPr>
            <a:normAutofit/>
          </a:bodyPr>
          <a:lstStyle/>
          <a:p>
            <a:r>
              <a:rPr lang="zh-CN" altLang="en-US" sz="2800" dirty="0">
                <a:sym typeface="Arial" panose="020B0604020202090204" pitchFamily="34" charset="0"/>
              </a:rPr>
              <a:t>结果与讨论</a:t>
            </a:r>
            <a:endParaRPr lang="en-US" altLang="zh-CN" sz="2800" dirty="0">
              <a:sym typeface="Arial" panose="020B0604020202090204" pitchFamily="34" charset="0"/>
            </a:endParaRPr>
          </a:p>
        </p:txBody>
      </p:sp>
      <p:sp>
        <p:nvSpPr>
          <p:cNvPr id="2" name="灯片编号占位符 1"/>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t>&lt; </a:t>
            </a:r>
            <a:fld id="{A548B57D-AE10-4CF7-A9DF-59FEFA91B28E}" type="slidenum">
              <a:rPr kumimoji="0" lang="zh-CN" altLang="en-US" sz="1200" b="0" i="0" u="none" strike="noStrike" kern="1200" cap="none" spc="0" normalizeH="0" baseline="0" noProof="0" dirty="0" smtClean="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fld>
            <a:r>
              <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t> </a:t>
            </a:r>
            <a:r>
              <a:rPr kumimoji="0" lang="en-US" altLang="zh-CN"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t>&gt;</a:t>
            </a:r>
            <a:endPar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endParaRPr>
          </a:p>
        </p:txBody>
      </p:sp>
      <p:sp>
        <p:nvSpPr>
          <p:cNvPr id="10" name="文本占位符 10"/>
          <p:cNvSpPr txBox="1"/>
          <p:nvPr/>
        </p:nvSpPr>
        <p:spPr>
          <a:xfrm>
            <a:off x="442913" y="874659"/>
            <a:ext cx="11306078" cy="1567319"/>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28600" marR="0" lvl="0" indent="-228600" algn="just" defTabSz="914400" rtl="0" eaLnBrk="1" fontAlgn="auto" latinLnBrk="0" hangingPunct="1">
              <a:lnSpc>
                <a:spcPct val="150000"/>
              </a:lnSpc>
              <a:spcBef>
                <a:spcPts val="1000"/>
              </a:spcBef>
              <a:spcAft>
                <a:spcPts val="0"/>
              </a:spcAft>
              <a:buClrTx/>
              <a:buSzTx/>
              <a:buFont typeface="Arial" panose="020B0604020202090204" pitchFamily="34" charset="0"/>
              <a:buChar char="•"/>
              <a:defRPr/>
            </a:pPr>
            <a:r>
              <a:rPr lang="en-US" altLang="zh-CN" sz="2000" b="1" dirty="0">
                <a:latin typeface="Times New Roman" panose="02020503050405090304" pitchFamily="18" charset="0"/>
                <a:ea typeface="Microsoft YaHei" panose="020B0503020204020204" pitchFamily="34" charset="-122"/>
                <a:cs typeface="Times New Roman" panose="02020503050405090304" pitchFamily="18" charset="0"/>
              </a:rPr>
              <a:t>STM </a:t>
            </a: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图像中的暗三角形是</a:t>
            </a:r>
            <a:r>
              <a:rPr lang="zh-CN" altLang="en-US"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硫原子空位</a:t>
            </a: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的特征。在这些暗三角形内，可以检测到亮点。这是是由于</a:t>
            </a:r>
            <a:r>
              <a:rPr lang="zh-CN" altLang="en-US"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氧原子或氧分子在环境条件下饱和</a:t>
            </a: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了这些空位所致。</a:t>
            </a:r>
            <a:endPar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endParaRPr>
          </a:p>
          <a:p>
            <a:pPr marL="228600" marR="0" lvl="0" indent="-228600" algn="just" defTabSz="914400" rtl="0" eaLnBrk="1" fontAlgn="auto" latinLnBrk="0" hangingPunct="1">
              <a:lnSpc>
                <a:spcPct val="150000"/>
              </a:lnSpc>
              <a:spcBef>
                <a:spcPts val="1000"/>
              </a:spcBef>
              <a:spcAft>
                <a:spcPts val="0"/>
              </a:spcAft>
              <a:buClrTx/>
              <a:buSzTx/>
              <a:buFont typeface="Arial" panose="020B0604020202090204" pitchFamily="34" charset="0"/>
              <a:buChar char="•"/>
              <a:defRPr/>
            </a:pPr>
            <a:r>
              <a:rPr lang="en-US" altLang="zh-CN" sz="2000" b="1" dirty="0">
                <a:latin typeface="Times New Roman" panose="02020503050405090304" pitchFamily="18" charset="0"/>
                <a:ea typeface="Microsoft YaHei" panose="020B0503020204020204" pitchFamily="34" charset="-122"/>
                <a:cs typeface="Times New Roman" panose="02020503050405090304" pitchFamily="18" charset="0"/>
              </a:rPr>
              <a:t>DFT</a:t>
            </a: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计算显示：</a:t>
            </a:r>
            <a:r>
              <a:rPr lang="en-US" altLang="zh-CN" sz="2000" b="1" dirty="0">
                <a:latin typeface="Times New Roman" panose="02020503050405090304" pitchFamily="18" charset="0"/>
                <a:ea typeface="Microsoft YaHei" panose="020B0503020204020204" pitchFamily="34" charset="-122"/>
                <a:cs typeface="Times New Roman" panose="02020503050405090304" pitchFamily="18" charset="0"/>
              </a:rPr>
              <a:t>O</a:t>
            </a: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原子氧取代计算得到的缺陷结构方面吻合得最好</a:t>
            </a:r>
            <a:endParaRPr kumimoji="0" lang="en-US" altLang="zh-CN" sz="2000" b="1" i="0" u="none" strike="noStrike" kern="1200" cap="none" spc="0" normalizeH="0" baseline="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endParaRPr>
          </a:p>
        </p:txBody>
      </p:sp>
      <p:pic>
        <p:nvPicPr>
          <p:cNvPr id="5" name="图片 4"/>
          <p:cNvPicPr>
            <a:picLocks noChangeAspect="1"/>
          </p:cNvPicPr>
          <p:nvPr/>
        </p:nvPicPr>
        <p:blipFill>
          <a:blip r:embed="rId1"/>
          <a:stretch>
            <a:fillRect/>
          </a:stretch>
        </p:blipFill>
        <p:spPr>
          <a:xfrm>
            <a:off x="918309" y="2633977"/>
            <a:ext cx="3236362" cy="3182011"/>
          </a:xfrm>
          <a:prstGeom prst="rect">
            <a:avLst/>
          </a:prstGeom>
        </p:spPr>
      </p:pic>
      <p:pic>
        <p:nvPicPr>
          <p:cNvPr id="9" name="图片 8"/>
          <p:cNvPicPr>
            <a:picLocks noChangeAspect="1"/>
          </p:cNvPicPr>
          <p:nvPr/>
        </p:nvPicPr>
        <p:blipFill>
          <a:blip r:embed="rId2"/>
          <a:stretch>
            <a:fillRect/>
          </a:stretch>
        </p:blipFill>
        <p:spPr>
          <a:xfrm>
            <a:off x="4384311" y="2736629"/>
            <a:ext cx="7102740" cy="279564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标题 19"/>
          <p:cNvSpPr>
            <a:spLocks noGrp="1"/>
          </p:cNvSpPr>
          <p:nvPr>
            <p:ph type="title"/>
          </p:nvPr>
        </p:nvSpPr>
        <p:spPr>
          <a:xfrm>
            <a:off x="442913" y="243569"/>
            <a:ext cx="9713674" cy="617518"/>
          </a:xfrm>
        </p:spPr>
        <p:txBody>
          <a:bodyPr>
            <a:normAutofit/>
          </a:bodyPr>
          <a:lstStyle/>
          <a:p>
            <a:r>
              <a:rPr lang="zh-CN" altLang="en-US" sz="2800" dirty="0">
                <a:sym typeface="Arial" panose="020B0604020202090204" pitchFamily="34" charset="0"/>
              </a:rPr>
              <a:t>结果与讨论</a:t>
            </a:r>
            <a:endParaRPr lang="en-US" altLang="zh-CN" sz="2800" dirty="0">
              <a:sym typeface="Arial" panose="020B0604020202090204" pitchFamily="34" charset="0"/>
            </a:endParaRPr>
          </a:p>
        </p:txBody>
      </p:sp>
      <p:sp>
        <p:nvSpPr>
          <p:cNvPr id="2" name="灯片编号占位符 1"/>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t>&lt; </a:t>
            </a:r>
            <a:fld id="{A548B57D-AE10-4CF7-A9DF-59FEFA91B28E}" type="slidenum">
              <a:rPr kumimoji="0" lang="zh-CN" altLang="en-US" sz="1200" b="0" i="0" u="none" strike="noStrike" kern="1200" cap="none" spc="0" normalizeH="0" baseline="0" noProof="0" dirty="0" smtClean="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fld>
            <a:r>
              <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t> </a:t>
            </a:r>
            <a:r>
              <a:rPr kumimoji="0" lang="en-US" altLang="zh-CN"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t>&gt;</a:t>
            </a:r>
            <a:endPar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endParaRPr>
          </a:p>
        </p:txBody>
      </p:sp>
      <p:sp>
        <p:nvSpPr>
          <p:cNvPr id="10" name="文本占位符 10"/>
          <p:cNvSpPr txBox="1"/>
          <p:nvPr/>
        </p:nvSpPr>
        <p:spPr>
          <a:xfrm>
            <a:off x="442913" y="874659"/>
            <a:ext cx="11306078" cy="2292978"/>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28600" marR="0" lvl="0" indent="-228600" algn="just" defTabSz="914400" rtl="0" eaLnBrk="1" fontAlgn="auto" latinLnBrk="0" hangingPunct="1">
              <a:lnSpc>
                <a:spcPct val="150000"/>
              </a:lnSpc>
              <a:spcBef>
                <a:spcPts val="1000"/>
              </a:spcBef>
              <a:spcAft>
                <a:spcPts val="0"/>
              </a:spcAft>
              <a:buClrTx/>
              <a:buSzTx/>
              <a:buFont typeface="Arial" panose="020B0604020202090204" pitchFamily="34" charset="0"/>
              <a:buChar char="•"/>
              <a:defRPr/>
            </a:pP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老化样品的拉曼光谱在</a:t>
            </a:r>
            <a:r>
              <a:rPr lang="en-US" altLang="zh-CN"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283cm⁻¹</a:t>
            </a: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附近出现的峰表明</a:t>
            </a:r>
            <a:r>
              <a:rPr lang="zh-CN" altLang="en-US"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空位缺陷</a:t>
            </a: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的形成</a:t>
            </a:r>
            <a:endParaRPr lang="en-US" altLang="zh-CN" sz="2000" b="1" dirty="0">
              <a:latin typeface="Times New Roman" panose="02020503050405090304" pitchFamily="18" charset="0"/>
              <a:ea typeface="Microsoft YaHei" panose="020B0503020204020204" pitchFamily="34" charset="-122"/>
              <a:cs typeface="Times New Roman" panose="02020503050405090304" pitchFamily="18" charset="0"/>
            </a:endParaRPr>
          </a:p>
          <a:p>
            <a:pPr marL="228600" marR="0" lvl="0" indent="-228600" algn="just" defTabSz="914400" rtl="0" eaLnBrk="1" fontAlgn="auto" latinLnBrk="0" hangingPunct="1">
              <a:lnSpc>
                <a:spcPct val="150000"/>
              </a:lnSpc>
              <a:spcBef>
                <a:spcPts val="1000"/>
              </a:spcBef>
              <a:spcAft>
                <a:spcPts val="0"/>
              </a:spcAft>
              <a:buClrTx/>
              <a:buSzTx/>
              <a:buFont typeface="Arial" panose="020B0604020202090204" pitchFamily="34" charset="0"/>
              <a:buChar char="•"/>
              <a:defRPr/>
            </a:pPr>
            <a:r>
              <a:rPr kumimoji="0" lang="en-US" altLang="zh-CN" sz="2000" b="1" i="0" u="none" strike="noStrike" kern="1200" cap="none" spc="0" normalizeH="0" baseline="0" noProof="0" dirty="0">
                <a:ln>
                  <a:noFill/>
                </a:ln>
                <a:solidFill>
                  <a:srgbClr val="000000"/>
                </a:solidFill>
                <a:effectLst/>
                <a:uLnTx/>
                <a:uFillTx/>
                <a:latin typeface="Times New Roman" panose="02020503050405090304" pitchFamily="18" charset="0"/>
                <a:ea typeface="Microsoft YaHei" panose="020B0503020204020204" pitchFamily="34" charset="-122"/>
                <a:cs typeface="Times New Roman" panose="02020503050405090304" pitchFamily="18" charset="0"/>
              </a:rPr>
              <a:t>MoS</a:t>
            </a:r>
            <a:r>
              <a:rPr kumimoji="0" lang="en-US" altLang="zh-CN" sz="2000" b="1" i="0" u="none" strike="noStrike" kern="1200" cap="none" spc="0" normalizeH="0" baseline="-25000" noProof="0" dirty="0">
                <a:ln>
                  <a:noFill/>
                </a:ln>
                <a:solidFill>
                  <a:srgbClr val="000000"/>
                </a:solidFill>
                <a:effectLst/>
                <a:uLnTx/>
                <a:uFillTx/>
                <a:latin typeface="Times New Roman" panose="02020503050405090304" pitchFamily="18" charset="0"/>
                <a:ea typeface="Microsoft YaHei" panose="020B0503020204020204" pitchFamily="34" charset="-122"/>
                <a:cs typeface="Times New Roman" panose="02020503050405090304" pitchFamily="18" charset="0"/>
              </a:rPr>
              <a:t>2</a:t>
            </a:r>
            <a:r>
              <a:rPr kumimoji="0" lang="zh-CN" altLang="en-US" sz="2000" b="1" i="0" u="none" strike="noStrike" kern="1200" cap="none" spc="0" normalizeH="0" noProof="0" dirty="0">
                <a:ln>
                  <a:noFill/>
                </a:ln>
                <a:solidFill>
                  <a:srgbClr val="000000"/>
                </a:solidFill>
                <a:effectLst/>
                <a:uLnTx/>
                <a:uFillTx/>
                <a:latin typeface="Times New Roman" panose="02020503050405090304" pitchFamily="18" charset="0"/>
                <a:ea typeface="Microsoft YaHei" panose="020B0503020204020204" pitchFamily="34" charset="-122"/>
                <a:cs typeface="Times New Roman" panose="02020503050405090304" pitchFamily="18" charset="0"/>
              </a:rPr>
              <a:t>氧化速率为</a:t>
            </a:r>
            <a:r>
              <a:rPr kumimoji="0" lang="zh-CN" altLang="en-US" sz="2000" b="1" i="0" u="none" strike="noStrike" kern="1200" cap="none" spc="0" normalizeH="0" noProof="0" dirty="0">
                <a:ln>
                  <a:noFill/>
                </a:ln>
                <a:solidFill>
                  <a:srgbClr val="C00000"/>
                </a:solidFill>
                <a:effectLst/>
                <a:uLnTx/>
                <a:uFillTx/>
                <a:latin typeface="Times New Roman" panose="02020503050405090304" pitchFamily="18" charset="0"/>
                <a:ea typeface="Microsoft YaHei" panose="020B0503020204020204" pitchFamily="34" charset="-122"/>
                <a:cs typeface="Times New Roman" panose="02020503050405090304" pitchFamily="18" charset="0"/>
              </a:rPr>
              <a:t>每分钟每微米一个原子</a:t>
            </a:r>
            <a:endParaRPr kumimoji="0" lang="en-US" altLang="zh-CN" sz="2000" b="1" i="0" u="none" strike="noStrike" kern="1200" cap="none" spc="0" normalizeH="0" noProof="0" dirty="0">
              <a:ln>
                <a:noFill/>
              </a:ln>
              <a:solidFill>
                <a:srgbClr val="C00000"/>
              </a:solidFill>
              <a:effectLst/>
              <a:uLnTx/>
              <a:uFillTx/>
              <a:latin typeface="Times New Roman" panose="02020503050405090304" pitchFamily="18" charset="0"/>
              <a:ea typeface="Microsoft YaHei" panose="020B0503020204020204" pitchFamily="34" charset="-122"/>
              <a:cs typeface="Times New Roman" panose="02020503050405090304" pitchFamily="18" charset="0"/>
            </a:endParaRPr>
          </a:p>
          <a:p>
            <a:pPr marL="228600" marR="0" lvl="0" indent="-228600" algn="just" defTabSz="914400" rtl="0" eaLnBrk="1" fontAlgn="auto" latinLnBrk="0" hangingPunct="1">
              <a:lnSpc>
                <a:spcPct val="150000"/>
              </a:lnSpc>
              <a:spcBef>
                <a:spcPts val="1000"/>
              </a:spcBef>
              <a:spcAft>
                <a:spcPts val="0"/>
              </a:spcAft>
              <a:buClrTx/>
              <a:buSzTx/>
              <a:buFont typeface="Arial" panose="020B0604020202090204" pitchFamily="34" charset="0"/>
              <a:buChar char="•"/>
              <a:defRPr/>
            </a:pPr>
            <a:r>
              <a:rPr kumimoji="0" lang="zh-CN" altLang="en-US"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升高温度会加速氧化速率</a:t>
            </a:r>
            <a:endPar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endParaRPr>
          </a:p>
          <a:p>
            <a:pPr marL="228600" marR="0" lvl="0" indent="-228600" algn="just" defTabSz="914400" rtl="0" eaLnBrk="1" fontAlgn="auto" latinLnBrk="0" hangingPunct="1">
              <a:lnSpc>
                <a:spcPct val="150000"/>
              </a:lnSpc>
              <a:spcBef>
                <a:spcPts val="1000"/>
              </a:spcBef>
              <a:spcAft>
                <a:spcPts val="0"/>
              </a:spcAft>
              <a:buClrTx/>
              <a:buSzTx/>
              <a:buFont typeface="Arial" panose="020B0604020202090204" pitchFamily="34" charset="0"/>
              <a:buChar char="•"/>
              <a:defRPr/>
            </a:pPr>
            <a:r>
              <a:rPr kumimoji="0" lang="zh-CN" altLang="en-US"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二维 </a:t>
            </a:r>
            <a:r>
              <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MoSe2</a:t>
            </a:r>
            <a:r>
              <a:rPr kumimoji="0" lang="zh-CN" altLang="en-US"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晶体即使经过长达一年的环境暴露，也没有表现出明显的变化</a:t>
            </a:r>
            <a:endParaRPr kumimoji="0" lang="zh-CN" altLang="en-US"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endParaRPr>
          </a:p>
          <a:p>
            <a:pPr marL="228600" marR="0" lvl="0" indent="-228600" algn="just" defTabSz="914400" rtl="0" eaLnBrk="1" fontAlgn="auto" latinLnBrk="0" hangingPunct="1">
              <a:lnSpc>
                <a:spcPct val="150000"/>
              </a:lnSpc>
              <a:spcBef>
                <a:spcPts val="1000"/>
              </a:spcBef>
              <a:spcAft>
                <a:spcPts val="0"/>
              </a:spcAft>
              <a:buClrTx/>
              <a:buSzTx/>
              <a:buFont typeface="Arial" panose="020B0604020202090204" pitchFamily="34" charset="0"/>
              <a:buChar char="•"/>
              <a:defRPr/>
            </a:pPr>
            <a:endPar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endParaRPr>
          </a:p>
        </p:txBody>
      </p:sp>
      <p:pic>
        <p:nvPicPr>
          <p:cNvPr id="4" name="图片 3"/>
          <p:cNvPicPr>
            <a:picLocks noChangeAspect="1"/>
          </p:cNvPicPr>
          <p:nvPr/>
        </p:nvPicPr>
        <p:blipFill>
          <a:blip r:embed="rId1"/>
          <a:stretch>
            <a:fillRect/>
          </a:stretch>
        </p:blipFill>
        <p:spPr>
          <a:xfrm>
            <a:off x="241431" y="3403550"/>
            <a:ext cx="5019677" cy="2306550"/>
          </a:xfrm>
          <a:prstGeom prst="rect">
            <a:avLst/>
          </a:prstGeom>
        </p:spPr>
      </p:pic>
      <p:pic>
        <p:nvPicPr>
          <p:cNvPr id="5" name="图片 4"/>
          <p:cNvPicPr>
            <a:picLocks noChangeAspect="1"/>
          </p:cNvPicPr>
          <p:nvPr/>
        </p:nvPicPr>
        <p:blipFill>
          <a:blip r:embed="rId2"/>
          <a:stretch>
            <a:fillRect/>
          </a:stretch>
        </p:blipFill>
        <p:spPr>
          <a:xfrm>
            <a:off x="5178339" y="3429001"/>
            <a:ext cx="2094065" cy="2057002"/>
          </a:xfrm>
          <a:prstGeom prst="rect">
            <a:avLst/>
          </a:prstGeom>
        </p:spPr>
      </p:pic>
      <p:sp>
        <p:nvSpPr>
          <p:cNvPr id="6" name="文本框 5"/>
          <p:cNvSpPr txBox="1"/>
          <p:nvPr/>
        </p:nvSpPr>
        <p:spPr>
          <a:xfrm>
            <a:off x="4665052" y="5556213"/>
            <a:ext cx="3020420" cy="307777"/>
          </a:xfrm>
          <a:prstGeom prst="rect">
            <a:avLst/>
          </a:prstGeom>
          <a:noFill/>
        </p:spPr>
        <p:txBody>
          <a:bodyPr wrap="square" rtlCol="0" anchor="t">
            <a:spAutoFit/>
          </a:bodyPr>
          <a:lstStyle/>
          <a:p>
            <a:pPr algn="ctr"/>
            <a:r>
              <a:rPr lang="en-US" altLang="zh-CN" sz="1400" b="1" dirty="0">
                <a:latin typeface="Arial" panose="020B0604020202090204" pitchFamily="34" charset="0"/>
                <a:ea typeface="Inter"/>
                <a:cs typeface="Arial" panose="020B0604020202090204" pitchFamily="34" charset="0"/>
                <a:sym typeface="+mn-ea"/>
              </a:rPr>
              <a:t>400K</a:t>
            </a:r>
            <a:r>
              <a:rPr lang="zh-CN" altLang="en-US" sz="1400" b="1" dirty="0">
                <a:latin typeface="Arial" panose="020B0604020202090204" pitchFamily="34" charset="0"/>
                <a:ea typeface="Inter"/>
                <a:cs typeface="Arial" panose="020B0604020202090204" pitchFamily="34" charset="0"/>
                <a:sym typeface="+mn-ea"/>
              </a:rPr>
              <a:t>氧化一周</a:t>
            </a:r>
            <a:r>
              <a:rPr lang="en-US" altLang="zh-CN" sz="1400" b="1" dirty="0">
                <a:solidFill>
                  <a:srgbClr val="000000"/>
                </a:solidFill>
                <a:latin typeface="Times New Roman" panose="02020503050405090304" pitchFamily="18" charset="0"/>
                <a:cs typeface="Times New Roman" panose="02020503050405090304" pitchFamily="18" charset="0"/>
              </a:rPr>
              <a:t>MoS</a:t>
            </a:r>
            <a:r>
              <a:rPr lang="en-US" altLang="zh-CN" sz="1400" b="1" baseline="-25000" dirty="0">
                <a:solidFill>
                  <a:srgbClr val="000000"/>
                </a:solidFill>
                <a:latin typeface="Times New Roman" panose="02020503050405090304" pitchFamily="18" charset="0"/>
                <a:cs typeface="Times New Roman" panose="02020503050405090304" pitchFamily="18" charset="0"/>
              </a:rPr>
              <a:t>2 </a:t>
            </a:r>
            <a:r>
              <a:rPr lang="en-US" altLang="zh-CN" sz="1400" b="1" dirty="0">
                <a:latin typeface="Arial" panose="020B0604020202090204" pitchFamily="34" charset="0"/>
                <a:ea typeface="Inter"/>
                <a:cs typeface="Arial" panose="020B0604020202090204" pitchFamily="34" charset="0"/>
                <a:sym typeface="+mn-ea"/>
              </a:rPr>
              <a:t>STM</a:t>
            </a:r>
            <a:r>
              <a:rPr lang="zh-CN" altLang="en-US" sz="1400" b="1" dirty="0">
                <a:latin typeface="Arial" panose="020B0604020202090204" pitchFamily="34" charset="0"/>
                <a:ea typeface="Inter"/>
                <a:cs typeface="Arial" panose="020B0604020202090204" pitchFamily="34" charset="0"/>
                <a:sym typeface="+mn-ea"/>
              </a:rPr>
              <a:t>图像</a:t>
            </a:r>
            <a:endParaRPr lang="en-US" altLang="zh-CN" sz="1400" b="1" dirty="0">
              <a:latin typeface="Arial" panose="020B0604020202090204" pitchFamily="34" charset="0"/>
              <a:ea typeface="Inter"/>
              <a:cs typeface="Arial" panose="020B0604020202090204" pitchFamily="34" charset="0"/>
              <a:sym typeface="+mn-ea"/>
            </a:endParaRPr>
          </a:p>
        </p:txBody>
      </p:sp>
      <p:pic>
        <p:nvPicPr>
          <p:cNvPr id="9" name="图片 8"/>
          <p:cNvPicPr>
            <a:picLocks noChangeAspect="1"/>
          </p:cNvPicPr>
          <p:nvPr/>
        </p:nvPicPr>
        <p:blipFill>
          <a:blip r:embed="rId3"/>
          <a:stretch>
            <a:fillRect/>
          </a:stretch>
        </p:blipFill>
        <p:spPr>
          <a:xfrm>
            <a:off x="7367327" y="3312219"/>
            <a:ext cx="4127550" cy="2173784"/>
          </a:xfrm>
          <a:prstGeom prst="rect">
            <a:avLst/>
          </a:prstGeom>
        </p:spPr>
      </p:pic>
      <p:sp>
        <p:nvSpPr>
          <p:cNvPr id="7" name="文本框 6"/>
          <p:cNvSpPr txBox="1"/>
          <p:nvPr/>
        </p:nvSpPr>
        <p:spPr>
          <a:xfrm>
            <a:off x="6930893" y="5556212"/>
            <a:ext cx="3020420" cy="307777"/>
          </a:xfrm>
          <a:prstGeom prst="rect">
            <a:avLst/>
          </a:prstGeom>
          <a:noFill/>
        </p:spPr>
        <p:txBody>
          <a:bodyPr wrap="square" rtlCol="0" anchor="t">
            <a:spAutoFit/>
          </a:bodyPr>
          <a:lstStyle/>
          <a:p>
            <a:pPr algn="ctr"/>
            <a:r>
              <a:rPr lang="zh-CN" altLang="en-US" sz="1400" b="1" dirty="0">
                <a:solidFill>
                  <a:srgbClr val="000000"/>
                </a:solidFill>
                <a:latin typeface="Arial" panose="020B0604020202090204" pitchFamily="34" charset="0"/>
                <a:cs typeface="Arial" panose="020B0604020202090204" pitchFamily="34" charset="0"/>
                <a:sym typeface="+mn-ea"/>
              </a:rPr>
              <a:t>新制备</a:t>
            </a:r>
            <a:r>
              <a:rPr lang="en-US" altLang="zh-CN" sz="1400" b="1" dirty="0">
                <a:solidFill>
                  <a:srgbClr val="000000"/>
                </a:solidFill>
                <a:latin typeface="Times New Roman" panose="02020503050405090304" pitchFamily="18" charset="0"/>
                <a:cs typeface="Times New Roman" panose="02020503050405090304" pitchFamily="18" charset="0"/>
              </a:rPr>
              <a:t>MoSe</a:t>
            </a:r>
            <a:r>
              <a:rPr lang="en-US" altLang="zh-CN" sz="1400" b="1" baseline="-25000" dirty="0">
                <a:solidFill>
                  <a:srgbClr val="000000"/>
                </a:solidFill>
                <a:latin typeface="Times New Roman" panose="02020503050405090304" pitchFamily="18" charset="0"/>
                <a:cs typeface="Times New Roman" panose="02020503050405090304" pitchFamily="18" charset="0"/>
              </a:rPr>
              <a:t>2 </a:t>
            </a:r>
            <a:r>
              <a:rPr lang="en-US" altLang="zh-CN" sz="1400" b="1" dirty="0">
                <a:latin typeface="Arial" panose="020B0604020202090204" pitchFamily="34" charset="0"/>
                <a:ea typeface="Inter"/>
                <a:cs typeface="Arial" panose="020B0604020202090204" pitchFamily="34" charset="0"/>
                <a:sym typeface="+mn-ea"/>
              </a:rPr>
              <a:t>STM</a:t>
            </a:r>
            <a:r>
              <a:rPr lang="zh-CN" altLang="en-US" sz="1400" b="1" dirty="0">
                <a:latin typeface="Arial" panose="020B0604020202090204" pitchFamily="34" charset="0"/>
                <a:ea typeface="Inter"/>
                <a:cs typeface="Arial" panose="020B0604020202090204" pitchFamily="34" charset="0"/>
                <a:sym typeface="+mn-ea"/>
              </a:rPr>
              <a:t>图像</a:t>
            </a:r>
            <a:endParaRPr lang="en-US" altLang="zh-CN" sz="1400" b="1" dirty="0">
              <a:latin typeface="Arial" panose="020B0604020202090204" pitchFamily="34" charset="0"/>
              <a:ea typeface="Inter"/>
              <a:cs typeface="Arial" panose="020B0604020202090204" pitchFamily="34" charset="0"/>
              <a:sym typeface="+mn-ea"/>
            </a:endParaRPr>
          </a:p>
        </p:txBody>
      </p:sp>
      <p:sp>
        <p:nvSpPr>
          <p:cNvPr id="8" name="文本框 7"/>
          <p:cNvSpPr txBox="1"/>
          <p:nvPr/>
        </p:nvSpPr>
        <p:spPr>
          <a:xfrm>
            <a:off x="9005791" y="5556212"/>
            <a:ext cx="3020420" cy="307777"/>
          </a:xfrm>
          <a:prstGeom prst="rect">
            <a:avLst/>
          </a:prstGeom>
          <a:noFill/>
        </p:spPr>
        <p:txBody>
          <a:bodyPr wrap="square" rtlCol="0" anchor="t">
            <a:spAutoFit/>
          </a:bodyPr>
          <a:lstStyle/>
          <a:p>
            <a:pPr algn="ctr"/>
            <a:r>
              <a:rPr lang="zh-CN" altLang="en-US" sz="1400" b="1" dirty="0">
                <a:latin typeface="Arial" panose="020B0604020202090204" pitchFamily="34" charset="0"/>
                <a:ea typeface="Inter"/>
                <a:cs typeface="Arial" panose="020B0604020202090204" pitchFamily="34" charset="0"/>
                <a:sym typeface="+mn-ea"/>
              </a:rPr>
              <a:t>氧化一年</a:t>
            </a:r>
            <a:r>
              <a:rPr lang="en-US" altLang="zh-CN" sz="1400" b="1" dirty="0">
                <a:solidFill>
                  <a:srgbClr val="000000"/>
                </a:solidFill>
                <a:latin typeface="Times New Roman" panose="02020503050405090304" pitchFamily="18" charset="0"/>
                <a:cs typeface="Times New Roman" panose="02020503050405090304" pitchFamily="18" charset="0"/>
              </a:rPr>
              <a:t>MoSe</a:t>
            </a:r>
            <a:r>
              <a:rPr lang="en-US" altLang="zh-CN" sz="1400" b="1" baseline="-25000" dirty="0">
                <a:solidFill>
                  <a:srgbClr val="000000"/>
                </a:solidFill>
                <a:latin typeface="Times New Roman" panose="02020503050405090304" pitchFamily="18" charset="0"/>
                <a:cs typeface="Times New Roman" panose="02020503050405090304" pitchFamily="18" charset="0"/>
              </a:rPr>
              <a:t>2 </a:t>
            </a:r>
            <a:r>
              <a:rPr lang="en-US" altLang="zh-CN" sz="1400" b="1" dirty="0">
                <a:latin typeface="Arial" panose="020B0604020202090204" pitchFamily="34" charset="0"/>
                <a:ea typeface="Inter"/>
                <a:cs typeface="Arial" panose="020B0604020202090204" pitchFamily="34" charset="0"/>
                <a:sym typeface="+mn-ea"/>
              </a:rPr>
              <a:t>STM</a:t>
            </a:r>
            <a:r>
              <a:rPr lang="zh-CN" altLang="en-US" sz="1400" b="1" dirty="0">
                <a:latin typeface="Arial" panose="020B0604020202090204" pitchFamily="34" charset="0"/>
                <a:ea typeface="Inter"/>
                <a:cs typeface="Arial" panose="020B0604020202090204" pitchFamily="34" charset="0"/>
                <a:sym typeface="+mn-ea"/>
              </a:rPr>
              <a:t>图像</a:t>
            </a:r>
            <a:endParaRPr lang="en-US" altLang="zh-CN" sz="1400" b="1" dirty="0">
              <a:latin typeface="Arial" panose="020B0604020202090204" pitchFamily="34" charset="0"/>
              <a:ea typeface="Inter"/>
              <a:cs typeface="Arial" panose="020B0604020202090204" pitchFamily="34" charset="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标题 19"/>
          <p:cNvSpPr>
            <a:spLocks noGrp="1"/>
          </p:cNvSpPr>
          <p:nvPr>
            <p:ph type="title"/>
          </p:nvPr>
        </p:nvSpPr>
        <p:spPr>
          <a:xfrm>
            <a:off x="442913" y="243569"/>
            <a:ext cx="9713674" cy="617518"/>
          </a:xfrm>
        </p:spPr>
        <p:txBody>
          <a:bodyPr>
            <a:normAutofit/>
          </a:bodyPr>
          <a:lstStyle/>
          <a:p>
            <a:r>
              <a:rPr lang="zh-CN" altLang="en-US" sz="2800" dirty="0">
                <a:sym typeface="Arial" panose="020B0604020202090204" pitchFamily="34" charset="0"/>
              </a:rPr>
              <a:t>结果与讨论</a:t>
            </a:r>
            <a:endParaRPr lang="en-US" altLang="zh-CN" sz="2800" dirty="0">
              <a:sym typeface="Arial" panose="020B0604020202090204" pitchFamily="34" charset="0"/>
            </a:endParaRPr>
          </a:p>
        </p:txBody>
      </p:sp>
      <p:sp>
        <p:nvSpPr>
          <p:cNvPr id="2" name="灯片编号占位符 1"/>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t>&lt; </a:t>
            </a:r>
            <a:fld id="{A548B57D-AE10-4CF7-A9DF-59FEFA91B28E}" type="slidenum">
              <a:rPr kumimoji="0" lang="zh-CN" altLang="en-US" sz="1200" b="0" i="0" u="none" strike="noStrike" kern="1200" cap="none" spc="0" normalizeH="0" baseline="0" noProof="0" dirty="0" smtClean="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fld>
            <a:r>
              <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t> </a:t>
            </a:r>
            <a:r>
              <a:rPr kumimoji="0" lang="en-US" altLang="zh-CN"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t>&gt;</a:t>
            </a:r>
            <a:endPar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endParaRPr>
          </a:p>
        </p:txBody>
      </p:sp>
      <p:sp>
        <p:nvSpPr>
          <p:cNvPr id="10" name="文本占位符 10"/>
          <p:cNvSpPr txBox="1"/>
          <p:nvPr/>
        </p:nvSpPr>
        <p:spPr>
          <a:xfrm>
            <a:off x="442913" y="944609"/>
            <a:ext cx="11306078" cy="1229423"/>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28600" marR="0" lvl="0" indent="-228600" algn="just" defTabSz="914400" rtl="0" eaLnBrk="1" fontAlgn="auto" latinLnBrk="0" hangingPunct="1">
              <a:lnSpc>
                <a:spcPct val="90000"/>
              </a:lnSpc>
              <a:spcBef>
                <a:spcPts val="1000"/>
              </a:spcBef>
              <a:spcAft>
                <a:spcPts val="0"/>
              </a:spcAft>
              <a:buClrTx/>
              <a:buSzTx/>
              <a:buFont typeface="Arial" panose="020B0604020202090204" pitchFamily="34" charset="0"/>
              <a:buChar char="•"/>
              <a:defRPr/>
            </a:pPr>
            <a:endParaRPr kumimoji="0" lang="en-US" altLang="zh-CN" sz="2000" b="1" i="0" u="none" strike="noStrike" kern="1200" cap="none" spc="0" normalizeH="0" baseline="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endParaRPr>
          </a:p>
        </p:txBody>
      </p:sp>
      <p:sp>
        <p:nvSpPr>
          <p:cNvPr id="5" name="文本占位符 10"/>
          <p:cNvSpPr txBox="1"/>
          <p:nvPr/>
        </p:nvSpPr>
        <p:spPr>
          <a:xfrm>
            <a:off x="442913" y="874659"/>
            <a:ext cx="11306078" cy="2292978"/>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gn="just">
              <a:lnSpc>
                <a:spcPct val="150000"/>
              </a:lnSpc>
              <a:defRPr/>
            </a:pP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在</a:t>
            </a:r>
            <a:r>
              <a:rPr lang="en-US" altLang="zh-CN" sz="2000" b="1" dirty="0">
                <a:solidFill>
                  <a:srgbClr val="C00000"/>
                </a:solidFill>
                <a:latin typeface="Times New Roman" panose="02020503050405090304" pitchFamily="18" charset="0"/>
                <a:cs typeface="Times New Roman" panose="02020503050405090304" pitchFamily="18" charset="0"/>
              </a:rPr>
              <a:t>MoS</a:t>
            </a:r>
            <a:r>
              <a:rPr lang="en-US" altLang="zh-CN" sz="2000" b="1" baseline="-25000" dirty="0">
                <a:solidFill>
                  <a:srgbClr val="C00000"/>
                </a:solidFill>
                <a:latin typeface="Times New Roman" panose="02020503050405090304" pitchFamily="18" charset="0"/>
                <a:cs typeface="Times New Roman" panose="02020503050405090304" pitchFamily="18" charset="0"/>
              </a:rPr>
              <a:t>2</a:t>
            </a:r>
            <a:r>
              <a:rPr lang="zh-CN" altLang="en-US" sz="2000" b="1" dirty="0">
                <a:solidFill>
                  <a:srgbClr val="C00000"/>
                </a:solidFill>
                <a:latin typeface="Times New Roman" panose="02020503050405090304" pitchFamily="18" charset="0"/>
                <a:cs typeface="Times New Roman" panose="02020503050405090304" pitchFamily="18" charset="0"/>
              </a:rPr>
              <a:t>上</a:t>
            </a:r>
            <a:r>
              <a:rPr lang="en-US" altLang="zh-CN" sz="2000" b="1" dirty="0">
                <a:solidFill>
                  <a:srgbClr val="C00000"/>
                </a:solidFill>
                <a:latin typeface="Times New Roman" panose="02020503050405090304" pitchFamily="18" charset="0"/>
                <a:cs typeface="Times New Roman" panose="02020503050405090304" pitchFamily="18" charset="0"/>
              </a:rPr>
              <a:t>O</a:t>
            </a:r>
            <a:r>
              <a:rPr lang="zh-CN" altLang="en-US" sz="2000" b="1" dirty="0">
                <a:solidFill>
                  <a:srgbClr val="C00000"/>
                </a:solidFill>
                <a:latin typeface="Times New Roman" panose="02020503050405090304" pitchFamily="18" charset="0"/>
                <a:cs typeface="Times New Roman" panose="02020503050405090304" pitchFamily="18" charset="0"/>
              </a:rPr>
              <a:t>的取代热力学有利</a:t>
            </a:r>
            <a:r>
              <a:rPr lang="zh-CN" altLang="en-US" sz="2000" b="1" dirty="0">
                <a:solidFill>
                  <a:srgbClr val="000000"/>
                </a:solidFill>
                <a:latin typeface="Times New Roman" panose="02020503050405090304" pitchFamily="18" charset="0"/>
                <a:cs typeface="Times New Roman" panose="02020503050405090304" pitchFamily="18" charset="0"/>
              </a:rPr>
              <a:t>，而在</a:t>
            </a:r>
            <a:r>
              <a:rPr lang="en-US" altLang="zh-CN" sz="2000" b="1" dirty="0">
                <a:solidFill>
                  <a:srgbClr val="000000"/>
                </a:solidFill>
                <a:latin typeface="Times New Roman" panose="02020503050405090304" pitchFamily="18" charset="0"/>
                <a:cs typeface="Times New Roman" panose="02020503050405090304" pitchFamily="18" charset="0"/>
              </a:rPr>
              <a:t>MoSe</a:t>
            </a:r>
            <a:r>
              <a:rPr lang="en-US" altLang="zh-CN" sz="2000" b="1" baseline="-25000" dirty="0">
                <a:solidFill>
                  <a:srgbClr val="000000"/>
                </a:solidFill>
                <a:latin typeface="Times New Roman" panose="02020503050405090304" pitchFamily="18" charset="0"/>
                <a:cs typeface="Times New Roman" panose="02020503050405090304" pitchFamily="18" charset="0"/>
              </a:rPr>
              <a:t>2</a:t>
            </a:r>
            <a:r>
              <a:rPr lang="zh-CN" altLang="en-US" sz="2000" b="1" dirty="0">
                <a:solidFill>
                  <a:srgbClr val="000000"/>
                </a:solidFill>
                <a:latin typeface="Times New Roman" panose="02020503050405090304" pitchFamily="18" charset="0"/>
                <a:cs typeface="Times New Roman" panose="02020503050405090304" pitchFamily="18" charset="0"/>
              </a:rPr>
              <a:t>上</a:t>
            </a:r>
            <a:r>
              <a:rPr lang="en-US" altLang="zh-CN" sz="2000" b="1" dirty="0">
                <a:solidFill>
                  <a:srgbClr val="000000"/>
                </a:solidFill>
                <a:latin typeface="Times New Roman" panose="02020503050405090304" pitchFamily="18" charset="0"/>
                <a:cs typeface="Times New Roman" panose="02020503050405090304" pitchFamily="18" charset="0"/>
              </a:rPr>
              <a:t>O</a:t>
            </a:r>
            <a:r>
              <a:rPr lang="zh-CN" altLang="en-US" sz="2000" b="1" dirty="0">
                <a:solidFill>
                  <a:srgbClr val="000000"/>
                </a:solidFill>
                <a:latin typeface="Times New Roman" panose="02020503050405090304" pitchFamily="18" charset="0"/>
                <a:cs typeface="Times New Roman" panose="02020503050405090304" pitchFamily="18" charset="0"/>
              </a:rPr>
              <a:t>的取代热力学不利</a:t>
            </a:r>
            <a:endParaRPr lang="en-US" altLang="zh-CN" sz="2000" b="1" dirty="0">
              <a:latin typeface="Times New Roman" panose="02020503050405090304" pitchFamily="18" charset="0"/>
              <a:ea typeface="Microsoft YaHei" panose="020B0503020204020204" pitchFamily="34" charset="-122"/>
              <a:cs typeface="Times New Roman" panose="02020503050405090304" pitchFamily="18" charset="0"/>
            </a:endParaRPr>
          </a:p>
          <a:p>
            <a:pPr lvl="0" algn="just">
              <a:lnSpc>
                <a:spcPct val="150000"/>
              </a:lnSpc>
              <a:defRPr/>
            </a:pPr>
            <a:r>
              <a:rPr lang="en-US" altLang="zh-CN" sz="2000" b="1" dirty="0">
                <a:solidFill>
                  <a:srgbClr val="000000"/>
                </a:solidFill>
                <a:latin typeface="Times New Roman" panose="02020503050405090304" pitchFamily="18" charset="0"/>
                <a:ea typeface="Microsoft YaHei" panose="020B0503020204020204" pitchFamily="34" charset="-122"/>
                <a:cs typeface="Times New Roman" panose="02020503050405090304" pitchFamily="18" charset="0"/>
              </a:rPr>
              <a:t>D</a:t>
            </a:r>
            <a:r>
              <a:rPr kumimoji="0" lang="en-US" altLang="zh-CN" sz="2000" b="1" i="0" u="none" strike="noStrike" kern="1200" cap="none" spc="0" normalizeH="0" baseline="0" noProof="0" dirty="0" err="1">
                <a:ln>
                  <a:noFill/>
                </a:ln>
                <a:solidFill>
                  <a:srgbClr val="000000"/>
                </a:solidFill>
                <a:effectLst/>
                <a:uLnTx/>
                <a:uFillTx/>
                <a:latin typeface="Times New Roman" panose="02020503050405090304" pitchFamily="18" charset="0"/>
                <a:ea typeface="Microsoft YaHei" panose="020B0503020204020204" pitchFamily="34" charset="-122"/>
                <a:cs typeface="Times New Roman" panose="02020503050405090304" pitchFamily="18" charset="0"/>
              </a:rPr>
              <a:t>etailed</a:t>
            </a:r>
            <a:r>
              <a:rPr kumimoji="0" lang="en-US" altLang="zh-CN" sz="2000" b="1" i="0" u="none" strike="noStrike" kern="1200" cap="none" spc="0" normalizeH="0" baseline="0" noProof="0" dirty="0">
                <a:ln>
                  <a:noFill/>
                </a:ln>
                <a:solidFill>
                  <a:srgbClr val="000000"/>
                </a:solidFill>
                <a:effectLst/>
                <a:uLnTx/>
                <a:uFillTx/>
                <a:latin typeface="Times New Roman" panose="02020503050405090304" pitchFamily="18" charset="0"/>
                <a:ea typeface="Microsoft YaHei" panose="020B0503020204020204" pitchFamily="34" charset="-122"/>
                <a:cs typeface="Times New Roman" panose="02020503050405090304" pitchFamily="18" charset="0"/>
              </a:rPr>
              <a:t> nudged elastic band</a:t>
            </a:r>
            <a:r>
              <a:rPr kumimoji="0" lang="zh-CN" altLang="en-US" sz="2000" b="1" i="0" u="none" strike="noStrike" kern="1200" cap="none" spc="0" normalizeH="0" baseline="0" noProof="0" dirty="0">
                <a:ln>
                  <a:noFill/>
                </a:ln>
                <a:solidFill>
                  <a:srgbClr val="000000"/>
                </a:solidFill>
                <a:effectLst/>
                <a:uLnTx/>
                <a:uFillTx/>
                <a:latin typeface="Times New Roman" panose="02020503050405090304" pitchFamily="18" charset="0"/>
                <a:ea typeface="Microsoft YaHei" panose="020B0503020204020204" pitchFamily="34" charset="-122"/>
                <a:cs typeface="Times New Roman" panose="02020503050405090304" pitchFamily="18" charset="0"/>
              </a:rPr>
              <a:t>（</a:t>
            </a:r>
            <a:r>
              <a:rPr kumimoji="0" lang="en-US" altLang="zh-CN" sz="2000" b="1" i="0" u="none" strike="noStrike" kern="1200" cap="none" spc="0" normalizeH="0" baseline="0" noProof="0" dirty="0">
                <a:ln>
                  <a:noFill/>
                </a:ln>
                <a:solidFill>
                  <a:srgbClr val="000000"/>
                </a:solidFill>
                <a:effectLst/>
                <a:uLnTx/>
                <a:uFillTx/>
                <a:latin typeface="Times New Roman" panose="02020503050405090304" pitchFamily="18" charset="0"/>
                <a:ea typeface="Microsoft YaHei" panose="020B0503020204020204" pitchFamily="34" charset="-122"/>
                <a:cs typeface="Times New Roman" panose="02020503050405090304" pitchFamily="18" charset="0"/>
              </a:rPr>
              <a:t>NEB</a:t>
            </a:r>
            <a:r>
              <a:rPr kumimoji="0" lang="zh-CN" altLang="en-US" sz="2000" b="1" i="0" u="none" strike="noStrike" kern="1200" cap="none" spc="0" normalizeH="0" baseline="0" noProof="0" dirty="0">
                <a:ln>
                  <a:noFill/>
                </a:ln>
                <a:solidFill>
                  <a:srgbClr val="000000"/>
                </a:solidFill>
                <a:effectLst/>
                <a:uLnTx/>
                <a:uFillTx/>
                <a:latin typeface="Times New Roman" panose="02020503050405090304" pitchFamily="18" charset="0"/>
                <a:ea typeface="Microsoft YaHei" panose="020B0503020204020204" pitchFamily="34" charset="-122"/>
                <a:cs typeface="Times New Roman" panose="02020503050405090304" pitchFamily="18" charset="0"/>
              </a:rPr>
              <a:t>）模型计算显示</a:t>
            </a:r>
            <a:r>
              <a:rPr lang="en-US" altLang="zh-CN" sz="2000" b="1" dirty="0">
                <a:solidFill>
                  <a:srgbClr val="000000"/>
                </a:solidFill>
                <a:latin typeface="Times New Roman" panose="02020503050405090304" pitchFamily="18" charset="0"/>
                <a:cs typeface="Times New Roman" panose="02020503050405090304" pitchFamily="18" charset="0"/>
              </a:rPr>
              <a:t>MoS</a:t>
            </a:r>
            <a:r>
              <a:rPr lang="en-US" altLang="zh-CN" sz="2000" b="1" baseline="-25000" dirty="0">
                <a:solidFill>
                  <a:srgbClr val="000000"/>
                </a:solidFill>
                <a:latin typeface="Times New Roman" panose="02020503050405090304" pitchFamily="18" charset="0"/>
                <a:cs typeface="Times New Roman" panose="02020503050405090304" pitchFamily="18" charset="0"/>
              </a:rPr>
              <a:t>2</a:t>
            </a:r>
            <a:r>
              <a:rPr kumimoji="0" lang="zh-CN" altLang="en-US" sz="2000" b="1" i="0" u="none" strike="noStrike" kern="1200" cap="none" spc="0" normalizeH="0" baseline="0" noProof="0" dirty="0">
                <a:ln>
                  <a:noFill/>
                </a:ln>
                <a:solidFill>
                  <a:srgbClr val="000000"/>
                </a:solidFill>
                <a:effectLst/>
                <a:uLnTx/>
                <a:uFillTx/>
                <a:latin typeface="Times New Roman" panose="02020503050405090304" pitchFamily="18" charset="0"/>
                <a:ea typeface="Microsoft YaHei" panose="020B0503020204020204" pitchFamily="34" charset="-122"/>
                <a:cs typeface="Times New Roman" panose="02020503050405090304" pitchFamily="18" charset="0"/>
              </a:rPr>
              <a:t>氧化</a:t>
            </a:r>
            <a:r>
              <a:rPr kumimoji="0" lang="zh-CN" altLang="en-US" sz="2000" b="1" i="0" u="none" strike="noStrike" kern="1200" cap="none" spc="0" normalizeH="0" baseline="0" noProof="0" dirty="0">
                <a:ln>
                  <a:noFill/>
                </a:ln>
                <a:solidFill>
                  <a:srgbClr val="C00000"/>
                </a:solidFill>
                <a:effectLst/>
                <a:uLnTx/>
                <a:uFillTx/>
                <a:latin typeface="Times New Roman" panose="02020503050405090304" pitchFamily="18" charset="0"/>
                <a:ea typeface="Microsoft YaHei" panose="020B0503020204020204" pitchFamily="34" charset="-122"/>
                <a:cs typeface="Times New Roman" panose="02020503050405090304" pitchFamily="18" charset="0"/>
              </a:rPr>
              <a:t>每一步的反应能垒更低</a:t>
            </a:r>
            <a:endParaRPr kumimoji="0" lang="en-US" altLang="zh-CN" sz="2000" b="1" i="0" u="none" strike="noStrike" kern="1200" cap="none" spc="0" normalizeH="0" baseline="0" noProof="0" dirty="0">
              <a:ln>
                <a:noFill/>
              </a:ln>
              <a:solidFill>
                <a:srgbClr val="C00000"/>
              </a:solidFill>
              <a:effectLst/>
              <a:uLnTx/>
              <a:uFillTx/>
              <a:latin typeface="Times New Roman" panose="02020503050405090304" pitchFamily="18" charset="0"/>
              <a:ea typeface="Microsoft YaHei" panose="020B0503020204020204" pitchFamily="34" charset="-122"/>
              <a:cs typeface="Times New Roman" panose="02020503050405090304" pitchFamily="18" charset="0"/>
            </a:endParaRPr>
          </a:p>
          <a:p>
            <a:pPr lvl="0" algn="just">
              <a:lnSpc>
                <a:spcPct val="150000"/>
              </a:lnSpc>
              <a:defRPr/>
            </a:pPr>
            <a:r>
              <a:rPr lang="en-US" altLang="zh-CN" sz="2000" b="1" dirty="0">
                <a:solidFill>
                  <a:srgbClr val="000000"/>
                </a:solidFill>
                <a:latin typeface="Times New Roman" panose="02020503050405090304" pitchFamily="18" charset="0"/>
                <a:cs typeface="Times New Roman" panose="02020503050405090304" pitchFamily="18" charset="0"/>
              </a:rPr>
              <a:t>MoS</a:t>
            </a:r>
            <a:r>
              <a:rPr lang="en-US" altLang="zh-CN" sz="2000" b="1" baseline="-25000" dirty="0">
                <a:solidFill>
                  <a:srgbClr val="000000"/>
                </a:solidFill>
                <a:latin typeface="Times New Roman" panose="02020503050405090304" pitchFamily="18" charset="0"/>
                <a:cs typeface="Times New Roman" panose="02020503050405090304" pitchFamily="18" charset="0"/>
              </a:rPr>
              <a:t>2</a:t>
            </a:r>
            <a:r>
              <a:rPr lang="zh-CN" altLang="en-US" sz="2000" b="1" dirty="0">
                <a:solidFill>
                  <a:srgbClr val="000000"/>
                </a:solidFill>
                <a:latin typeface="Times New Roman" panose="02020503050405090304" pitchFamily="18" charset="0"/>
                <a:cs typeface="Times New Roman" panose="02020503050405090304" pitchFamily="18" charset="0"/>
              </a:rPr>
              <a:t>氧化不会破坏晶格结构，</a:t>
            </a:r>
            <a:r>
              <a:rPr lang="zh-CN" altLang="en-US" sz="2000" b="1" dirty="0">
                <a:solidFill>
                  <a:srgbClr val="C00000"/>
                </a:solidFill>
                <a:latin typeface="Times New Roman" panose="02020503050405090304" pitchFamily="18" charset="0"/>
                <a:cs typeface="Times New Roman" panose="02020503050405090304" pitchFamily="18" charset="0"/>
              </a:rPr>
              <a:t>可完全可逆</a:t>
            </a:r>
            <a:endParaRPr kumimoji="0" lang="en-US" altLang="zh-CN" sz="2000" b="1" i="0" u="none" strike="noStrike" kern="1200" cap="none" spc="0" normalizeH="0" noProof="0" dirty="0">
              <a:ln>
                <a:noFill/>
              </a:ln>
              <a:solidFill>
                <a:srgbClr val="C00000"/>
              </a:solidFill>
              <a:effectLst/>
              <a:uLnTx/>
              <a:uFillTx/>
              <a:latin typeface="Times New Roman" panose="02020503050405090304" pitchFamily="18" charset="0"/>
              <a:ea typeface="Microsoft YaHei" panose="020B0503020204020204" pitchFamily="34" charset="-122"/>
              <a:cs typeface="Times New Roman" panose="02020503050405090304" pitchFamily="18" charset="0"/>
            </a:endParaRPr>
          </a:p>
          <a:p>
            <a:pPr marL="228600" marR="0" lvl="0" indent="-228600" algn="just" defTabSz="914400" rtl="0" eaLnBrk="1" fontAlgn="auto" latinLnBrk="0" hangingPunct="1">
              <a:lnSpc>
                <a:spcPct val="150000"/>
              </a:lnSpc>
              <a:spcBef>
                <a:spcPts val="1000"/>
              </a:spcBef>
              <a:spcAft>
                <a:spcPts val="0"/>
              </a:spcAft>
              <a:buClrTx/>
              <a:buSzTx/>
              <a:buFont typeface="Arial" panose="020B0604020202090204" pitchFamily="34" charset="0"/>
              <a:buChar char="•"/>
              <a:defRPr/>
            </a:pPr>
            <a:endPar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endParaRPr>
          </a:p>
        </p:txBody>
      </p:sp>
      <p:grpSp>
        <p:nvGrpSpPr>
          <p:cNvPr id="17" name="组合 16"/>
          <p:cNvGrpSpPr/>
          <p:nvPr/>
        </p:nvGrpSpPr>
        <p:grpSpPr>
          <a:xfrm>
            <a:off x="789669" y="2822510"/>
            <a:ext cx="2433545" cy="3090881"/>
            <a:chOff x="704691" y="3237587"/>
            <a:chExt cx="2544398" cy="3231677"/>
          </a:xfrm>
        </p:grpSpPr>
        <p:pic>
          <p:nvPicPr>
            <p:cNvPr id="12" name="图片 11"/>
            <p:cNvPicPr>
              <a:picLocks noChangeAspect="1"/>
            </p:cNvPicPr>
            <p:nvPr/>
          </p:nvPicPr>
          <p:blipFill>
            <a:blip r:embed="rId1">
              <a:clrChange>
                <a:clrFrom>
                  <a:srgbClr val="FFFCFF"/>
                </a:clrFrom>
                <a:clrTo>
                  <a:srgbClr val="FFFCFF">
                    <a:alpha val="0"/>
                  </a:srgbClr>
                </a:clrTo>
              </a:clrChange>
            </a:blip>
            <a:stretch>
              <a:fillRect/>
            </a:stretch>
          </p:blipFill>
          <p:spPr>
            <a:xfrm>
              <a:off x="704691" y="3237587"/>
              <a:ext cx="2544398" cy="1535412"/>
            </a:xfrm>
            <a:prstGeom prst="rect">
              <a:avLst/>
            </a:prstGeom>
          </p:spPr>
        </p:pic>
        <p:pic>
          <p:nvPicPr>
            <p:cNvPr id="14" name="图片 13"/>
            <p:cNvPicPr>
              <a:picLocks noChangeAspect="1"/>
            </p:cNvPicPr>
            <p:nvPr/>
          </p:nvPicPr>
          <p:blipFill>
            <a:blip r:embed="rId2">
              <a:clrChange>
                <a:clrFrom>
                  <a:srgbClr val="FFFCFF"/>
                </a:clrFrom>
                <a:clrTo>
                  <a:srgbClr val="FFFCFF">
                    <a:alpha val="0"/>
                  </a:srgbClr>
                </a:clrTo>
              </a:clrChange>
            </a:blip>
            <a:stretch>
              <a:fillRect/>
            </a:stretch>
          </p:blipFill>
          <p:spPr>
            <a:xfrm>
              <a:off x="704691" y="4772999"/>
              <a:ext cx="2544398" cy="1696265"/>
            </a:xfrm>
            <a:prstGeom prst="rect">
              <a:avLst/>
            </a:prstGeom>
          </p:spPr>
        </p:pic>
      </p:grpSp>
      <p:grpSp>
        <p:nvGrpSpPr>
          <p:cNvPr id="25" name="组合 24"/>
          <p:cNvGrpSpPr/>
          <p:nvPr/>
        </p:nvGrpSpPr>
        <p:grpSpPr>
          <a:xfrm>
            <a:off x="3366796" y="2822510"/>
            <a:ext cx="3026891" cy="3090881"/>
            <a:chOff x="5299750" y="3237587"/>
            <a:chExt cx="3164772" cy="3231677"/>
          </a:xfrm>
        </p:grpSpPr>
        <p:grpSp>
          <p:nvGrpSpPr>
            <p:cNvPr id="23" name="组合 22"/>
            <p:cNvGrpSpPr/>
            <p:nvPr/>
          </p:nvGrpSpPr>
          <p:grpSpPr>
            <a:xfrm>
              <a:off x="5299750" y="3237587"/>
              <a:ext cx="3122784" cy="1718705"/>
              <a:chOff x="5299750" y="3237587"/>
              <a:chExt cx="3122784" cy="1718705"/>
            </a:xfrm>
          </p:grpSpPr>
          <p:pic>
            <p:nvPicPr>
              <p:cNvPr id="16" name="图片 15"/>
              <p:cNvPicPr>
                <a:picLocks noChangeAspect="1"/>
              </p:cNvPicPr>
              <p:nvPr/>
            </p:nvPicPr>
            <p:blipFill>
              <a:blip r:embed="rId3">
                <a:clrChange>
                  <a:clrFrom>
                    <a:srgbClr val="FFFCFF"/>
                  </a:clrFrom>
                  <a:clrTo>
                    <a:srgbClr val="FFFCFF">
                      <a:alpha val="0"/>
                    </a:srgbClr>
                  </a:clrTo>
                </a:clrChange>
              </a:blip>
              <a:stretch>
                <a:fillRect/>
              </a:stretch>
            </p:blipFill>
            <p:spPr>
              <a:xfrm>
                <a:off x="5299750" y="3237587"/>
                <a:ext cx="3122784" cy="1718705"/>
              </a:xfrm>
              <a:prstGeom prst="rect">
                <a:avLst/>
              </a:prstGeom>
            </p:spPr>
          </p:pic>
          <p:sp>
            <p:nvSpPr>
              <p:cNvPr id="21" name="矩形 20"/>
              <p:cNvSpPr/>
              <p:nvPr/>
            </p:nvSpPr>
            <p:spPr>
              <a:xfrm>
                <a:off x="5341738" y="3293706"/>
                <a:ext cx="195980" cy="1352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4" name="组合 23"/>
            <p:cNvGrpSpPr/>
            <p:nvPr/>
          </p:nvGrpSpPr>
          <p:grpSpPr>
            <a:xfrm>
              <a:off x="5341738" y="4772999"/>
              <a:ext cx="3122784" cy="1696265"/>
              <a:chOff x="5341738" y="4772999"/>
              <a:chExt cx="3122784" cy="1696265"/>
            </a:xfrm>
          </p:grpSpPr>
          <p:pic>
            <p:nvPicPr>
              <p:cNvPr id="19" name="图片 18"/>
              <p:cNvPicPr>
                <a:picLocks noChangeAspect="1"/>
              </p:cNvPicPr>
              <p:nvPr/>
            </p:nvPicPr>
            <p:blipFill>
              <a:blip r:embed="rId4">
                <a:clrChange>
                  <a:clrFrom>
                    <a:srgbClr val="FFFCFF"/>
                  </a:clrFrom>
                  <a:clrTo>
                    <a:srgbClr val="FFFCFF">
                      <a:alpha val="0"/>
                    </a:srgbClr>
                  </a:clrTo>
                </a:clrChange>
              </a:blip>
              <a:stretch>
                <a:fillRect/>
              </a:stretch>
            </p:blipFill>
            <p:spPr>
              <a:xfrm>
                <a:off x="5341738" y="4813392"/>
                <a:ext cx="3122784" cy="1655872"/>
              </a:xfrm>
              <a:prstGeom prst="rect">
                <a:avLst/>
              </a:prstGeom>
            </p:spPr>
          </p:pic>
          <p:sp>
            <p:nvSpPr>
              <p:cNvPr id="22" name="矩形 21"/>
              <p:cNvSpPr/>
              <p:nvPr/>
            </p:nvSpPr>
            <p:spPr>
              <a:xfrm>
                <a:off x="5396148" y="4772999"/>
                <a:ext cx="195980" cy="2003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pic>
        <p:nvPicPr>
          <p:cNvPr id="27" name="图片 26"/>
          <p:cNvPicPr>
            <a:picLocks noChangeAspect="1"/>
          </p:cNvPicPr>
          <p:nvPr/>
        </p:nvPicPr>
        <p:blipFill>
          <a:blip r:embed="rId5"/>
          <a:stretch>
            <a:fillRect/>
          </a:stretch>
        </p:blipFill>
        <p:spPr>
          <a:xfrm>
            <a:off x="6485885" y="3127911"/>
            <a:ext cx="5062312" cy="2588368"/>
          </a:xfrm>
          <a:prstGeom prst="rect">
            <a:avLst/>
          </a:prstGeom>
        </p:spPr>
      </p:pic>
      <p:sp>
        <p:nvSpPr>
          <p:cNvPr id="28" name="文本框 27"/>
          <p:cNvSpPr txBox="1"/>
          <p:nvPr/>
        </p:nvSpPr>
        <p:spPr>
          <a:xfrm>
            <a:off x="7603830" y="5744114"/>
            <a:ext cx="3020420" cy="338554"/>
          </a:xfrm>
          <a:prstGeom prst="rect">
            <a:avLst/>
          </a:prstGeom>
          <a:noFill/>
        </p:spPr>
        <p:txBody>
          <a:bodyPr wrap="square" rtlCol="0" anchor="t">
            <a:spAutoFit/>
          </a:bodyPr>
          <a:lstStyle/>
          <a:p>
            <a:pPr algn="ctr"/>
            <a:r>
              <a:rPr lang="en-US" altLang="zh-CN" sz="1600" b="1" dirty="0">
                <a:solidFill>
                  <a:srgbClr val="C00000"/>
                </a:solidFill>
                <a:latin typeface="Arial" panose="020B0604020202090204" pitchFamily="34" charset="0"/>
                <a:ea typeface="Inter"/>
                <a:cs typeface="Arial" panose="020B0604020202090204" pitchFamily="34" charset="0"/>
                <a:sym typeface="+mn-ea"/>
              </a:rPr>
              <a:t>H</a:t>
            </a:r>
            <a:r>
              <a:rPr lang="en-US" altLang="zh-CN" sz="1600" b="1" baseline="-25000" dirty="0">
                <a:solidFill>
                  <a:srgbClr val="C00000"/>
                </a:solidFill>
                <a:latin typeface="Arial" panose="020B0604020202090204" pitchFamily="34" charset="0"/>
                <a:ea typeface="Inter"/>
                <a:cs typeface="Arial" panose="020B0604020202090204" pitchFamily="34" charset="0"/>
                <a:sym typeface="+mn-ea"/>
              </a:rPr>
              <a:t>2</a:t>
            </a:r>
            <a:r>
              <a:rPr lang="en-US" altLang="zh-CN" sz="1600" b="1" dirty="0">
                <a:solidFill>
                  <a:srgbClr val="C00000"/>
                </a:solidFill>
                <a:latin typeface="Arial" panose="020B0604020202090204" pitchFamily="34" charset="0"/>
                <a:ea typeface="Inter"/>
                <a:cs typeface="Arial" panose="020B0604020202090204" pitchFamily="34" charset="0"/>
                <a:sym typeface="+mn-ea"/>
              </a:rPr>
              <a:t>S</a:t>
            </a:r>
            <a:r>
              <a:rPr lang="zh-CN" altLang="en-US" sz="1600" b="1" dirty="0">
                <a:solidFill>
                  <a:srgbClr val="C00000"/>
                </a:solidFill>
                <a:latin typeface="Arial" panose="020B0604020202090204" pitchFamily="34" charset="0"/>
                <a:ea typeface="Inter"/>
                <a:cs typeface="Arial" panose="020B0604020202090204" pitchFamily="34" charset="0"/>
                <a:sym typeface="+mn-ea"/>
              </a:rPr>
              <a:t>氛围下</a:t>
            </a:r>
            <a:r>
              <a:rPr lang="en-US" altLang="zh-CN" sz="1600" b="1" dirty="0">
                <a:solidFill>
                  <a:srgbClr val="C00000"/>
                </a:solidFill>
                <a:latin typeface="Arial" panose="020B0604020202090204" pitchFamily="34" charset="0"/>
                <a:ea typeface="Inter"/>
                <a:cs typeface="Arial" panose="020B0604020202090204" pitchFamily="34" charset="0"/>
                <a:sym typeface="+mn-ea"/>
              </a:rPr>
              <a:t>200</a:t>
            </a:r>
            <a:r>
              <a:rPr lang="zh-CN" altLang="en-US" sz="1600" b="1" dirty="0">
                <a:solidFill>
                  <a:srgbClr val="C00000"/>
                </a:solidFill>
                <a:latin typeface="Arial" panose="020B0604020202090204" pitchFamily="34" charset="0"/>
                <a:ea typeface="Inter"/>
                <a:cs typeface="Arial" panose="020B0604020202090204" pitchFamily="34" charset="0"/>
                <a:sym typeface="+mn-ea"/>
              </a:rPr>
              <a:t>℃退火</a:t>
            </a:r>
            <a:r>
              <a:rPr lang="en-US" altLang="zh-CN" sz="1600" b="1" dirty="0">
                <a:solidFill>
                  <a:srgbClr val="C00000"/>
                </a:solidFill>
                <a:latin typeface="Arial" panose="020B0604020202090204" pitchFamily="34" charset="0"/>
                <a:ea typeface="Inter"/>
                <a:cs typeface="Arial" panose="020B0604020202090204" pitchFamily="34" charset="0"/>
                <a:sym typeface="+mn-ea"/>
              </a:rPr>
              <a:t>30</a:t>
            </a:r>
            <a:r>
              <a:rPr lang="zh-CN" altLang="en-US" sz="1600" b="1" dirty="0">
                <a:solidFill>
                  <a:srgbClr val="C00000"/>
                </a:solidFill>
                <a:latin typeface="Arial" panose="020B0604020202090204" pitchFamily="34" charset="0"/>
                <a:ea typeface="Inter"/>
                <a:cs typeface="Arial" panose="020B0604020202090204" pitchFamily="34" charset="0"/>
                <a:sym typeface="+mn-ea"/>
              </a:rPr>
              <a:t>分钟</a:t>
            </a:r>
            <a:endParaRPr lang="en-US" altLang="zh-CN" sz="1600" b="1" dirty="0">
              <a:solidFill>
                <a:srgbClr val="C00000"/>
              </a:solidFill>
              <a:latin typeface="Arial" panose="020B0604020202090204" pitchFamily="34" charset="0"/>
              <a:ea typeface="Inter"/>
              <a:cs typeface="Arial" panose="020B0604020202090204" pitchFamily="34"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标题 19"/>
          <p:cNvSpPr>
            <a:spLocks noGrp="1"/>
          </p:cNvSpPr>
          <p:nvPr>
            <p:ph type="title"/>
          </p:nvPr>
        </p:nvSpPr>
        <p:spPr>
          <a:xfrm>
            <a:off x="442913" y="243569"/>
            <a:ext cx="9713674" cy="617518"/>
          </a:xfrm>
        </p:spPr>
        <p:txBody>
          <a:bodyPr>
            <a:normAutofit/>
          </a:bodyPr>
          <a:lstStyle/>
          <a:p>
            <a:r>
              <a:rPr lang="zh-CN" altLang="en-US" sz="2800" dirty="0">
                <a:sym typeface="Arial" panose="020B0604020202090204" pitchFamily="34" charset="0"/>
              </a:rPr>
              <a:t>结果与讨论</a:t>
            </a:r>
            <a:endParaRPr lang="en-US" altLang="zh-CN" sz="2800" dirty="0">
              <a:sym typeface="Arial" panose="020B0604020202090204" pitchFamily="34" charset="0"/>
            </a:endParaRPr>
          </a:p>
        </p:txBody>
      </p:sp>
      <p:sp>
        <p:nvSpPr>
          <p:cNvPr id="2" name="灯片编号占位符 1"/>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t>&lt; </a:t>
            </a:r>
            <a:fld id="{A548B57D-AE10-4CF7-A9DF-59FEFA91B28E}" type="slidenum">
              <a:rPr kumimoji="0" lang="zh-CN" altLang="en-US" sz="1200" b="0" i="0" u="none" strike="noStrike" kern="1200" cap="none" spc="0" normalizeH="0" baseline="0" noProof="0" dirty="0" smtClean="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fld>
            <a:r>
              <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t> </a:t>
            </a:r>
            <a:r>
              <a:rPr kumimoji="0" lang="en-US" altLang="zh-CN"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t>&gt;</a:t>
            </a:r>
            <a:endPar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endParaRPr>
          </a:p>
        </p:txBody>
      </p:sp>
      <p:sp>
        <p:nvSpPr>
          <p:cNvPr id="9" name="矩形 8"/>
          <p:cNvSpPr/>
          <p:nvPr/>
        </p:nvSpPr>
        <p:spPr>
          <a:xfrm>
            <a:off x="241806" y="5451633"/>
            <a:ext cx="262255" cy="2628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占位符 10"/>
          <p:cNvSpPr txBox="1"/>
          <p:nvPr/>
        </p:nvSpPr>
        <p:spPr>
          <a:xfrm>
            <a:off x="442913" y="874659"/>
            <a:ext cx="11306078" cy="2292978"/>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gn="just">
              <a:lnSpc>
                <a:spcPct val="150000"/>
              </a:lnSpc>
              <a:defRPr/>
            </a:pPr>
            <a:r>
              <a:rPr lang="en-US" altLang="zh-CN"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MoS</a:t>
            </a:r>
            <a:r>
              <a:rPr lang="en-US" altLang="zh-CN" sz="2000" b="1" baseline="-25000"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2−x</a:t>
            </a:r>
            <a:r>
              <a:rPr lang="en-US" altLang="zh-CN"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O</a:t>
            </a:r>
            <a:r>
              <a:rPr lang="en-US" altLang="zh-CN" sz="2000" b="1" baseline="-25000"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x</a:t>
            </a:r>
            <a:r>
              <a:rPr lang="zh-CN" altLang="en-US"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催化</a:t>
            </a:r>
            <a:r>
              <a:rPr lang="en-US" altLang="zh-CN"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HER</a:t>
            </a:r>
            <a:r>
              <a:rPr lang="zh-CN" altLang="en-US"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的活性比</a:t>
            </a:r>
            <a:r>
              <a:rPr lang="en-US" altLang="zh-CN" sz="2000" b="1" dirty="0">
                <a:solidFill>
                  <a:srgbClr val="C00000"/>
                </a:solidFill>
                <a:latin typeface="Times New Roman" panose="02020503050405090304" pitchFamily="18" charset="0"/>
                <a:cs typeface="Times New Roman" panose="02020503050405090304" pitchFamily="18" charset="0"/>
              </a:rPr>
              <a:t>MoS</a:t>
            </a:r>
            <a:r>
              <a:rPr lang="en-US" altLang="zh-CN" sz="2000" b="1" baseline="-25000" dirty="0">
                <a:solidFill>
                  <a:srgbClr val="C00000"/>
                </a:solidFill>
                <a:latin typeface="Times New Roman" panose="02020503050405090304" pitchFamily="18" charset="0"/>
                <a:cs typeface="Times New Roman" panose="02020503050405090304" pitchFamily="18" charset="0"/>
              </a:rPr>
              <a:t>2</a:t>
            </a:r>
            <a:r>
              <a:rPr lang="zh-CN" altLang="en-US" sz="2000" b="1" dirty="0">
                <a:solidFill>
                  <a:srgbClr val="C00000"/>
                </a:solidFill>
                <a:latin typeface="Times New Roman" panose="02020503050405090304" pitchFamily="18" charset="0"/>
                <a:cs typeface="Times New Roman" panose="02020503050405090304" pitchFamily="18" charset="0"/>
              </a:rPr>
              <a:t>更高</a:t>
            </a:r>
            <a:endParaRPr lang="en-US" altLang="zh-CN"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endParaRPr>
          </a:p>
          <a:p>
            <a:pPr lvl="0" algn="just">
              <a:lnSpc>
                <a:spcPct val="150000"/>
              </a:lnSpc>
              <a:defRPr/>
            </a:pPr>
            <a:r>
              <a:rPr lang="zh-CN" altLang="en-US" sz="2000" b="1" dirty="0">
                <a:solidFill>
                  <a:srgbClr val="000000"/>
                </a:solidFill>
                <a:latin typeface="Times New Roman" panose="02020503050405090304" pitchFamily="18" charset="0"/>
                <a:ea typeface="Microsoft YaHei" panose="020B0503020204020204" pitchFamily="34" charset="-122"/>
                <a:cs typeface="Times New Roman" panose="02020503050405090304" pitchFamily="18" charset="0"/>
              </a:rPr>
              <a:t>电流密度可以在长期保持稳定</a:t>
            </a:r>
            <a:endParaRPr lang="en-US" altLang="zh-CN" sz="2000" b="1" dirty="0">
              <a:solidFill>
                <a:srgbClr val="000000"/>
              </a:solidFill>
              <a:latin typeface="Times New Roman" panose="02020503050405090304" pitchFamily="18" charset="0"/>
              <a:ea typeface="Microsoft YaHei" panose="020B0503020204020204" pitchFamily="34" charset="-122"/>
              <a:cs typeface="Times New Roman" panose="02020503050405090304" pitchFamily="18" charset="0"/>
            </a:endParaRPr>
          </a:p>
          <a:p>
            <a:pPr lvl="0" algn="just">
              <a:lnSpc>
                <a:spcPct val="150000"/>
              </a:lnSpc>
              <a:defRPr/>
            </a:pPr>
            <a:r>
              <a:rPr lang="zh-CN" altLang="en-US" sz="2000" b="1" dirty="0">
                <a:solidFill>
                  <a:srgbClr val="000000"/>
                </a:solidFill>
                <a:latin typeface="Times New Roman" panose="02020503050405090304" pitchFamily="18" charset="0"/>
                <a:ea typeface="Microsoft YaHei" panose="020B0503020204020204" pitchFamily="34" charset="-122"/>
                <a:cs typeface="Times New Roman" panose="02020503050405090304" pitchFamily="18" charset="0"/>
              </a:rPr>
              <a:t>经过</a:t>
            </a:r>
            <a:r>
              <a:rPr lang="en-US" altLang="zh-CN" sz="2000" b="1" dirty="0">
                <a:solidFill>
                  <a:srgbClr val="000000"/>
                </a:solidFill>
                <a:latin typeface="Times New Roman" panose="02020503050405090304" pitchFamily="18" charset="0"/>
                <a:ea typeface="Microsoft YaHei" panose="020B0503020204020204" pitchFamily="34" charset="-122"/>
                <a:cs typeface="Times New Roman" panose="02020503050405090304" pitchFamily="18" charset="0"/>
              </a:rPr>
              <a:t>1000</a:t>
            </a:r>
            <a:r>
              <a:rPr lang="zh-CN" altLang="en-US" sz="2000" b="1" dirty="0">
                <a:solidFill>
                  <a:srgbClr val="000000"/>
                </a:solidFill>
                <a:latin typeface="Times New Roman" panose="02020503050405090304" pitchFamily="18" charset="0"/>
                <a:ea typeface="Microsoft YaHei" panose="020B0503020204020204" pitchFamily="34" charset="-122"/>
                <a:cs typeface="Times New Roman" panose="02020503050405090304" pitchFamily="18" charset="0"/>
              </a:rPr>
              <a:t>次循环后，氧的取代位点依然存在</a:t>
            </a:r>
            <a:endPar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endParaRPr>
          </a:p>
        </p:txBody>
      </p:sp>
      <p:grpSp>
        <p:nvGrpSpPr>
          <p:cNvPr id="8" name="组合 7"/>
          <p:cNvGrpSpPr/>
          <p:nvPr/>
        </p:nvGrpSpPr>
        <p:grpSpPr>
          <a:xfrm>
            <a:off x="372933" y="3367198"/>
            <a:ext cx="3705612" cy="2988214"/>
            <a:chOff x="509899" y="2754212"/>
            <a:chExt cx="4295211" cy="3463668"/>
          </a:xfrm>
        </p:grpSpPr>
        <p:pic>
          <p:nvPicPr>
            <p:cNvPr id="4" name="图片 3"/>
            <p:cNvPicPr>
              <a:picLocks noChangeAspect="1"/>
            </p:cNvPicPr>
            <p:nvPr/>
          </p:nvPicPr>
          <p:blipFill>
            <a:blip r:embed="rId1">
              <a:clrChange>
                <a:clrFrom>
                  <a:srgbClr val="FFFCFF"/>
                </a:clrFrom>
                <a:clrTo>
                  <a:srgbClr val="FFFCFF">
                    <a:alpha val="0"/>
                  </a:srgbClr>
                </a:clrTo>
              </a:clrChange>
            </a:blip>
            <a:stretch>
              <a:fillRect/>
            </a:stretch>
          </p:blipFill>
          <p:spPr>
            <a:xfrm>
              <a:off x="509899" y="2754212"/>
              <a:ext cx="4295211" cy="3463668"/>
            </a:xfrm>
            <a:prstGeom prst="rect">
              <a:avLst/>
            </a:prstGeom>
          </p:spPr>
        </p:pic>
        <p:sp>
          <p:nvSpPr>
            <p:cNvPr id="5" name="矩形 4"/>
            <p:cNvSpPr/>
            <p:nvPr/>
          </p:nvSpPr>
          <p:spPr>
            <a:xfrm>
              <a:off x="611447" y="2829531"/>
              <a:ext cx="187442" cy="12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0" name="组合 9"/>
          <p:cNvGrpSpPr/>
          <p:nvPr/>
        </p:nvGrpSpPr>
        <p:grpSpPr>
          <a:xfrm>
            <a:off x="3967153" y="3367198"/>
            <a:ext cx="3705612" cy="3027155"/>
            <a:chOff x="4805110" y="2781635"/>
            <a:chExt cx="4347904" cy="3511514"/>
          </a:xfrm>
        </p:grpSpPr>
        <p:pic>
          <p:nvPicPr>
            <p:cNvPr id="7" name="图片 6"/>
            <p:cNvPicPr>
              <a:picLocks noChangeAspect="1"/>
            </p:cNvPicPr>
            <p:nvPr/>
          </p:nvPicPr>
          <p:blipFill>
            <a:blip r:embed="rId2">
              <a:clrChange>
                <a:clrFrom>
                  <a:srgbClr val="FFFCFF"/>
                </a:clrFrom>
                <a:clrTo>
                  <a:srgbClr val="FFFCFF">
                    <a:alpha val="0"/>
                  </a:srgbClr>
                </a:clrTo>
              </a:clrChange>
            </a:blip>
            <a:stretch>
              <a:fillRect/>
            </a:stretch>
          </p:blipFill>
          <p:spPr>
            <a:xfrm>
              <a:off x="4805110" y="2781635"/>
              <a:ext cx="4347904" cy="3511514"/>
            </a:xfrm>
            <a:prstGeom prst="rect">
              <a:avLst/>
            </a:prstGeom>
          </p:spPr>
        </p:pic>
        <p:sp>
          <p:nvSpPr>
            <p:cNvPr id="6" name="矩形 5"/>
            <p:cNvSpPr/>
            <p:nvPr/>
          </p:nvSpPr>
          <p:spPr>
            <a:xfrm>
              <a:off x="4812937" y="2793949"/>
              <a:ext cx="197602" cy="1649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17" name="图片 16"/>
          <p:cNvPicPr>
            <a:picLocks noChangeAspect="1"/>
          </p:cNvPicPr>
          <p:nvPr/>
        </p:nvPicPr>
        <p:blipFill>
          <a:blip r:embed="rId3"/>
          <a:stretch>
            <a:fillRect/>
          </a:stretch>
        </p:blipFill>
        <p:spPr>
          <a:xfrm>
            <a:off x="7672765" y="3377813"/>
            <a:ext cx="4020495" cy="2857636"/>
          </a:xfrm>
          <a:prstGeom prst="rect">
            <a:avLst/>
          </a:prstGeom>
        </p:spPr>
      </p:pic>
      <p:pic>
        <p:nvPicPr>
          <p:cNvPr id="19" name="图片 18"/>
          <p:cNvPicPr>
            <a:picLocks noChangeAspect="1"/>
          </p:cNvPicPr>
          <p:nvPr/>
        </p:nvPicPr>
        <p:blipFill>
          <a:blip r:embed="rId4"/>
          <a:stretch>
            <a:fillRect/>
          </a:stretch>
        </p:blipFill>
        <p:spPr>
          <a:xfrm>
            <a:off x="6710291" y="878488"/>
            <a:ext cx="4982969" cy="234042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标题 19"/>
          <p:cNvSpPr>
            <a:spLocks noGrp="1"/>
          </p:cNvSpPr>
          <p:nvPr>
            <p:ph type="title"/>
          </p:nvPr>
        </p:nvSpPr>
        <p:spPr>
          <a:xfrm>
            <a:off x="442913" y="243569"/>
            <a:ext cx="9713674" cy="617518"/>
          </a:xfrm>
        </p:spPr>
        <p:txBody>
          <a:bodyPr>
            <a:normAutofit/>
          </a:bodyPr>
          <a:lstStyle/>
          <a:p>
            <a:r>
              <a:rPr lang="zh-CN" altLang="en-US" sz="2800" dirty="0">
                <a:sym typeface="Arial" panose="020B0604020202090204" pitchFamily="34" charset="0"/>
              </a:rPr>
              <a:t>结果与讨论</a:t>
            </a:r>
            <a:endParaRPr lang="en-US" altLang="zh-CN" sz="2800" dirty="0">
              <a:sym typeface="Arial" panose="020B0604020202090204" pitchFamily="34" charset="0"/>
            </a:endParaRPr>
          </a:p>
        </p:txBody>
      </p:sp>
      <p:sp>
        <p:nvSpPr>
          <p:cNvPr id="2" name="灯片编号占位符 1"/>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t>&lt; </a:t>
            </a:r>
            <a:fld id="{A548B57D-AE10-4CF7-A9DF-59FEFA91B28E}" type="slidenum">
              <a:rPr kumimoji="0" lang="zh-CN" altLang="en-US" sz="1200" b="0" i="0" u="none" strike="noStrike" kern="1200" cap="none" spc="0" normalizeH="0" baseline="0" noProof="0" dirty="0" smtClean="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fld>
            <a:r>
              <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t> </a:t>
            </a:r>
            <a:r>
              <a:rPr kumimoji="0" lang="en-US" altLang="zh-CN"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rPr>
              <a:t>&gt;</a:t>
            </a:r>
            <a:endPar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Microsoft YaHei" panose="020B0503020204020204" pitchFamily="34" charset="-122"/>
              <a:cs typeface="+mn-cs"/>
              <a:sym typeface="Arial" panose="020B0604020202090204" pitchFamily="34" charset="0"/>
            </a:endParaRPr>
          </a:p>
        </p:txBody>
      </p:sp>
      <p:sp>
        <p:nvSpPr>
          <p:cNvPr id="9" name="矩形 8"/>
          <p:cNvSpPr/>
          <p:nvPr/>
        </p:nvSpPr>
        <p:spPr>
          <a:xfrm>
            <a:off x="241806" y="5451633"/>
            <a:ext cx="262255" cy="2628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占位符 10"/>
          <p:cNvSpPr txBox="1"/>
          <p:nvPr/>
        </p:nvSpPr>
        <p:spPr>
          <a:xfrm>
            <a:off x="442913" y="874658"/>
            <a:ext cx="11355646" cy="255434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gn="just">
              <a:lnSpc>
                <a:spcPct val="150000"/>
              </a:lnSpc>
              <a:defRPr/>
            </a:pPr>
            <a:r>
              <a:rPr lang="en-US" altLang="zh-CN"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DFT</a:t>
            </a:r>
            <a:r>
              <a:rPr lang="zh-CN" altLang="en-US"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计算显示，</a:t>
            </a:r>
            <a:r>
              <a:rPr lang="en-US" altLang="zh-CN"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O </a:t>
            </a:r>
            <a:r>
              <a:rPr lang="zh-CN" altLang="en-US"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取代消除了</a:t>
            </a:r>
            <a:r>
              <a:rPr lang="en-US" altLang="zh-CN"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S</a:t>
            </a:r>
            <a:r>
              <a:rPr lang="zh-CN" altLang="en-US"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空位特有的带隙中间态，但仍然显著改变了价带和导带的轨道组成以及取代位点的电子亲和力</a:t>
            </a:r>
            <a:endParaRPr lang="en-US" altLang="zh-CN"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endParaRPr>
          </a:p>
          <a:p>
            <a:pPr lvl="0" algn="just">
              <a:lnSpc>
                <a:spcPct val="150000"/>
              </a:lnSpc>
              <a:defRPr/>
            </a:pPr>
            <a:r>
              <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Bader charge analysis </a:t>
            </a:r>
            <a:r>
              <a:rPr kumimoji="0" lang="zh-CN" altLang="en-US"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显示</a:t>
            </a:r>
            <a:r>
              <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O </a:t>
            </a:r>
            <a:r>
              <a:rPr kumimoji="0" lang="zh-CN" altLang="en-US"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取代位点表现出强烈的受体型行为，其电子亲和力（</a:t>
            </a:r>
            <a:r>
              <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-0.88 e</a:t>
            </a:r>
            <a:r>
              <a:rPr kumimoji="0" lang="zh-CN" altLang="en-US"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）几乎是 </a:t>
            </a:r>
            <a:r>
              <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S </a:t>
            </a:r>
            <a:r>
              <a:rPr kumimoji="0" lang="zh-CN" altLang="en-US"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原子（</a:t>
            </a:r>
            <a:r>
              <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-0.47 e</a:t>
            </a:r>
            <a:r>
              <a:rPr kumimoji="0" lang="zh-CN" altLang="en-US"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）的两倍。局部增加的电子亲和力，可在 </a:t>
            </a:r>
            <a:r>
              <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O </a:t>
            </a:r>
            <a:r>
              <a:rPr kumimoji="0" lang="zh-CN" altLang="en-US"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取代位点上产生局域负电荷。这些部分屏蔽的负电荷可以显著促进酸性电解质中带正电荷的 </a:t>
            </a:r>
            <a:r>
              <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H </a:t>
            </a:r>
            <a:r>
              <a:rPr kumimoji="0" lang="zh-CN" altLang="en-US"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物种的吸附。解释了氧化后</a:t>
            </a:r>
            <a:r>
              <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HER</a:t>
            </a:r>
            <a:r>
              <a:rPr kumimoji="0" lang="zh-CN" altLang="en-US"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rPr>
              <a:t>催化活性增强的原因</a:t>
            </a:r>
            <a:endParaRPr kumimoji="0" lang="en-US" altLang="zh-CN" sz="2000" b="1" i="0" u="none" strike="noStrike" kern="1200" cap="none" spc="0" normalizeH="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endParaRPr>
          </a:p>
        </p:txBody>
      </p:sp>
      <p:pic>
        <p:nvPicPr>
          <p:cNvPr id="12" name="图片 11"/>
          <p:cNvPicPr>
            <a:picLocks noChangeAspect="1"/>
          </p:cNvPicPr>
          <p:nvPr/>
        </p:nvPicPr>
        <p:blipFill>
          <a:blip r:embed="rId1">
            <a:clrChange>
              <a:clrFrom>
                <a:srgbClr val="FFFCFF"/>
              </a:clrFrom>
              <a:clrTo>
                <a:srgbClr val="FFFCFF">
                  <a:alpha val="0"/>
                </a:srgbClr>
              </a:clrTo>
            </a:clrChange>
          </a:blip>
          <a:stretch>
            <a:fillRect/>
          </a:stretch>
        </p:blipFill>
        <p:spPr>
          <a:xfrm>
            <a:off x="584401" y="3690364"/>
            <a:ext cx="6391240" cy="2736425"/>
          </a:xfrm>
          <a:prstGeom prst="rect">
            <a:avLst/>
          </a:prstGeom>
        </p:spPr>
      </p:pic>
      <p:pic>
        <p:nvPicPr>
          <p:cNvPr id="14" name="图片 13"/>
          <p:cNvPicPr>
            <a:picLocks noChangeAspect="1"/>
          </p:cNvPicPr>
          <p:nvPr/>
        </p:nvPicPr>
        <p:blipFill>
          <a:blip r:embed="rId2"/>
          <a:stretch>
            <a:fillRect/>
          </a:stretch>
        </p:blipFill>
        <p:spPr>
          <a:xfrm>
            <a:off x="7055982" y="3729092"/>
            <a:ext cx="4478503" cy="269769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标题 19"/>
          <p:cNvSpPr>
            <a:spLocks noGrp="1"/>
          </p:cNvSpPr>
          <p:nvPr>
            <p:ph type="title"/>
          </p:nvPr>
        </p:nvSpPr>
        <p:spPr>
          <a:xfrm>
            <a:off x="442913" y="243569"/>
            <a:ext cx="9713674" cy="617518"/>
          </a:xfrm>
        </p:spPr>
        <p:txBody>
          <a:bodyPr>
            <a:normAutofit/>
          </a:bodyPr>
          <a:lstStyle/>
          <a:p>
            <a:r>
              <a:rPr lang="zh-CN" altLang="en-US" dirty="0">
                <a:sym typeface="Arial" panose="020B0604020202090204" pitchFamily="34" charset="0"/>
              </a:rPr>
              <a:t>总结</a:t>
            </a:r>
            <a:r>
              <a:rPr lang="en-US" altLang="zh-CN" dirty="0">
                <a:sym typeface="Arial" panose="020B0604020202090204" pitchFamily="34" charset="0"/>
              </a:rPr>
              <a:t> </a:t>
            </a:r>
            <a:endParaRPr lang="zh-CN" altLang="en-US" dirty="0">
              <a:sym typeface="Arial" panose="020B0604020202090204" pitchFamily="34" charset="0"/>
            </a:endParaRPr>
          </a:p>
        </p:txBody>
      </p:sp>
      <p:sp>
        <p:nvSpPr>
          <p:cNvPr id="2" name="灯片编号占位符 1"/>
          <p:cNvSpPr>
            <a:spLocks noGrp="1"/>
          </p:cNvSpPr>
          <p:nvPr>
            <p:ph type="sldNum" sz="quarter" idx="4"/>
          </p:nvPr>
        </p:nvSpPr>
        <p:spPr/>
        <p:txBody>
          <a:bodyPr/>
          <a:lstStyle/>
          <a:p>
            <a:r>
              <a:rPr lang="en-US" altLang="zh-CN" dirty="0">
                <a:sym typeface="Arial" panose="020B0604020202090204" pitchFamily="34" charset="0"/>
              </a:rPr>
              <a:t>&lt; </a:t>
            </a:r>
            <a:fld id="{A548B57D-AE10-4CF7-A9DF-59FEFA91B28E}" type="slidenum">
              <a:rPr lang="zh-CN" altLang="en-US" dirty="0" smtClean="0">
                <a:sym typeface="Arial" panose="020B0604020202090204" pitchFamily="34" charset="0"/>
              </a:rPr>
            </a:fld>
            <a:r>
              <a:rPr lang="zh-CN" altLang="en-US" dirty="0">
                <a:sym typeface="Arial" panose="020B0604020202090204" pitchFamily="34" charset="0"/>
              </a:rPr>
              <a:t> </a:t>
            </a:r>
            <a:r>
              <a:rPr lang="en-US" altLang="zh-CN" dirty="0">
                <a:sym typeface="Arial" panose="020B0604020202090204" pitchFamily="34" charset="0"/>
              </a:rPr>
              <a:t>&gt;</a:t>
            </a:r>
            <a:endParaRPr lang="zh-CN" altLang="en-US" dirty="0">
              <a:sym typeface="Arial" panose="020B0604020202090204" pitchFamily="34" charset="0"/>
            </a:endParaRPr>
          </a:p>
        </p:txBody>
      </p:sp>
      <p:sp>
        <p:nvSpPr>
          <p:cNvPr id="3" name="TextBox 17" descr="e7d195523061f1c074694c8bbf98be7b1e4b015d796375963FD28840057458461C7CA0DAD340D15583DEDFC2E3241C4F392EF3A8B4D067B40CF4F149DD7E51F346B0CAB1BCCF6DB2480C67273C6C9E4CB0FA6B14AF470564B639C222FCD6FBFAB6EA6F27A62F6D5C21FD9EAB6E3EC22AF201E1F61B018011DF613FA5FDA156C6B4CFCB5B3A52B19E"/>
          <p:cNvSpPr txBox="1"/>
          <p:nvPr/>
        </p:nvSpPr>
        <p:spPr>
          <a:xfrm>
            <a:off x="755291" y="1274439"/>
            <a:ext cx="10567407" cy="3692614"/>
          </a:xfrm>
          <a:prstGeom prst="rect">
            <a:avLst/>
          </a:prstGeom>
          <a:noFill/>
        </p:spPr>
        <p:txBody>
          <a:bodyPr wrap="square" rtlCol="0">
            <a:spAutoFit/>
          </a:bodyPr>
          <a:lstStyle/>
          <a:p>
            <a:pPr marL="288290" marR="0" lvl="0" indent="-288290" algn="just" defTabSz="514350" rtl="0" eaLnBrk="1" fontAlgn="auto" latinLnBrk="0" hangingPunct="1">
              <a:lnSpc>
                <a:spcPct val="200000"/>
              </a:lnSpc>
              <a:spcBef>
                <a:spcPts val="0"/>
              </a:spcBef>
              <a:spcAft>
                <a:spcPts val="0"/>
              </a:spcAft>
              <a:buClrTx/>
              <a:buSzTx/>
              <a:buFont typeface="Wingdings" panose="05000000000000000000" pitchFamily="2" charset="2"/>
              <a:buChar char="p"/>
              <a:defRPr/>
            </a:pPr>
            <a:r>
              <a:rPr lang="en-US" altLang="zh-CN" sz="2000" b="1" dirty="0">
                <a:latin typeface="Times New Roman" panose="02020503050405090304" pitchFamily="18" charset="0"/>
                <a:ea typeface="Microsoft YaHei" panose="020B0503020204020204" pitchFamily="34" charset="-122"/>
                <a:cs typeface="Times New Roman" panose="02020503050405090304" pitchFamily="18" charset="0"/>
              </a:rPr>
              <a:t>MoS</a:t>
            </a:r>
            <a:r>
              <a:rPr lang="en-US" altLang="zh-CN" sz="2000" b="1" baseline="-25000" dirty="0">
                <a:latin typeface="Times New Roman" panose="02020503050405090304" pitchFamily="18" charset="0"/>
                <a:ea typeface="Microsoft YaHei" panose="020B0503020204020204" pitchFamily="34" charset="-122"/>
                <a:cs typeface="Times New Roman" panose="02020503050405090304" pitchFamily="18" charset="0"/>
              </a:rPr>
              <a:t>2</a:t>
            </a: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单层基面在环境条件下并非真正惰性，而会发生</a:t>
            </a:r>
            <a:r>
              <a:rPr lang="zh-CN" altLang="en-US"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极慢的自发氧取代反应</a:t>
            </a:r>
            <a:endParaRPr lang="en-US" altLang="zh-CN" sz="2000" b="1" dirty="0">
              <a:latin typeface="Times New Roman" panose="02020503050405090304" pitchFamily="18" charset="0"/>
              <a:ea typeface="Microsoft YaHei" panose="020B0503020204020204" pitchFamily="34" charset="-122"/>
              <a:cs typeface="Times New Roman" panose="02020503050405090304" pitchFamily="18" charset="0"/>
            </a:endParaRPr>
          </a:p>
          <a:p>
            <a:pPr marL="288290" lvl="0" indent="-288290" algn="just" defTabSz="514350">
              <a:lnSpc>
                <a:spcPct val="200000"/>
              </a:lnSpc>
              <a:buFont typeface="Wingdings" panose="05000000000000000000" pitchFamily="2" charset="2"/>
              <a:buChar char="p"/>
              <a:defRPr/>
            </a:pP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这种氧化过程不是简单吸附，也不是直接生成破坏晶格，而是形成了保持原晶格完整的二维 </a:t>
            </a:r>
            <a:r>
              <a:rPr lang="en-US" altLang="zh-CN" sz="2000" b="1" dirty="0">
                <a:solidFill>
                  <a:srgbClr val="C00000"/>
                </a:solidFill>
                <a:latin typeface="Times New Roman" panose="02020503050405090304" pitchFamily="18" charset="0"/>
                <a:cs typeface="Times New Roman" panose="02020503050405090304" pitchFamily="18" charset="0"/>
              </a:rPr>
              <a:t>MoS</a:t>
            </a:r>
            <a:r>
              <a:rPr lang="en-US" altLang="zh-CN" sz="2000" b="1" baseline="-25000" dirty="0">
                <a:solidFill>
                  <a:srgbClr val="C00000"/>
                </a:solidFill>
                <a:latin typeface="Times New Roman" panose="02020503050405090304" pitchFamily="18" charset="0"/>
                <a:cs typeface="Times New Roman" panose="02020503050405090304" pitchFamily="18" charset="0"/>
              </a:rPr>
              <a:t>2−x</a:t>
            </a:r>
            <a:r>
              <a:rPr lang="en-US" altLang="zh-CN" sz="2000" b="1" dirty="0">
                <a:solidFill>
                  <a:srgbClr val="C00000"/>
                </a:solidFill>
                <a:latin typeface="Times New Roman" panose="02020503050405090304" pitchFamily="18" charset="0"/>
                <a:cs typeface="Times New Roman" panose="02020503050405090304" pitchFamily="18" charset="0"/>
              </a:rPr>
              <a:t>O</a:t>
            </a:r>
            <a:r>
              <a:rPr lang="en-US" altLang="zh-CN" sz="2000" b="1" baseline="-25000" dirty="0">
                <a:solidFill>
                  <a:srgbClr val="C00000"/>
                </a:solidFill>
                <a:latin typeface="Times New Roman" panose="02020503050405090304" pitchFamily="18" charset="0"/>
                <a:cs typeface="Times New Roman" panose="02020503050405090304" pitchFamily="18" charset="0"/>
              </a:rPr>
              <a:t>x</a:t>
            </a:r>
            <a:r>
              <a:rPr lang="zh-CN" altLang="en-US"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固溶体</a:t>
            </a:r>
            <a:endParaRPr lang="en-US" altLang="zh-CN"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endParaRPr>
          </a:p>
          <a:p>
            <a:pPr marL="288290" marR="0" lvl="0" indent="-288290" algn="just" defTabSz="514350" rtl="0" eaLnBrk="1" fontAlgn="auto" latinLnBrk="0" hangingPunct="1">
              <a:lnSpc>
                <a:spcPct val="200000"/>
              </a:lnSpc>
              <a:spcBef>
                <a:spcPts val="0"/>
              </a:spcBef>
              <a:spcAft>
                <a:spcPts val="0"/>
              </a:spcAft>
              <a:buClrTx/>
              <a:buSzTx/>
              <a:buFont typeface="Wingdings" panose="05000000000000000000" pitchFamily="2" charset="2"/>
              <a:buChar char="p"/>
              <a:defRPr/>
            </a:pP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这种取代氧化是</a:t>
            </a:r>
            <a:r>
              <a:rPr lang="zh-CN" altLang="en-US"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可逆的</a:t>
            </a: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，可以通过 </a:t>
            </a:r>
            <a:r>
              <a:rPr lang="en-US" altLang="zh-CN" sz="2000" b="1" dirty="0">
                <a:latin typeface="Times New Roman" panose="02020503050405090304" pitchFamily="18" charset="0"/>
                <a:ea typeface="Microsoft YaHei" panose="020B0503020204020204" pitchFamily="34" charset="-122"/>
                <a:cs typeface="Times New Roman" panose="02020503050405090304" pitchFamily="18" charset="0"/>
              </a:rPr>
              <a:t>H</a:t>
            </a:r>
            <a:r>
              <a:rPr lang="en-US" altLang="zh-CN" sz="2000" b="1" baseline="-25000" dirty="0">
                <a:latin typeface="Times New Roman" panose="02020503050405090304" pitchFamily="18" charset="0"/>
                <a:ea typeface="Microsoft YaHei" panose="020B0503020204020204" pitchFamily="34" charset="-122"/>
                <a:cs typeface="Times New Roman" panose="02020503050405090304" pitchFamily="18" charset="0"/>
              </a:rPr>
              <a:t>2</a:t>
            </a:r>
            <a:r>
              <a:rPr lang="en-US" altLang="zh-CN" sz="2000" b="1" dirty="0">
                <a:latin typeface="Times New Roman" panose="02020503050405090304" pitchFamily="18" charset="0"/>
                <a:ea typeface="Microsoft YaHei" panose="020B0503020204020204" pitchFamily="34" charset="-122"/>
                <a:cs typeface="Times New Roman" panose="02020503050405090304" pitchFamily="18" charset="0"/>
              </a:rPr>
              <a:t>S </a:t>
            </a: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处理可逆生成 </a:t>
            </a:r>
            <a:r>
              <a:rPr lang="en-US" altLang="zh-CN" sz="2000" b="1" dirty="0">
                <a:latin typeface="Times New Roman" panose="02020503050405090304" pitchFamily="18" charset="0"/>
                <a:ea typeface="Microsoft YaHei" panose="020B0503020204020204" pitchFamily="34" charset="-122"/>
                <a:cs typeface="Times New Roman" panose="02020503050405090304" pitchFamily="18" charset="0"/>
              </a:rPr>
              <a:t>MoS</a:t>
            </a:r>
            <a:r>
              <a:rPr lang="en-US" altLang="zh-CN" sz="2000" b="1" baseline="-25000" dirty="0">
                <a:latin typeface="Times New Roman" panose="02020503050405090304" pitchFamily="18" charset="0"/>
                <a:ea typeface="Microsoft YaHei" panose="020B0503020204020204" pitchFamily="34" charset="-122"/>
                <a:cs typeface="Times New Roman" panose="02020503050405090304" pitchFamily="18" charset="0"/>
              </a:rPr>
              <a:t>2</a:t>
            </a: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a:t>
            </a:r>
            <a:endParaRPr lang="en-US" altLang="zh-CN" sz="2000" b="1" dirty="0">
              <a:latin typeface="Times New Roman" panose="02020503050405090304" pitchFamily="18" charset="0"/>
              <a:ea typeface="Microsoft YaHei" panose="020B0503020204020204" pitchFamily="34" charset="-122"/>
              <a:cs typeface="Times New Roman" panose="02020503050405090304" pitchFamily="18" charset="0"/>
            </a:endParaRPr>
          </a:p>
          <a:p>
            <a:pPr marL="288290" marR="0" lvl="0" indent="-288290" algn="just" defTabSz="514350" rtl="0" eaLnBrk="1" fontAlgn="auto" latinLnBrk="0" hangingPunct="1">
              <a:lnSpc>
                <a:spcPct val="200000"/>
              </a:lnSpc>
              <a:spcBef>
                <a:spcPts val="0"/>
              </a:spcBef>
              <a:spcAft>
                <a:spcPts val="0"/>
              </a:spcAft>
              <a:buClrTx/>
              <a:buSzTx/>
              <a:buFont typeface="Wingdings" panose="05000000000000000000" pitchFamily="2" charset="2"/>
              <a:buChar char="p"/>
              <a:defRPr/>
            </a:pP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基面上的 </a:t>
            </a:r>
            <a:r>
              <a:rPr lang="en-US" altLang="zh-CN" sz="2000" b="1" dirty="0">
                <a:latin typeface="Times New Roman" panose="02020503050405090304" pitchFamily="18" charset="0"/>
                <a:ea typeface="Microsoft YaHei" panose="020B0503020204020204" pitchFamily="34" charset="-122"/>
                <a:cs typeface="Times New Roman" panose="02020503050405090304" pitchFamily="18" charset="0"/>
              </a:rPr>
              <a:t>O </a:t>
            </a: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取代位点能显著</a:t>
            </a:r>
            <a:r>
              <a:rPr lang="zh-CN" altLang="en-US"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提高 </a:t>
            </a:r>
            <a:r>
              <a:rPr lang="en-US" altLang="zh-CN"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HER </a:t>
            </a:r>
            <a:r>
              <a:rPr lang="zh-CN" altLang="en-US" sz="2000" b="1" dirty="0">
                <a:solidFill>
                  <a:srgbClr val="C00000"/>
                </a:solidFill>
                <a:latin typeface="Times New Roman" panose="02020503050405090304" pitchFamily="18" charset="0"/>
                <a:ea typeface="Microsoft YaHei" panose="020B0503020204020204" pitchFamily="34" charset="-122"/>
                <a:cs typeface="Times New Roman" panose="02020503050405090304" pitchFamily="18" charset="0"/>
              </a:rPr>
              <a:t>活性</a:t>
            </a:r>
            <a:r>
              <a:rPr lang="zh-CN" altLang="en-US" sz="2000" b="1" dirty="0">
                <a:latin typeface="Times New Roman" panose="02020503050405090304" pitchFamily="18" charset="0"/>
                <a:ea typeface="Microsoft YaHei" panose="020B0503020204020204" pitchFamily="34" charset="-122"/>
                <a:cs typeface="Times New Roman" panose="02020503050405090304" pitchFamily="18" charset="0"/>
              </a:rPr>
              <a:t>，为二维材料基面功能化和单原子催化中心设计提供了新思路</a:t>
            </a:r>
            <a:endParaRPr kumimoji="0" lang="en-US" altLang="zh-CN" sz="2000" b="1" i="0" u="none" strike="noStrike" kern="1200" cap="none" spc="0" normalizeH="0" baseline="0" noProof="0" dirty="0">
              <a:ln>
                <a:noFill/>
              </a:ln>
              <a:effectLst/>
              <a:uLnTx/>
              <a:uFillTx/>
              <a:latin typeface="Times New Roman" panose="02020503050405090304" pitchFamily="18" charset="0"/>
              <a:ea typeface="Microsoft YaHei" panose="020B0503020204020204" pitchFamily="34" charset="-122"/>
              <a:cs typeface="Times New Roman" panose="0202050305040509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图片 65"/>
          <p:cNvPicPr>
            <a:picLocks noChangeAspect="1"/>
          </p:cNvPicPr>
          <p:nvPr/>
        </p:nvPicPr>
        <p:blipFill>
          <a:blip r:embed="rId1"/>
          <a:stretch>
            <a:fillRect/>
          </a:stretch>
        </p:blipFill>
        <p:spPr>
          <a:xfrm>
            <a:off x="0" y="0"/>
            <a:ext cx="12192000" cy="6858000"/>
          </a:xfrm>
          <a:prstGeom prst="rect">
            <a:avLst/>
          </a:prstGeom>
        </p:spPr>
      </p:pic>
      <p:grpSp>
        <p:nvGrpSpPr>
          <p:cNvPr id="5" name="组合 4"/>
          <p:cNvGrpSpPr/>
          <p:nvPr/>
        </p:nvGrpSpPr>
        <p:grpSpPr>
          <a:xfrm>
            <a:off x="5583428" y="1571543"/>
            <a:ext cx="2136277" cy="157242"/>
            <a:chOff x="4616246" y="3878362"/>
            <a:chExt cx="5571416" cy="410087"/>
          </a:xfrm>
          <a:solidFill>
            <a:schemeClr val="tx1">
              <a:alpha val="80000"/>
            </a:schemeClr>
          </a:solidFill>
        </p:grpSpPr>
        <p:sp>
          <p:nvSpPr>
            <p:cNvPr id="43"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44"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45"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46"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47"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48"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49"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50"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51"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52"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53"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54"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55"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56"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57"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58"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grpSp>
      <p:grpSp>
        <p:nvGrpSpPr>
          <p:cNvPr id="6" name="组合 5"/>
          <p:cNvGrpSpPr/>
          <p:nvPr/>
        </p:nvGrpSpPr>
        <p:grpSpPr>
          <a:xfrm>
            <a:off x="5579742" y="870097"/>
            <a:ext cx="2144877" cy="612998"/>
            <a:chOff x="4606634" y="2048989"/>
            <a:chExt cx="5593843" cy="1598699"/>
          </a:xfrm>
          <a:solidFill>
            <a:srgbClr val="9A0001">
              <a:alpha val="80000"/>
            </a:srgbClr>
          </a:solidFill>
        </p:grpSpPr>
        <p:sp>
          <p:nvSpPr>
            <p:cNvPr id="31"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32"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33"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34"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35"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36"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37"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38"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39"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40"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41"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42"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grpSp>
      <p:grpSp>
        <p:nvGrpSpPr>
          <p:cNvPr id="7" name="组合 6"/>
          <p:cNvGrpSpPr/>
          <p:nvPr/>
        </p:nvGrpSpPr>
        <p:grpSpPr>
          <a:xfrm>
            <a:off x="4467381" y="802424"/>
            <a:ext cx="960649" cy="958410"/>
            <a:chOff x="2105799" y="20055838"/>
            <a:chExt cx="6748090" cy="6732363"/>
          </a:xfrm>
          <a:solidFill>
            <a:srgbClr val="9A0001">
              <a:alpha val="80000"/>
            </a:srgbClr>
          </a:solidFill>
        </p:grpSpPr>
        <p:sp>
          <p:nvSpPr>
            <p:cNvPr id="8"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9"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10"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11"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12"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13"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14"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15"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16"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17"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18"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19"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20"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21"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22"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23"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24"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25"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26"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27"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28"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29"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30"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grpSp>
      <p:sp>
        <p:nvSpPr>
          <p:cNvPr id="63" name="矩形 62"/>
          <p:cNvSpPr/>
          <p:nvPr/>
        </p:nvSpPr>
        <p:spPr>
          <a:xfrm>
            <a:off x="5763361" y="4870019"/>
            <a:ext cx="665278" cy="45720"/>
          </a:xfrm>
          <a:prstGeom prst="rect">
            <a:avLst/>
          </a:prstGeom>
          <a:solidFill>
            <a:srgbClr val="9A000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64" name="矩形 63"/>
          <p:cNvSpPr/>
          <p:nvPr/>
        </p:nvSpPr>
        <p:spPr>
          <a:xfrm>
            <a:off x="1454149" y="2788478"/>
            <a:ext cx="9347200" cy="707886"/>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1" i="0" u="none" strike="noStrike" kern="1200" cap="none" spc="300" normalizeH="0" baseline="0" noProof="0" dirty="0">
                <a:ln>
                  <a:noFill/>
                </a:ln>
                <a:solidFill>
                  <a:srgbClr val="9A0001"/>
                </a:solidFill>
                <a:effectLst/>
                <a:uLnTx/>
                <a:uFillTx/>
                <a:latin typeface="Arial" panose="020B0604020202090204" pitchFamily="34" charset="0"/>
                <a:ea typeface="Microsoft YaHei" panose="020B0503020204020204" pitchFamily="34" charset="-122"/>
                <a:cs typeface="+mn-ea"/>
                <a:sym typeface="Arial" panose="020B0604020202090204" pitchFamily="34" charset="0"/>
              </a:rPr>
              <a:t>谢谢</a:t>
            </a:r>
            <a:endParaRPr kumimoji="0" lang="zh-CN" altLang="en-US" sz="4000" b="1" i="0" u="none" strike="noStrike" kern="1200" cap="none" spc="300" normalizeH="0" baseline="0" noProof="0" dirty="0">
              <a:ln>
                <a:noFill/>
              </a:ln>
              <a:solidFill>
                <a:srgbClr val="9A0001"/>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
        <p:nvSpPr>
          <p:cNvPr id="68" name="矩形 67"/>
          <p:cNvSpPr/>
          <p:nvPr/>
        </p:nvSpPr>
        <p:spPr>
          <a:xfrm flipV="1">
            <a:off x="0" y="6802310"/>
            <a:ext cx="12192000" cy="62214"/>
          </a:xfrm>
          <a:prstGeom prst="rect">
            <a:avLst/>
          </a:prstGeom>
          <a:solidFill>
            <a:srgbClr val="9A000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pitchFamily="34" charset="-122"/>
              <a:cs typeface="+mn-ea"/>
              <a:sym typeface="Arial" panose="020B0604020202090204" pitchFamily="34" charset="0"/>
            </a:endParaRPr>
          </a:p>
        </p:txBody>
      </p:sp>
    </p:spTree>
  </p:cSld>
  <p:clrMapOvr>
    <a:masterClrMapping/>
  </p:clrMapOvr>
</p:sld>
</file>

<file path=ppt/theme/theme1.xml><?xml version="1.0" encoding="utf-8"?>
<a:theme xmlns:a="http://schemas.openxmlformats.org/drawingml/2006/main" name="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90204" pitchFamily="34" charset="0"/>
            <a:ea typeface="Microsoft YaHei" panose="020B0503020204020204" pitchFamily="34" charset="-122"/>
            <a:cs typeface="+mn-ea"/>
            <a:sym typeface="Arial" panose="020B060402020209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90204" pitchFamily="34" charset="0"/>
            <a:ea typeface="Microsoft YaHei" panose="020B0503020204020204" pitchFamily="34" charset="-122"/>
            <a:cs typeface="+mn-ea"/>
            <a:sym typeface="Arial" panose="020B060402020209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1511</Words>
  <Application>WPS Docs</Application>
  <PresentationFormat>宽屏</PresentationFormat>
  <Paragraphs>99</Paragraphs>
  <Slides>11</Slides>
  <Notes>11</Notes>
  <HiddenSlides>0</HiddenSlides>
  <MMClips>0</MMClips>
  <ScaleCrop>false</ScaleCrop>
  <HeadingPairs>
    <vt:vector size="6" baseType="variant">
      <vt:variant>
        <vt:lpstr>已用的字体</vt:lpstr>
      </vt:variant>
      <vt:variant>
        <vt:i4>27</vt:i4>
      </vt:variant>
      <vt:variant>
        <vt:lpstr>主题</vt:lpstr>
      </vt:variant>
      <vt:variant>
        <vt:i4>2</vt:i4>
      </vt:variant>
      <vt:variant>
        <vt:lpstr>幻灯片标题</vt:lpstr>
      </vt:variant>
      <vt:variant>
        <vt:i4>11</vt:i4>
      </vt:variant>
    </vt:vector>
  </HeadingPairs>
  <TitlesOfParts>
    <vt:vector size="40" baseType="lpstr">
      <vt:lpstr>Arial</vt:lpstr>
      <vt:lpstr>SimSun</vt:lpstr>
      <vt:lpstr>Wingdings</vt:lpstr>
      <vt:lpstr>Microsoft YaHei</vt:lpstr>
      <vt:lpstr>汉仪旗黑</vt:lpstr>
      <vt:lpstr>经典圆体简</vt:lpstr>
      <vt:lpstr>Arial</vt:lpstr>
      <vt:lpstr>Calibri</vt:lpstr>
      <vt:lpstr>Helvetica Neue</vt:lpstr>
      <vt:lpstr>汉仪书宋二KW</vt:lpstr>
      <vt:lpstr>华文中宋</vt:lpstr>
      <vt:lpstr>Times New Roman</vt:lpstr>
      <vt:lpstr>Inter</vt:lpstr>
      <vt:lpstr>等线</vt:lpstr>
      <vt:lpstr>等线</vt:lpstr>
      <vt:lpstr>Arial Unicode MS</vt:lpstr>
      <vt:lpstr>汉仪中等线KW</vt:lpstr>
      <vt:lpstr>华文宋体</vt:lpstr>
      <vt:lpstr>Thonburi</vt:lpstr>
      <vt:lpstr>Inter</vt:lpstr>
      <vt:lpstr>Microsoft YaHei</vt:lpstr>
      <vt:lpstr>SimSun</vt:lpstr>
      <vt:lpstr>Wingdings</vt:lpstr>
      <vt:lpstr>华文中宋</vt:lpstr>
      <vt:lpstr>等线</vt:lpstr>
      <vt:lpstr>苹方-简</vt:lpstr>
      <vt:lpstr>SimSun</vt:lpstr>
      <vt:lpstr>自定义设计方案</vt:lpstr>
      <vt:lpstr>1_自定义设计方案</vt:lpstr>
      <vt:lpstr>PowerPoint 演示文稿</vt:lpstr>
      <vt:lpstr>研究背景 </vt:lpstr>
      <vt:lpstr>研究背景 </vt:lpstr>
      <vt:lpstr>结果与讨论——</vt:lpstr>
      <vt:lpstr>结果与讨论</vt:lpstr>
      <vt:lpstr>结果与讨论</vt:lpstr>
      <vt:lpstr>结果与讨论</vt:lpstr>
      <vt:lpstr>结果与讨论</vt:lpstr>
      <vt:lpstr>结果与讨论</vt:lpstr>
      <vt:lpstr>总结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1.2 太阳能电池研究进展</dc:title>
  <dc:creator>悦童 吴</dc:creator>
  <cp:lastModifiedBy> </cp:lastModifiedBy>
  <cp:revision>79</cp:revision>
  <dcterms:created xsi:type="dcterms:W3CDTF">2026-07-26T01:48:04Z</dcterms:created>
  <dcterms:modified xsi:type="dcterms:W3CDTF">2026-07-26T01:48:04Z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9E18800A9429C92D5467656AF0250288_43</vt:lpwstr>
  </property>
  <property fmtid="{D5CDD505-2E9C-101B-9397-08002B2CF9AE}" pid="3" name="KSOProductBuildVer">
    <vt:lpwstr>1033-12.1.26035.26035</vt:lpwstr>
  </property>
</Properties>
</file>