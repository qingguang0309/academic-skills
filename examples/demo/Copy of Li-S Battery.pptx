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67" r:id="rId6"/>
    <p:sldId id="268" r:id="rId7"/>
    <p:sldId id="265" r:id="rId8"/>
    <p:sldId id="263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7639F-799B-4A2B-B888-DB9C58E5F3AF}" type="datetimeFigureOut">
              <a:rPr lang="en-GB" smtClean="0"/>
            </a:fld>
            <a:endParaRPr lang="en-GB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9365D-750F-4F7F-9D9A-4E2720F2B68B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GB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0AC0C-AB18-49E6-B1AF-B0F64318A6D8}" type="datetimeFigureOut">
              <a:rPr lang="en-GB" smtClean="0"/>
            </a:fld>
            <a:endParaRPr lang="en-GB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98DE3-CAC7-4E7D-89CC-9827E88A4B24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png"/><Relationship Id="rId3" Type="http://schemas.openxmlformats.org/officeDocument/2006/relationships/image" Target="../media/image14.emf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2/divider_b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206240" y="0"/>
            <a:ext cx="7982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pic>
        <p:nvPicPr>
          <p:cNvPr id="4" name="Image 1" descr="assets2/pku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74320"/>
            <a:ext cx="1481328" cy="5369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697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PART 03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3310128" y="269748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663440" y="2395728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Optimizing Strategies</a:t>
            </a:r>
            <a:endParaRPr lang="en-US" sz="5400" dirty="0"/>
          </a:p>
        </p:txBody>
      </p:sp>
      <p:sp>
        <p:nvSpPr>
          <p:cNvPr id="8" name="Shape 4"/>
          <p:cNvSpPr/>
          <p:nvPr/>
        </p:nvSpPr>
        <p:spPr>
          <a:xfrm>
            <a:off x="4690872" y="3566160"/>
            <a:ext cx="1371600" cy="54864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4690872" y="370332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9595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Strategies for Enhancing Battery Performance and Longevity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89438"/>
            <a:ext cx="990915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3133" y="887966"/>
            <a:ext cx="7725734" cy="2826376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8605240" y="6468562"/>
            <a:ext cx="3741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Rare Met. 44, 1556–1576 (2025).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0" name="矩形: 圓角 9"/>
          <p:cNvSpPr/>
          <p:nvPr/>
        </p:nvSpPr>
        <p:spPr>
          <a:xfrm>
            <a:off x="352779" y="4103554"/>
            <a:ext cx="4520079" cy="218034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Being operated based on solvation reactions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Novel reaction kinetics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Compatible with large </a:t>
            </a:r>
            <a:r>
              <a:rPr lang="en-GB" dirty="0" err="1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sulfur</a:t>
            </a: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particles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矩形: 圓角 10"/>
          <p:cNvSpPr/>
          <p:nvPr/>
        </p:nvSpPr>
        <p:spPr>
          <a:xfrm>
            <a:off x="6888900" y="4093614"/>
            <a:ext cx="4520079" cy="218034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High E/S ratio is necessary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Serve shutting effect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Hard to achieve high loading </a:t>
            </a:r>
            <a:r>
              <a:rPr lang="en-GB" dirty="0" err="1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sulfur</a:t>
            </a: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cathode 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Safety</a:t>
            </a:r>
            <a:endParaRPr lang="en-GB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233133" y="3724282"/>
            <a:ext cx="75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Pros</a:t>
            </a:r>
            <a:endParaRPr lang="en-GB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8769253" y="3734222"/>
            <a:ext cx="75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Cons</a:t>
            </a:r>
            <a:endParaRPr lang="en-GB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6895153" y="683420"/>
            <a:ext cx="3016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90204" pitchFamily="34" charset="0"/>
                <a:cs typeface="Arial" panose="020B0604020202090204" pitchFamily="34" charset="0"/>
              </a:rPr>
              <a:t>Dissolution-precipitation</a:t>
            </a:r>
            <a:endParaRPr lang="en-GB" b="1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89438"/>
            <a:ext cx="990915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6" y="793013"/>
            <a:ext cx="11508828" cy="2382908"/>
          </a:xfrm>
          <a:prstGeom prst="rect">
            <a:avLst/>
          </a:prstGeom>
        </p:spPr>
      </p:pic>
      <p:sp>
        <p:nvSpPr>
          <p:cNvPr id="20" name="文字方塊 19"/>
          <p:cNvSpPr txBox="1"/>
          <p:nvPr/>
        </p:nvSpPr>
        <p:spPr>
          <a:xfrm>
            <a:off x="6801319" y="31759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Nano Energy, Volume 104, Part B, 2022, 107913</a:t>
            </a:r>
            <a:endParaRPr lang="en-GB" altLang="zh-CN" dirty="0">
              <a:solidFill>
                <a:srgbClr val="00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3" name="圖片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60"/>
          <a:stretch>
            <a:fillRect/>
          </a:stretch>
        </p:blipFill>
        <p:spPr>
          <a:xfrm>
            <a:off x="341586" y="3545253"/>
            <a:ext cx="5920992" cy="2101795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60"/>
          <a:stretch>
            <a:fillRect/>
          </a:stretch>
        </p:blipFill>
        <p:spPr>
          <a:xfrm>
            <a:off x="6271008" y="3545253"/>
            <a:ext cx="5920992" cy="2101795"/>
          </a:xfrm>
          <a:prstGeom prst="rect">
            <a:avLst/>
          </a:prstGeom>
        </p:spPr>
      </p:pic>
      <p:sp>
        <p:nvSpPr>
          <p:cNvPr id="26" name="文字方塊 25"/>
          <p:cNvSpPr txBox="1"/>
          <p:nvPr/>
        </p:nvSpPr>
        <p:spPr>
          <a:xfrm>
            <a:off x="6624427" y="5754024"/>
            <a:ext cx="644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latin typeface="Arial" panose="020B0604020202090204" pitchFamily="34" charset="0"/>
                <a:cs typeface="Arial" panose="020B0604020202090204" pitchFamily="34" charset="0"/>
              </a:rPr>
              <a:t>Energy Storage Materials, Volume 38, 2021, 255-261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7" name="箭號: 向右 26"/>
          <p:cNvSpPr/>
          <p:nvPr/>
        </p:nvSpPr>
        <p:spPr>
          <a:xfrm>
            <a:off x="654014" y="6123356"/>
            <a:ext cx="2068286" cy="642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文字方塊 29"/>
          <p:cNvSpPr txBox="1"/>
          <p:nvPr/>
        </p:nvSpPr>
        <p:spPr>
          <a:xfrm>
            <a:off x="2846704" y="6216447"/>
            <a:ext cx="8356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90204" pitchFamily="34" charset="0"/>
                <a:cs typeface="Arial" panose="020B0604020202090204" pitchFamily="34" charset="0"/>
              </a:rPr>
              <a:t>Low E/S ratio is not suitable because of the sluggish reaction kinetics </a:t>
            </a:r>
            <a:endParaRPr lang="en-GB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89438"/>
            <a:ext cx="990915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6575808" y="6468562"/>
            <a:ext cx="644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Energy Storage Materials, Volume 38, 2021, 255-261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r="48833" b="51982"/>
          <a:stretch>
            <a:fillRect/>
          </a:stretch>
        </p:blipFill>
        <p:spPr>
          <a:xfrm>
            <a:off x="1527048" y="1187505"/>
            <a:ext cx="3439015" cy="2495313"/>
          </a:xfrm>
          <a:prstGeom prst="rect">
            <a:avLst/>
          </a:prstGeom>
        </p:spPr>
      </p:pic>
      <p:sp>
        <p:nvSpPr>
          <p:cNvPr id="8" name="矩形: 圓角 7"/>
          <p:cNvSpPr/>
          <p:nvPr/>
        </p:nvSpPr>
        <p:spPr>
          <a:xfrm>
            <a:off x="5785323" y="1594556"/>
            <a:ext cx="6112763" cy="423206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1F1F1F"/>
                </a:solidFill>
                <a:effectLst/>
                <a:latin typeface="Arial" panose="020B0604020202090204" pitchFamily="34" charset="0"/>
                <a:cs typeface="Arial" panose="020B0604020202090204" pitchFamily="34" charset="0"/>
              </a:rPr>
              <a:t>With the decrease of the E/S ratio, the contact angles of the solutions with both the separator and sulfur electrode increase continuously</a:t>
            </a:r>
            <a:endParaRPr lang="en-US" dirty="0">
              <a:solidFill>
                <a:srgbClr val="1F1F1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solidFill>
                <a:srgbClr val="1F1F1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US" dirty="0">
              <a:solidFill>
                <a:srgbClr val="1F1F1F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Indicating a progressively deteriorating wettability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Migration ability of Li+ in the ether electrolyte is also reduced</a:t>
            </a:r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8" t="52045"/>
          <a:stretch>
            <a:fillRect/>
          </a:stretch>
        </p:blipFill>
        <p:spPr>
          <a:xfrm>
            <a:off x="1246849" y="3733047"/>
            <a:ext cx="3719214" cy="28118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494" y="4157251"/>
            <a:ext cx="3227466" cy="2017166"/>
          </a:xfrm>
          <a:prstGeom prst="rect">
            <a:avLst/>
          </a:prstGeom>
        </p:spPr>
      </p:pic>
      <p:sp>
        <p:nvSpPr>
          <p:cNvPr id="11" name="語音泡泡: 橢圓形 10"/>
          <p:cNvSpPr/>
          <p:nvPr/>
        </p:nvSpPr>
        <p:spPr>
          <a:xfrm>
            <a:off x="93468" y="1872342"/>
            <a:ext cx="3585903" cy="1836989"/>
          </a:xfrm>
          <a:prstGeom prst="wedgeEllipse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What Makes Li-S Batteries distinct from other batteries </a:t>
            </a:r>
            <a:endParaRPr lang="en-GB" sz="2000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801" y="3804997"/>
            <a:ext cx="4279867" cy="2516303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711" y="707007"/>
            <a:ext cx="3441817" cy="272199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404623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443949" y="3524665"/>
            <a:ext cx="2480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latin typeface="Arial" panose="020B0604020202090204" pitchFamily="34" charset="0"/>
                <a:cs typeface="Arial" panose="020B0604020202090204" pitchFamily="34" charset="0"/>
              </a:rPr>
              <a:t>Boteju, T., et al., 2023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39" y="4049445"/>
            <a:ext cx="2202004" cy="2202004"/>
          </a:xfrm>
          <a:prstGeom prst="rect">
            <a:avLst/>
          </a:prstGeom>
        </p:spPr>
      </p:pic>
      <p:sp>
        <p:nvSpPr>
          <p:cNvPr id="18" name="箭號: 向下 17"/>
          <p:cNvSpPr/>
          <p:nvPr/>
        </p:nvSpPr>
        <p:spPr>
          <a:xfrm rot="16200000">
            <a:off x="7746585" y="2095982"/>
            <a:ext cx="566929" cy="10849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: 圓角 18"/>
              <p:cNvSpPr/>
              <p:nvPr/>
            </p:nvSpPr>
            <p:spPr>
              <a:xfrm>
                <a:off x="8708571" y="1253750"/>
                <a:ext cx="3389961" cy="233495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Only responsible for conducting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</m:t>
                        </m:r>
                      </m:e>
                      <m:sup>
                        <m: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ion</a:t>
                </a:r>
                <a:endParaRPr lang="en-GB" dirty="0"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GB" dirty="0"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Small amount of electrolyte  </a:t>
                </a:r>
                <a:endParaRPr lang="en-GB" dirty="0"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mc:Choice>
        <mc:Fallback>
          <p:sp>
            <p:nvSpPr>
              <p:cNvPr id="19" name="矩形: 圓角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71" y="1253750"/>
                <a:ext cx="3389961" cy="2334958"/>
              </a:xfrm>
              <a:prstGeom prst="roundRect">
                <a:avLst/>
              </a:prstGeom>
              <a:blipFill rotWithShape="1">
                <a:blip r:embed="rId6"/>
                <a:stretch>
                  <a:fillRect l="-436" t="-637" r="-416" b="-612"/>
                </a:stretch>
              </a:blip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: 圓角 23"/>
              <p:cNvSpPr/>
              <p:nvPr/>
            </p:nvSpPr>
            <p:spPr>
              <a:xfrm>
                <a:off x="8708570" y="4049445"/>
                <a:ext cx="3389961" cy="233495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altLang="zh-CN" sz="1800" dirty="0"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Responsible for conducting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</m:t>
                        </m:r>
                      </m:e>
                      <m:sup>
                        <m:r>
                          <a:rPr lang="en-GB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altLang="zh-CN" sz="1800" dirty="0"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ion and dissolving polysulfides</a:t>
                </a:r>
                <a:endParaRPr lang="en-GB" altLang="zh-CN" sz="1800" dirty="0"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GB" dirty="0">
                  <a:solidFill>
                    <a:schemeClr val="tx1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Large amount of electrolyte is necessary </a:t>
                </a:r>
                <a:endParaRPr lang="en-GB" dirty="0"/>
              </a:p>
            </p:txBody>
          </p:sp>
        </mc:Choice>
        <mc:Fallback>
          <p:sp>
            <p:nvSpPr>
              <p:cNvPr id="24" name="矩形: 圓角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70" y="4049445"/>
                <a:ext cx="3389961" cy="2334958"/>
              </a:xfrm>
              <a:prstGeom prst="roundRect">
                <a:avLst/>
              </a:prstGeom>
              <a:blipFill rotWithShape="1">
                <a:blip r:embed="rId7"/>
                <a:stretch>
                  <a:fillRect l="-436" t="-628" r="-416" b="-593"/>
                </a:stretch>
              </a:blip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號: 向下 24"/>
          <p:cNvSpPr/>
          <p:nvPr/>
        </p:nvSpPr>
        <p:spPr>
          <a:xfrm rot="16200000">
            <a:off x="7746585" y="4623382"/>
            <a:ext cx="566929" cy="10849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語音泡泡: 橢圓形 25"/>
          <p:cNvSpPr/>
          <p:nvPr/>
        </p:nvSpPr>
        <p:spPr>
          <a:xfrm>
            <a:off x="118965" y="1979437"/>
            <a:ext cx="4279867" cy="1836989"/>
          </a:xfrm>
          <a:prstGeom prst="wedgeEllipse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Unburden the electrolyte and let it focus on its true purpose</a:t>
            </a:r>
            <a:endParaRPr lang="en-GB" sz="2000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926286" y="6417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Nat Energy 3, 783–791 (2018)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66928" y="999864"/>
            <a:ext cx="11418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To achieve a low E/S ratio cell, it is important to decouple the electrolyte volume and sulfur speciation pathway.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2352" r="67848"/>
          <a:stretch>
            <a:fillRect/>
          </a:stretch>
        </p:blipFill>
        <p:spPr>
          <a:xfrm>
            <a:off x="304754" y="1408938"/>
            <a:ext cx="2732360" cy="365973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4" t="42352" r="518"/>
          <a:stretch>
            <a:fillRect/>
          </a:stretch>
        </p:blipFill>
        <p:spPr>
          <a:xfrm>
            <a:off x="3234004" y="1408938"/>
            <a:ext cx="2732360" cy="3363055"/>
          </a:xfrm>
          <a:prstGeom prst="rect">
            <a:avLst/>
          </a:prstGeom>
        </p:spPr>
      </p:pic>
      <p:pic>
        <p:nvPicPr>
          <p:cNvPr id="36" name="圖片 35"/>
          <p:cNvPicPr>
            <a:picLocks noChangeAspect="1"/>
          </p:cNvPicPr>
          <p:nvPr/>
        </p:nvPicPr>
        <p:blipFill>
          <a:blip r:embed="rId3"/>
          <a:srcRect l="6617" r="52067" b="56130"/>
          <a:stretch>
            <a:fillRect/>
          </a:stretch>
        </p:blipFill>
        <p:spPr>
          <a:xfrm>
            <a:off x="7897063" y="1657874"/>
            <a:ext cx="3883152" cy="2684943"/>
          </a:xfrm>
          <a:prstGeom prst="rect">
            <a:avLst/>
          </a:prstGeom>
        </p:spPr>
      </p:pic>
      <p:sp>
        <p:nvSpPr>
          <p:cNvPr id="40" name="文字方塊 39"/>
          <p:cNvSpPr txBox="1"/>
          <p:nvPr/>
        </p:nvSpPr>
        <p:spPr>
          <a:xfrm>
            <a:off x="991035" y="4939974"/>
            <a:ext cx="105700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By reducing free solvents, the dissolution of polysulfides is suppressed to realize a quasi-solid-solid reaction.</a:t>
            </a:r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The sulfur electrochemical reaction is decoupled from the electrolyte volume and effectively inhibits lithium metal side reactions.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5325778" y="3447717"/>
            <a:ext cx="2653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3D network/Aggregate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43"/>
              <p:cNvSpPr txBox="1"/>
              <p:nvPr/>
            </p:nvSpPr>
            <p:spPr>
              <a:xfrm>
                <a:off x="8678578" y="4218122"/>
                <a:ext cx="26534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The solubility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  <m:t>𝐋𝐢</m:t>
                        </m:r>
                      </m:e>
                      <m:sub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  <m:t>𝐒</m:t>
                        </m:r>
                      </m:e>
                      <m:sub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  <m:t>𝟖</m:t>
                        </m:r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90204" pitchFamily="34" charset="0"/>
                          </a:rPr>
                          <m:t> </m:t>
                        </m:r>
                      </m:sub>
                    </m:sSub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90204" pitchFamily="34" charset="0"/>
                      </a:rPr>
                      <m:t> </m:t>
                    </m:r>
                  </m:oMath>
                </a14:m>
                <a:endParaRPr lang="en-GB" altLang="zh-CN" b="1" dirty="0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mc:Choice>
        <mc:Fallback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578" y="4218122"/>
                <a:ext cx="2653451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" t="-122" r="17" b="-80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926286" y="6417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Nat Energy 3, 783–791 (2018)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30"/>
          <a:stretch>
            <a:fillRect/>
          </a:stretch>
        </p:blipFill>
        <p:spPr>
          <a:xfrm>
            <a:off x="3418081" y="1274648"/>
            <a:ext cx="4816864" cy="2590800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742" b="71063"/>
          <a:stretch>
            <a:fillRect/>
          </a:stretch>
        </p:blipFill>
        <p:spPr>
          <a:xfrm>
            <a:off x="185895" y="3901444"/>
            <a:ext cx="2506997" cy="1978841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47" r="55850" b="36696"/>
          <a:stretch>
            <a:fillRect/>
          </a:stretch>
        </p:blipFill>
        <p:spPr>
          <a:xfrm>
            <a:off x="2884865" y="3808493"/>
            <a:ext cx="2650648" cy="2164741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55" r="57161" b="2488"/>
          <a:stretch>
            <a:fillRect/>
          </a:stretch>
        </p:blipFill>
        <p:spPr>
          <a:xfrm>
            <a:off x="5727486" y="3808493"/>
            <a:ext cx="2649149" cy="2229732"/>
          </a:xfrm>
          <a:prstGeom prst="rect">
            <a:avLst/>
          </a:prstGeom>
        </p:spPr>
      </p:pic>
      <p:sp>
        <p:nvSpPr>
          <p:cNvPr id="20" name="矩形: 圓角 19"/>
          <p:cNvSpPr/>
          <p:nvPr/>
        </p:nvSpPr>
        <p:spPr>
          <a:xfrm>
            <a:off x="8365112" y="1123901"/>
            <a:ext cx="3771622" cy="5293401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Liquid state reaction is gradually converted to be qusai-solid state reaction when solvent is getting less 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System with G2:LiTFSI(0.8:1) can run for 100 cycles with the CE of 100%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The issue of corrosion of lithium anode is eased 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174372" y="5955637"/>
            <a:ext cx="8190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Reaction kinetics of qusai-solid state reaction is sluggish, leading to limited rate and cycle performance </a:t>
            </a:r>
            <a:endParaRPr lang="en-GB" b="1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56" b="49365"/>
          <a:stretch>
            <a:fillRect/>
          </a:stretch>
        </p:blipFill>
        <p:spPr>
          <a:xfrm>
            <a:off x="55266" y="1123901"/>
            <a:ext cx="3362815" cy="28922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+ Surface-Localized Liquid Phase 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732215" y="64785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Nat. Chem. 17, 614–623 (2025)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GB"/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07" y="891928"/>
            <a:ext cx="6096001" cy="3855309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70" t="70550"/>
          <a:stretch>
            <a:fillRect/>
          </a:stretch>
        </p:blipFill>
        <p:spPr>
          <a:xfrm>
            <a:off x="7208402" y="1612960"/>
            <a:ext cx="3982112" cy="2219976"/>
          </a:xfrm>
          <a:prstGeom prst="rect">
            <a:avLst/>
          </a:prstGeom>
        </p:spPr>
      </p:pic>
      <p:sp>
        <p:nvSpPr>
          <p:cNvPr id="23" name="文字方塊 22"/>
          <p:cNvSpPr txBox="1"/>
          <p:nvPr/>
        </p:nvSpPr>
        <p:spPr>
          <a:xfrm>
            <a:off x="213720" y="4846151"/>
            <a:ext cx="117645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Baseline electrolyte configuration: Employing a sparingly-solvating electrolyte to maintain a 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minimally dissolving effect on lithium polysulfides</a:t>
            </a:r>
            <a:endParaRPr lang="en-US" altLang="zh-CN" dirty="0">
              <a:solidFill>
                <a:srgbClr val="FF0000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Introducing BDTS as a "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phase-regulating mediator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" to trigger intermolecular chelation with lithium polysulfides</a:t>
            </a: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Inducing slight particle dissolution to form a </a:t>
            </a:r>
            <a:r>
              <a:rPr lang="en-US" altLang="zh-CN" dirty="0">
                <a:solidFill>
                  <a:srgbClr val="FF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surface-localized liquid phase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, thereby accelerating kinetics and conversion</a:t>
            </a:r>
            <a:endParaRPr lang="en-US" altLang="zh-CN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altLang="zh-CN" dirty="0">
              <a:solidFill>
                <a:schemeClr val="tx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+ Surface-Localized Liquid Phase </a:t>
            </a:r>
            <a:endParaRPr lang="en-US" altLang="zh-CN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8732215" y="6417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90204" pitchFamily="34" charset="0"/>
                <a:cs typeface="Arial" panose="020B0604020202090204" pitchFamily="34" charset="0"/>
              </a:rPr>
              <a:t>Nat. Chem. 17, 614–623 (2025)</a:t>
            </a:r>
            <a:endParaRPr lang="en-GB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AutoShape 2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GB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1203" b="66746"/>
          <a:stretch>
            <a:fillRect/>
          </a:stretch>
        </p:blipFill>
        <p:spPr>
          <a:xfrm>
            <a:off x="816430" y="1169827"/>
            <a:ext cx="4887685" cy="275260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3085" r="1203" b="33492"/>
          <a:stretch>
            <a:fillRect/>
          </a:stretch>
        </p:blipFill>
        <p:spPr>
          <a:xfrm>
            <a:off x="6386343" y="1266681"/>
            <a:ext cx="4691743" cy="26557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566928" y="4263465"/>
                <a:ext cx="1108080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" panose="020B0604020202090204" pitchFamily="34" charset="0"/>
                    <a:cs typeface="Arial" panose="020B0604020202090204" pitchFamily="34" charset="0"/>
                  </a:rPr>
                  <a:t>The Li–S cells achieve excellent kinetics showing 494 mA h </a:t>
                </a:r>
                <a:r>
                  <a:rPr lang="en-US" altLang="zh-CN" dirty="0">
                    <a:latin typeface="Arial" panose="020B0604020202090204" pitchFamily="34" charset="0"/>
                    <a:cs typeface="Arial" panose="020B060402020209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90204" pitchFamily="34" charset="0"/>
                    <a:cs typeface="Arial" panose="020B0604020202090204" pitchFamily="34" charset="0"/>
                  </a:rPr>
                  <a:t>-sulfur capacity at a discharge rate of 16C, and stabilized cycling under lean electrolyte (3–5 </a:t>
                </a:r>
                <a:r>
                  <a:rPr lang="en-US" dirty="0" err="1">
                    <a:latin typeface="Arial" panose="020B0604020202090204" pitchFamily="34" charset="0"/>
                    <a:cs typeface="Arial" panose="020B0604020202090204" pitchFamily="34" charset="0"/>
                  </a:rPr>
                  <a:t>μl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mg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90204" pitchFamily="34" charset="0"/>
                    <a:cs typeface="Arial" panose="020B0604020202090204" pitchFamily="34" charset="0"/>
                  </a:rPr>
                  <a:t>) and high sulfur loading (3–5 mg</a:t>
                </a:r>
                <a:r>
                  <a:rPr lang="en-US" altLang="zh-CN" dirty="0">
                    <a:latin typeface="Arial" panose="020B0604020202090204" pitchFamily="34" charset="0"/>
                    <a:cs typeface="Arial" panose="020B060402020209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90204" pitchFamily="34" charset="0"/>
                    <a:cs typeface="Arial" panose="020B0604020202090204" pitchFamily="34" charset="0"/>
                  </a:rPr>
                  <a:t>)</a:t>
                </a:r>
                <a:endParaRPr lang="en-GB" dirty="0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4263465"/>
                <a:ext cx="11080809" cy="646331"/>
              </a:xfrm>
              <a:prstGeom prst="rect">
                <a:avLst/>
              </a:prstGeom>
              <a:blipFill rotWithShape="1">
                <a:blip r:embed="rId3"/>
                <a:stretch>
                  <a:fillRect l="-5" t="-12" r="5" b="-648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2923</Words>
  <Application>WPS Docs</Application>
  <PresentationFormat>寬螢幕</PresentationFormat>
  <Paragraphs>114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SimSun</vt:lpstr>
      <vt:lpstr>Wingdings</vt:lpstr>
      <vt:lpstr>Arial</vt:lpstr>
      <vt:lpstr>Arial</vt:lpstr>
      <vt:lpstr>Cambria Math</vt:lpstr>
      <vt:lpstr>Kingsoft Math</vt:lpstr>
      <vt:lpstr>等线</vt:lpstr>
      <vt:lpstr>汉仪中等线KW</vt:lpstr>
      <vt:lpstr>汉仪书宋二KW</vt:lpstr>
      <vt:lpstr>Apple Symbols</vt:lpstr>
      <vt:lpstr>Microsoft YaHei</vt:lpstr>
      <vt:lpstr>汉仪旗黑</vt:lpstr>
      <vt:lpstr>Arial Unicode MS</vt:lpstr>
      <vt:lpstr>PMingLiU</vt:lpstr>
      <vt:lpstr>宋体-繁</vt:lpstr>
      <vt:lpstr>等线 Light</vt:lpstr>
      <vt:lpstr>Calibri</vt:lpstr>
      <vt:lpstr>Helvetica Neue</vt:lpstr>
      <vt:lpstr>Wingdings</vt:lpstr>
      <vt:lpstr>Office 佈景主題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 Agonie</dc:creator>
  <cp:lastModifiedBy> </cp:lastModifiedBy>
  <cp:revision>27</cp:revision>
  <dcterms:created xsi:type="dcterms:W3CDTF">2026-07-26T01:48:32Z</dcterms:created>
  <dcterms:modified xsi:type="dcterms:W3CDTF">2026-07-26T01:48:32Z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B9CBF527544137AC7067656A3583FCB0_43</vt:lpwstr>
  </property>
  <property fmtid="{D5CDD505-2E9C-101B-9397-08002B2CF9AE}" pid="3" name="KSOProductBuildVer">
    <vt:lpwstr>1033-12.1.26035.26035</vt:lpwstr>
  </property>
</Properties>
</file>