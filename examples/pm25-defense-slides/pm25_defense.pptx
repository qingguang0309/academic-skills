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开场：PM2.5 是我国首位环境健康风险因子；高浓度段的个体水平长期证据仍薄弱，这正是本论文的切入点。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口头点出三个缺口：负担重、证据偏低浓度、暴露测量粗。本研究对应解决后两个。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这一页停留久些：三个数字是全篇的基础，后面每个结果都回到它们。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先讲这张图给评审建立全局，再逐页展开细节；被问方法时回到本页定位。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强调结局来源是两个独立数据库链接，不依赖自报；失访率低是队列质量的关键指标。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评审最可能问暴露误差：回答有两层——分辨率到 1 km,且用交叉验证给出误差量级。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 (a) 讲“没有饱和”这一条：它直接支撑“标准应继续收紧”的政策含义。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从相对风险走到绝对风险再走到可避免负担——这是流行病学结果转化为政策语言的三步。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逐行念：效应量在各模型间波动不超过 2%,共暴露调整后仍显著——这是稳健性的核心证据。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期间保持本页。若被问局限，转下一页。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主动讲局限并给出已做的缓解措施，比等评审提问更有说服力。三条局限都要说清"已经做了什么"。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结束页；被追问细节时退回结论页或附录。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3080"/>
            <a:ext cx="12188952" cy="3017520"/>
          </a:xfrm>
          <a:prstGeom prst="rect">
            <a:avLst/>
          </a:prstGeom>
          <a:solidFill>
            <a:srgbClr val="9A0001"/>
          </a:solidFill>
          <a:ln/>
        </p:spPr>
      </p:sp>
      <p:pic>
        <p:nvPicPr>
          <p:cNvPr id="3" name="Image 0" descr="/private/tmp/claude-501/-Users-shodan-project-academic-skills/f72c3991-28bc-42b3-ba37-8b133c5e8d3f/scratchpad/pm25/assets/pku-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735" y="502920"/>
            <a:ext cx="1289482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95728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ctr"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长期暴露与心血管疾病发病风险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95020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基于多中心前瞻性队列的暴露</a:t>
            </a:r>
            <a:pPr algn="ctr" indent="0" marL="0">
              <a:buNone/>
            </a:pPr>
            <a:r>
              <a:rPr lang="en-US" sz="1500" dirty="0">
                <a:solidFill>
                  <a:srgbClr val="E6B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algn="ctr" indent="0" marL="0">
              <a:buNone/>
            </a:pPr>
            <a:r>
              <a:rPr lang="en-US" sz="150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反应关系与可避免疾病负担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74436" y="4407408"/>
            <a:ext cx="640080" cy="12802"/>
          </a:xfrm>
          <a:prstGeom prst="rect">
            <a:avLst/>
          </a:prstGeom>
          <a:solidFill>
            <a:srgbClr val="E6BEB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468112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公共卫生学院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5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高浓度段的证据缺口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关系形状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亚组一致性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可避免负担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高浓度段的证据缺口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1637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7438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7959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我国高浓度暴露区间缺少个体水平的长期队列证据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330520" y="1564132"/>
            <a:ext cx="4409101" cy="2965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AD8"/>
            </a:solidFill>
            <a:prstDash val="solid"/>
          </a:ln>
        </p:spPr>
      </p:sp>
      <p:pic>
        <p:nvPicPr>
          <p:cNvPr id="6" name="Image 1" descr="assets/web/haze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096" y="1600708"/>
            <a:ext cx="4335949" cy="28920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584192"/>
            <a:ext cx="5753405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重污染日的城市天际线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(eflon / CC BY / flickr)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23253" y="1740205"/>
            <a:ext cx="4707331" cy="55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疾病负担：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归因死亡在我国环境风险因子中居首位，其中约六成为心血管疾病。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823253" y="2378253"/>
            <a:ext cx="4707331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823253" y="2478837"/>
            <a:ext cx="4707331" cy="80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证据来源：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支撑现行剂量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反应关系的队列多在年均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μg m⁻³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以下的欧美地区；我国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40–80 μg m⁻³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区间以生态学与横断面研究为主，个体随访证据有限。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823253" y="3367329"/>
            <a:ext cx="4707331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6823253" y="3467913"/>
            <a:ext cx="4707331" cy="55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测量误差：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多数国内队列以城市年均值赋值，这类非差异性误差会把效应估计压低。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" y="5093716"/>
            <a:ext cx="10872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GBD 2021 Risk Factors Collaborators (2024) Lancet;Yin et al. (2017) Circulation;Liang et al. (2020) PNAS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本研究问两件事：曲线形状，以及达标能挽回多少发病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600708"/>
            <a:ext cx="10872216" cy="757936"/>
          </a:xfrm>
          <a:prstGeom prst="roundRect">
            <a:avLst>
              <a:gd name="adj" fmla="val 6032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" y="1833372"/>
            <a:ext cx="920496" cy="292608"/>
          </a:xfrm>
          <a:prstGeom prst="roundRect">
            <a:avLst>
              <a:gd name="adj" fmla="val 50000"/>
            </a:avLst>
          </a:prstGeom>
          <a:solidFill>
            <a:srgbClr val="BE2A2E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833372"/>
            <a:ext cx="92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99488" y="1673860"/>
            <a:ext cx="9311640" cy="61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km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分辨率个体化暴露评估为基础，在我国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40–80 μg m⁻³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的高浓度区间刻画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PM2.5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与心血管疾病发病的暴露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反应关系形状，并量化不同空气质量标准情景下可避免的疾病负担。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596388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0611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 </a:t>
            </a:r>
            <a:pPr algn="ctr" indent="0" marL="0">
              <a:buNone/>
            </a:pPr>
            <a:r>
              <a:rPr lang="en-US" sz="360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95528" y="33279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队列人群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5528" y="36022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45–79 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79976" y="2596388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17136" y="270611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 </a:t>
            </a:r>
            <a:pPr algn="ctr" indent="0" marL="0">
              <a:buNone/>
            </a:pPr>
            <a:r>
              <a:rPr lang="en-US" sz="360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517136" y="33279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中位随访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17136" y="36022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476 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万人年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01584" y="2596388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38744" y="270611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km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8238744" y="33279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暴露分辨率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38744" y="36022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卫星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algn="ctr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地面融合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1637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7438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7959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两条数据链在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Cox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模型处汇合</a:t>
            </a:r>
            <a:endParaRPr lang="en-US" sz="2500" dirty="0"/>
          </a:p>
        </p:txBody>
      </p:sp>
      <p:pic>
        <p:nvPicPr>
          <p:cNvPr id="5" name="Image 1" descr="assets/dg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81887"/>
            <a:ext cx="10872216" cy="28190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492345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研究技术路线（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Graphviz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布局引擎绘制）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58368" y="5001869"/>
            <a:ext cx="10872216" cy="706120"/>
          </a:xfrm>
          <a:prstGeom prst="roundRect">
            <a:avLst>
              <a:gd name="adj" fmla="val 6475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77824" y="5208625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BE2A2E"/>
          </a:solidFill>
          <a:ln/>
        </p:spPr>
      </p:sp>
      <p:sp>
        <p:nvSpPr>
          <p:cNvPr id="9" name="Text 5"/>
          <p:cNvSpPr/>
          <p:nvPr/>
        </p:nvSpPr>
        <p:spPr>
          <a:xfrm>
            <a:off x="877824" y="5208625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676400" y="5075021"/>
            <a:ext cx="9634728" cy="559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左侧暴露链把卫星与地面数据融合到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km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网格，右下队列链把基线与结局数据库链接；两条链在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Cox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模型汇合，再分别输出关系形状与可避免负担。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结局来自死因监测与医保住院两个数据库的链接，不依赖自报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600708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774444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719580"/>
            <a:ext cx="4832604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研究人群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2098040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个中心，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2013–2015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年基线纳入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45–79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岁常住居民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48.6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万人，城乡比约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6∶4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0780" y="1600708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3660" y="1774444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1" name="Text 8"/>
          <p:cNvSpPr/>
          <p:nvPr/>
        </p:nvSpPr>
        <p:spPr>
          <a:xfrm>
            <a:off x="6515100" y="1719580"/>
            <a:ext cx="4832604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基线测量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23660" y="2098040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统一问卷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体格检查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血样；吸烟、体力活动、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、血压、血脂、糖尿病史等协变量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" y="3105912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3279648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3224784"/>
            <a:ext cx="4832604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结局随访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1248" y="3603244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链接省级死因监测与医保住院数据库，主结局为心血管疾病首次发病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(ICD-10 I00–I99)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40780" y="3105912"/>
            <a:ext cx="5289804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23660" y="3279648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9" name="Text 16"/>
          <p:cNvSpPr/>
          <p:nvPr/>
        </p:nvSpPr>
        <p:spPr>
          <a:xfrm>
            <a:off x="6515100" y="3224784"/>
            <a:ext cx="4832604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23660" y="3603244"/>
            <a:ext cx="4924044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结局经双人独立编码复核；失访率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3.2%,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敏感性分析排除随访首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年事件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" y="4574540"/>
            <a:ext cx="10872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队列构成与失访分布见附录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A;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伦理审批号见论文第二章。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个体暴露由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km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融合浓度场按居住地址提取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234937" y="1622654"/>
            <a:ext cx="3554193" cy="2400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AD8"/>
            </a:solidFill>
            <a:prstDash val="solid"/>
          </a:ln>
        </p:spPr>
      </p:sp>
      <p:pic>
        <p:nvPicPr>
          <p:cNvPr id="6" name="Image 1" descr="assets/web/monitor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13" y="1659230"/>
            <a:ext cx="3481041" cy="2327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078326"/>
            <a:ext cx="4707331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地面监测站的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PM2.5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采样入口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(Craig Wallace / CC BY-SA / Wikimedia Commons)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777179" y="1582420"/>
            <a:ext cx="5753405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MODIS/MAIAC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气溶胶光学厚度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1600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余个国控站小时浓度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气象再分析与土地利用。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777179" y="2184908"/>
            <a:ext cx="5753405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5777179" y="2267204"/>
            <a:ext cx="5753405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Kriging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残差校正，输出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km × 1 km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日尺度浓度场。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777179" y="2869692"/>
            <a:ext cx="5753405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5777179" y="2951988"/>
            <a:ext cx="5753405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个体化：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按基线居住地址地理编码提取，取纳入前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年移动平均作为长期暴露。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777179" y="3554476"/>
            <a:ext cx="5753405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4" name="Text 10"/>
          <p:cNvSpPr/>
          <p:nvPr/>
        </p:nvSpPr>
        <p:spPr>
          <a:xfrm>
            <a:off x="5777179" y="3636772"/>
            <a:ext cx="5753405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十折交叉验证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= 0.88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= 9.4 μg m⁻³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777179" y="3997452"/>
            <a:ext cx="5753405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6" name="Text 12"/>
          <p:cNvSpPr/>
          <p:nvPr/>
        </p:nvSpPr>
        <p:spPr>
          <a:xfrm>
            <a:off x="5777179" y="4079748"/>
            <a:ext cx="5753405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统计模型：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比例风险模型以年龄为时间尺度、按中心分层，关系形状用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节点限制性立方样条。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关系形状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亚组一致性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可避免负担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1637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7438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7959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35 μg m⁻³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国家二级标准之上仍未见平台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2144360" y="1494130"/>
            <a:ext cx="7900231" cy="314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AD8"/>
            </a:solidFill>
            <a:prstDash val="solid"/>
          </a:ln>
        </p:spPr>
      </p:sp>
      <p:pic>
        <p:nvPicPr>
          <p:cNvPr id="6" name="Image 1" descr="assets/fig_dose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936" y="1530706"/>
            <a:ext cx="7827079" cy="3074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697070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反应关系与亚组一致性分析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合成示意数据，非实测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58368" y="5206594"/>
            <a:ext cx="10872216" cy="706120"/>
          </a:xfrm>
          <a:prstGeom prst="roundRect">
            <a:avLst>
              <a:gd name="adj" fmla="val 6475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77824" y="5413350"/>
            <a:ext cx="758952" cy="292608"/>
          </a:xfrm>
          <a:prstGeom prst="roundRect">
            <a:avLst>
              <a:gd name="adj" fmla="val 50000"/>
            </a:avLst>
          </a:prstGeom>
          <a:solidFill>
            <a:srgbClr val="BE2A2E"/>
          </a:solidFill>
          <a:ln/>
        </p:spPr>
      </p:sp>
      <p:sp>
        <p:nvSpPr>
          <p:cNvPr id="10" name="Text 6"/>
          <p:cNvSpPr/>
          <p:nvPr/>
        </p:nvSpPr>
        <p:spPr>
          <a:xfrm>
            <a:off x="877824" y="541335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837944" y="5279746"/>
            <a:ext cx="9473184" cy="559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曲线在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35 μg m⁻³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国家二级标准以上持续上升、未见平台，说明现行标准之上仍有可观风险；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九个亚组方向一致，仅现吸烟者效应更强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= 0.03)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指导值可避免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92%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的归因发病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2144360" y="1564132"/>
            <a:ext cx="7900231" cy="314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AD8"/>
            </a:solidFill>
            <a:prstDash val="solid"/>
          </a:ln>
        </p:spPr>
      </p:sp>
      <p:pic>
        <p:nvPicPr>
          <p:cNvPr id="6" name="Image 1" descr="assets/fig_burd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936" y="1600708"/>
            <a:ext cx="7827079" cy="3074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767072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分暴露水平累积发病与达标情景归因负担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合成示意数据，非实测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58368" y="5276596"/>
            <a:ext cx="1087221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达国家二级标准只能消除约四成归因病例——余下六成要靠继续向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指导值收紧。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效应量在五个模型之间的波动不超过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2%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5001219"/>
                <a:gridCol w="2935498"/>
                <a:gridCol w="293549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敏感性分析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(95% CI)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相对主模型变化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1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：仅调整年龄、性别、中心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1.112 (1.083–1.142)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：加行为因素（主模型）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 (1.062–1.119)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3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：再加临床指标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1.081 (1.052–1.111)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排除随访首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年事件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 (1.055–1.118)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共暴露调整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(NO₂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O₃)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 (1.041–1.108)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58368" y="4437634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CF6E3"/>
          </a:solidFill>
          <a:ln w="12700">
            <a:solidFill>
              <a:srgbClr val="E3CE8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7824" y="4574794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CEAB6E"/>
          </a:solidFill>
          <a:ln/>
        </p:spPr>
      </p:sp>
      <p:sp>
        <p:nvSpPr>
          <p:cNvPr id="8" name="Text 4"/>
          <p:cNvSpPr/>
          <p:nvPr/>
        </p:nvSpPr>
        <p:spPr>
          <a:xfrm>
            <a:off x="877824" y="4574794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76400" y="4510786"/>
            <a:ext cx="9634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5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本页与全篇数值均为方法演示用的合成示意数据，非真实队列结果；图表由本项目脚本可复现生成。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1637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研究设计与方法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74388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7959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结论：高浓度区间没有观察到风险平台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582420"/>
            <a:ext cx="1087221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关系形状：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40–80 μg m⁻³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区间暴露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反应曲线持续上升未饱和，每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μg m⁻³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 = 1.09 (1.06–1.12)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" y="2031492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150364"/>
            <a:ext cx="1087221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人群一致性：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效应在性别、年龄、城乡间方向一致；现吸烟者风险叠加更明显，提示优先干预人群。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2599436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718308"/>
            <a:ext cx="10872216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政策梯度：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达国家二级标准可消除约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38%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归因发病，趋近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AQG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可消除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92%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；两者之差即标准继续收紧的收益空间。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58368" y="4129532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4266692"/>
            <a:ext cx="923544" cy="292608"/>
          </a:xfrm>
          <a:prstGeom prst="roundRect">
            <a:avLst>
              <a:gd name="adj" fmla="val 50000"/>
            </a:avLst>
          </a:prstGeom>
          <a:solidFill>
            <a:srgbClr val="BE2A2E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4266692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02536" y="4202684"/>
            <a:ext cx="930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队列与质控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P7;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暴露评估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P8;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关系形状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P10;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可避免负担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P11;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P12;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队列构成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暴露精度是主要贡献；三处局限尚未完全解决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582420"/>
            <a:ext cx="1087221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暴露精度：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km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个体化暴露替代城市年均值，交叉验证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= 0.88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，把非差异性测量误差降到可报告的量级。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368" y="1978152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069592"/>
            <a:ext cx="1087221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高浓度证据：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40–80 μg m⁻³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区间的个体随访证据——现有剂量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反应关系几乎全部建立在年均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μg m⁻³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以下的人群上。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080512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254248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3199384"/>
            <a:ext cx="29718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迁居与暴露变动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1248" y="3577844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以基线地址暴露为主；排除随访期内迁居者后结果未见实质改变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9976" y="3080512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62856" y="3254248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4" name="Text 11"/>
          <p:cNvSpPr/>
          <p:nvPr/>
        </p:nvSpPr>
        <p:spPr>
          <a:xfrm>
            <a:off x="4654296" y="3199384"/>
            <a:ext cx="29718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室内暴露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62856" y="3577844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缺个体室内源与通风信息；已用炊事燃料类型作代理变量部分调整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01584" y="3080512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BF5F4"/>
          </a:solidFill>
          <a:ln w="12700">
            <a:solidFill>
              <a:srgbClr val="F0E1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3254248"/>
            <a:ext cx="20117" cy="19558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8" name="Text 15"/>
          <p:cNvSpPr/>
          <p:nvPr/>
        </p:nvSpPr>
        <p:spPr>
          <a:xfrm>
            <a:off x="8375904" y="3199384"/>
            <a:ext cx="29718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284464" y="3577844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社会经济地位测量有限；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E-value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显示需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RR &gt; 1.4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的未测混杂才能解释效应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2416" y="143611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GBD 2021 Risk Factors Collaborators (2024). Global burden and strength of evidence for 88 risk factors. The Lancet, 403, 2162–2203.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22225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2416" y="2222500"/>
            <a:ext cx="477774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Yin, P., Brauer, M., Cohen, A., et al. (2017). Long-term fine particulate matter exposure and nonaccidental and cause-specific mortality in a large national cohort of Chinese men. Environmental Health Perspectives, 125, 117002.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34234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42416" y="3423412"/>
            <a:ext cx="47777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Liang, F., Liu, F., Huang, K., et al. (2020). Long-term exposure to fine particulate matter and cardiovascular disease in China. Journal of the American College of Cardiology, 75, 707–717.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68796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52844" y="143611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Di, Q., Wang, Y., Zanobetti, A., et al. (2017). Air pollution and mortality in the Medicare population. New England Journal of Medicine, 376, 2513–2522.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68796" y="22225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2844" y="2222500"/>
            <a:ext cx="47777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Brauer, M., Brook, J.R., Christidis, T., et al. (2022). Mortality–air pollution associations in low exposure environments. Research Report, Health Effects Institute, 212.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68796" y="32161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52844" y="3216148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Health Organization (2021). WHO global air quality guidelines: particulate matter, ozone, nitrogen dioxide, sulfur dioxide and carbon monoxide. WHO, Geneva.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pm25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队列构成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十省十五中心的人群分布与暴露水平概览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3044220"/>
                <a:gridCol w="1956999"/>
                <a:gridCol w="1956999"/>
                <a:gridCol w="1956999"/>
                <a:gridCol w="19569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中心数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PM2.5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失访率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62.4 μg m⁻³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45.1 μg m⁻³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华中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40.8 μg m⁻³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西北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西南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51.7 μg m⁻³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58368" y="4013581"/>
            <a:ext cx="10872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合成示意数据，用于展示答辩材料的版式与结构。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暴露与心血管风险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结论与创新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3080"/>
            <a:ext cx="12188952" cy="3017520"/>
          </a:xfrm>
          <a:prstGeom prst="rect">
            <a:avLst/>
          </a:prstGeom>
          <a:solidFill>
            <a:srgbClr val="9A0001"/>
          </a:solidFill>
          <a:ln/>
        </p:spPr>
      </p:sp>
      <p:pic>
        <p:nvPicPr>
          <p:cNvPr id="3" name="Image 0" descr="/private/tmp/claude-501/-Users-shodan-project-academic-skills/f72c3991-28bc-42b3-ba37-8b133c5e8d3f/scratchpad/pm25/assets/pku-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735" y="502920"/>
            <a:ext cx="1289482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95728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95020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博士学位论文答辩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74436" y="4407408"/>
            <a:ext cx="640080" cy="12802"/>
          </a:xfrm>
          <a:prstGeom prst="rect">
            <a:avLst/>
          </a:prstGeom>
          <a:solidFill>
            <a:srgbClr val="E6BEB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468112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公共卫生学院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liming@pku.edu.cn 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2026-07-25T08:11:25Z</dcterms:created>
  <dcterms:modified xsi:type="dcterms:W3CDTF">2026-07-25T08:11:25Z</dcterms:modified>
</cp:coreProperties>
</file>