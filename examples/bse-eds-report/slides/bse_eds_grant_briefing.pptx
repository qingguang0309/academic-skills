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开场:一句话点题——BSE 单模态的天花板是信息问题,不是模型问题;本项目用最少的化学采样把它补上。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口头引出文献:Scrivener 2004 奠定了 BSE 定量分析;Lothenbach 2011、Juenger 2015 说明混合材已是主流——问题因此变得普遍而尖锐。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这一页停留久一点:全部后续内容都服务于这个问题。强调 ≤5% 与 +20 pp 两个数字。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强调配对与交叉核验:标签质量决定 +20 pp 是否可信,所以 600 幅标注全部经三种独立手段核验。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按 ①→④ 走一遍架构图;强调门控设计——配准不达标的视场不进入融合,连接类误差从机制上排除。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指着 (a) 图上的双箭头讲 +20 pp 目标;(b) 图 48% vs 100% 讲机时。明确声明:这是申报目标,不是已得结果。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逐行念指标,验证协议一句带过;评审最关心的是每个数字都有独立于模型的验收办法。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主动回应评审最可能的两个质疑:配准误差会不会污染融合;换一个胶材体系还灵不灵。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期间保持本页。提问导航:数据集细节→第4页;架构→第5页;指标→第7页;合成示例→附录A。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51560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BSE–EDS 多模态融合:突破水泥基材料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微观相识别的灰度天花板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27432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A0BB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水泥基材料微观相识别与水化程度智能表征 · 开放基金项目研究计划汇报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3310128"/>
            <a:ext cx="18288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3456432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非金属材料AI+实验室 — 开放基金项目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中国建筑材料科学研究总院(CBMA) · 2026 年 7 月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低碳混合材体系已成常态,掺合料与水化产物灰度重叠,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BSE 单模态分割触及信息天花板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1828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417320"/>
            <a:ext cx="822960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混合材是低碳主路线:</a:t>
            </a:r>
            <a:pPr indent="0" marL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矿渣/粉煤灰/偏高岭土/石灰石大比例替代熟料,混合体系成为工程常态。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灰度退化:</a:t>
            </a:r>
            <a:pPr indent="0" marL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SCM 颗粒及其反应边与水化产物灰度区间重叠,单一强度通道无法区分化学上不同的相。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架构调优已无增益:</a:t>
            </a:r>
            <a:pPr indent="0" marL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FCN / U-Net 等 BSE-only 模型对灰度重叠相继续调参基本无增益——上限在模态,不在模型。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47365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Scrivener (2004) Cem Concr Compos; Lothenbach et al. (2011) CCR; Juenger &amp; Siddique (2015) CCR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核心科学问题:少量而聪明的化学采样,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能否补上 BSE 缺失的信息维度?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1828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463040"/>
            <a:ext cx="7315200" cy="1600200"/>
          </a:xfrm>
          <a:prstGeom prst="roundRect">
            <a:avLst>
              <a:gd name="adj" fmla="val 5714"/>
            </a:avLst>
          </a:prstGeom>
          <a:solidFill>
            <a:srgbClr val="EBF3FA"/>
          </a:solidFill>
          <a:ln w="19050">
            <a:solidFill>
              <a:srgbClr val="2E7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0" y="1600200"/>
            <a:ext cx="6766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≤5% 视场覆盖的稀疏 EDS 采样,经配准门控的图注意力融合网络注入 BSE 形貌特征——能否将灰度重叠相的像素级分割 IoU 提升 ≥20 个百分点,并支撑水化程度的准确、高效表征?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338328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关键构想:</a:t>
            </a:r>
            <a:pPr indent="0" marL="0">
              <a:buNone/>
            </a:pPr>
            <a:r>
              <a:rPr lang="en-US" sz="20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EDS 从被动的验证仪器,改造成由模型主动指挥的化学信息供给——模型自己决定实验下一步看哪里。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体系 × 4 掺量 × 6 龄期的配对数据集,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为训练与验证提供系统覆盖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1828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实验设计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38404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胶材:</a:t>
            </a:r>
            <a:pPr indent="0" marL="0">
              <a:spcAft>
                <a:spcPts val="1200"/>
              </a:spcAft>
              <a:buNone/>
            </a:pPr>
            <a:r>
              <a:rPr lang="en-US" sz="19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P.I 42.5 + 矿渣 / 粉煤灰 / 石灰石</a:t>
            </a:r>
            <a:endParaRPr lang="en-US" sz="19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替代率:</a:t>
            </a:r>
            <a:pPr indent="0" marL="0">
              <a:spcAft>
                <a:spcPts val="1200"/>
              </a:spcAft>
              <a:buNone/>
            </a:pPr>
            <a:r>
              <a:rPr lang="en-US" sz="19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/ 20 / 40 / 60 wt%,w/b = 0.4</a:t>
            </a:r>
            <a:endParaRPr lang="en-US" sz="19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龄期:</a:t>
            </a:r>
            <a:pPr indent="0" marL="0">
              <a:spcAft>
                <a:spcPts val="1200"/>
              </a:spcAft>
              <a:buNone/>
            </a:pPr>
            <a:r>
              <a:rPr lang="en-US" sz="19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/ 3 / 7 / 28 / 90 / 180 d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846320" y="1371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数据与标注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846320" y="1783080"/>
            <a:ext cx="38404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配对采集:</a:t>
            </a:r>
            <a:pPr indent="0" marL="0">
              <a:spcAft>
                <a:spcPts val="1200"/>
              </a:spcAft>
              <a:buNone/>
            </a:pPr>
            <a:r>
              <a:rPr lang="en-US" sz="19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同视场 BSE + EDS 六元素图(Ca/Si/Al/Fe/Mg/S)</a:t>
            </a:r>
            <a:endParaRPr lang="en-US" sz="19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数据规模:</a:t>
            </a:r>
            <a:pPr indent="0" marL="0">
              <a:spcAft>
                <a:spcPts val="1200"/>
              </a:spcAft>
              <a:buNone/>
            </a:pPr>
            <a:r>
              <a:rPr lang="en-US" sz="19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≥3000 组配对图像;≥600 幅像素级相标注</a:t>
            </a:r>
            <a:endParaRPr lang="en-US" sz="19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标注质量:</a:t>
            </a:r>
            <a:pPr indent="0" marL="0">
              <a:spcAft>
                <a:spcPts val="1200"/>
              </a:spcAft>
              <a:buNone/>
            </a:pPr>
            <a:r>
              <a:rPr lang="en-US" sz="19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 QXRD / TGA / EDS 点分析三重交叉核验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47365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合成示例视场 → 附录 A;定量 BSE 实践遵循 Scrivener (2004)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两阶段网络:配准残差 &lt;1 px 才进入融合,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稀疏化学信息沿超像素图传播补全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18288"/>
          </a:xfrm>
          <a:prstGeom prst="rect">
            <a:avLst/>
          </a:prstGeom>
          <a:solidFill>
            <a:srgbClr val="CCCCCC"/>
          </a:solidFill>
          <a:ln/>
        </p:spPr>
      </p:sp>
      <p:pic>
        <p:nvPicPr>
          <p:cNvPr id="4" name="Image 0" descr="assets/bse_eds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715000" cy="3017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355080" y="1417320"/>
            <a:ext cx="2331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两步配准: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刚性互信息 + 可学习形变场,达标才放行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双分支编码: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CNN 稠密形貌 ∥ GNN 化学梯度约束超像素图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融合输出: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多尺度注意力 → 像素级相分割与相分数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57200" y="47365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图:本项目 figflow 工作流生成。方法基础:Maes et al. (1997); Achanta et al. (2012); Ronneberger et al. (2015)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预期以 ≤5% EDS 覆盖将灰度重叠相 IoU 提升 ≥20 pp,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同等精度下机时减半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18288"/>
          </a:xfrm>
          <a:prstGeom prst="rect">
            <a:avLst/>
          </a:prstGeom>
          <a:solidFill>
            <a:srgbClr val="CCCCCC"/>
          </a:solidFill>
          <a:ln/>
        </p:spPr>
      </p:sp>
      <p:pic>
        <p:nvPicPr>
          <p:cNvPr id="4" name="Image 0" descr="assets/fig-0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298448"/>
            <a:ext cx="7223760" cy="28895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3159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两条曲线的间隔即化学信息的价值:</a:t>
            </a:r>
            <a:pPr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主动选点用 5% 覆盖换 ≥20 pp;BSE-only 基线停在 0.55,与架构无关。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457200" y="477316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示意性目标曲线与柱状图(合成数据,非实测)——本项目 paperflow 生成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四项量化指标各自绑定独立验证协议,成果开放交付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18288"/>
          </a:xfrm>
          <a:prstGeom prst="rect">
            <a:avLst/>
          </a:prstGeom>
          <a:solidFill>
            <a:srgbClr val="CCCCCC"/>
          </a:solidFill>
          <a:ln/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44805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F4E7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量化指标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F4E7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验证协议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灰度重叠相 IoU 提升 ≥20 pp(≤5% EDS 覆盖)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留出像素级标注测试集;标签经 EDS 点分析核验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分割推算水化程度误差 ≤5%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 TGA 独立测量对照,覆盖全部配比与龄期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同等精度下 EDS 机时节省 ≥50%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同视场实录 dwell 与 mapping 时间日志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数据、权重、报告模块开放交付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≥3000 配对 + ≥600 标注数据集;CBMA 微调权重;自动报告生成模块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7365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全部数值为申报目标;交付物存入 CBMA 无机非金属材料数据节点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主要风险前置处置:配准漂移设亚像素门控,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跨体系泛化设留一外推检验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1828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417320"/>
            <a:ext cx="82296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配准漂移与充电畸变:</a:t>
            </a:r>
            <a:pPr indent="0" marL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刚性 + 形变两步配准,人工地标残差 &lt;1 px 方可进入分割阶段。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跨体系泛化:</a:t>
            </a:r>
            <a:pPr indent="0" marL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留一体系外推(leave-one-system-out)检验微观中间变量是否优于仅配比基线。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不确定性质量:</a:t>
            </a:r>
            <a:pPr indent="0" marL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MC-dropout / 深度集成的高熵聚类直接驱动主动采样,采样收益即其有效性自证。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3977640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FFF2CC"/>
          </a:solidFill>
          <a:ln w="12700">
            <a:solidFill>
              <a:srgbClr val="E6C8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97764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5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说明:全篇数值均为申报目标而非已得结果;示意图均为合成数据。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0BB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713232"/>
            <a:ext cx="82296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60120"/>
            <a:ext cx="8229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突破口在模态,不在模型:</a:t>
            </a:r>
            <a:pPr indent="0" marL="0">
              <a:spcAft>
                <a:spcPts val="2200"/>
              </a:spcAft>
              <a:buNone/>
            </a:pPr>
            <a:r>
              <a:rPr lang="en-US" sz="2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补上化学维度,目标以 ≤5% 稀疏 EDS 将灰度重叠相 IoU 提升 ≥20 pp。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EDS 角色重构:</a:t>
            </a:r>
            <a:pPr indent="0" marL="0">
              <a:spcAft>
                <a:spcPts val="2200"/>
              </a:spcAft>
              <a:buNone/>
            </a:pPr>
            <a:r>
              <a:rPr lang="en-US" sz="2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从被动验证到模型主动指挥的化学信息供给,同等精度下机时目标 −≥50%。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可复用的智能表征能力:</a:t>
            </a:r>
            <a:pPr indent="0" marL="0">
              <a:spcAft>
                <a:spcPts val="2200"/>
              </a:spcAft>
              <a:buNone/>
            </a:pPr>
            <a:r>
              <a:rPr lang="en-US" sz="2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开放数据集 + CBMA 微调权重 + 自动报告模块,接入 CBMA 数据节点。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0BB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非金属材料AI+实验室 · 中国建筑材料科学研究总院(CBMA) | github.com/qingguang0309/academic-skills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参考文献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8229600" cy="1828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60120"/>
            <a:ext cx="8229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Scrivener, K.L. (2004). Backscattered electron imaging of cementitious microstructures: understanding and quantification. Cement and Concrete Composites, 26, 935–945.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Lothenbach, B., Scrivener, K., &amp; Hooton, R.D. (2011). Supplementary cementitious materials. Cement and Concrete Research, 41, 1244–1256.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Juenger, M.C.G., &amp; Siddique, R. (2015). Recent advances in understanding the role of supplementary cementitious materials in concrete. Cement and Concrete Research, 78, 71–80.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Maes, F., Collignon, A., Vandermeulen, D., Marchal, G., &amp; Suetens, P. (1997). Multimodality image registration by maximization of mutual information. IEEE Transactions on Medical Imaging, 16, 187–198.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Ronneberger, O., Fischer, P., &amp; Brox, T. (2015). U-Net: Convolutional networks for biomedical image segmentation. LNCS, 9351, 234–241.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Achanta, R., Shaji, A., Smith, K., Lucchi, A., Fua, P., &amp; Süsstrunk, S. (2012). SLIC superpixels compared to state-of-the-art superpixel methods. IEEE TPAMI, 34, 2274–2282.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Long, J., Shelhamer, E., &amp; Darrell, T. (2015). Fully convolutional networks for semantic segmentation. CVPR 2015, 3431–3440.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A — 合成示例视场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从灰度退化的 BSE 视场到相图:稀疏采样点经超像素图传播补全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42416"/>
            <a:ext cx="8229600" cy="18288"/>
          </a:xfrm>
          <a:prstGeom prst="rect">
            <a:avLst/>
          </a:prstGeom>
          <a:solidFill>
            <a:srgbClr val="CCCCCC"/>
          </a:solidFill>
          <a:ln/>
        </p:spPr>
      </p:sp>
      <p:pic>
        <p:nvPicPr>
          <p:cNvPr id="5" name="Image 0" descr="assets/fig-00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3977640" cy="34107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709160" y="1280160"/>
            <a:ext cx="39776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合成 BSE: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偏高岭土与矿渣灰度几乎相同,BSE-only 不可分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(b) 稀疏 EDS: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 ≤5%,按真值相着色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(c) 超像素图: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含样本的节点实心着色,灰色小节点待图传播补全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(d) 真值相图: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同一视场、同一配色,细白线为相界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47365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合成示意数据(高斯滤波随机场生成),非实测——本项目 paperflow 生成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2026-07-22T15:54:15Z</dcterms:created>
  <dcterms:modified xsi:type="dcterms:W3CDTF">2026-07-22T15:54:15Z</dcterms:modified>
</cp:coreProperties>
</file>