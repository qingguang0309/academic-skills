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开场:BSE 单模态的天花板是信息问题,不是模型问题;本项目用最少的化学采样把它补上。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口头引出文献:Scrivener 2004 奠定 BSE 定量分析;Lothenbach/Juenger 说明混合材已是主流——问题因此普遍而尖锐。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这一页停留久一点:后续内容都服务于这个问题。强调 ≤5% 与 +20 pp 两个数字。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强调配对与交叉核验:标签质量决定 +20 pp 是否可信。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 ①→④ 走一遍架构图;方法基础:Maes 1997 互信息配准、Achanta 2012 SLIC、Ronneberger 2015 U-Net。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闭环是本项目区别于"先测后融"方案的核心:采样本身被学习信号驱动。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指着 (a) 双箭头讲 +20 pp;(b) 48% vs 100% 讲机时。明确声明是申报目标。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逐行念指标;评审最关心每个数字都有独立于模型的验收办法。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主动回应评审两个最可能的质疑:配准误差会不会污染融合;换一个胶材体系还灵不灵。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期间保持本页。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结束页;若被追问细节,退回结论页或对应附录。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4124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713232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开放基金项目研究计划汇报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8722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36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突破水泥基材料微观相识别的灰度天花板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水泥基材料微观相识别与水化程度智能表征</a:t>
            </a:r>
            <a:pPr indent="0" marL="0">
              <a:buNone/>
            </a:pPr>
            <a:r>
              <a:rPr lang="en-US" sz="150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indent="0" marL="0">
              <a:buNone/>
            </a:pPr>
            <a:r>
              <a:rPr lang="en-US" sz="150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5029200"/>
            <a:ext cx="10872216" cy="10973"/>
          </a:xfrm>
          <a:prstGeom prst="rect">
            <a:avLst/>
          </a:prstGeom>
          <a:solidFill>
            <a:srgbClr val="AFC4DD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5230368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非金属材料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557784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中国建筑材料科学研究总院</a:t>
            </a:r>
            <a:pPr indent="0" marL="0">
              <a:buNone/>
            </a:pPr>
            <a:r>
              <a:rPr lang="en-US" sz="135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(CBMA) </a:t>
            </a:r>
            <a:pPr indent="0" marL="0">
              <a:buNone/>
            </a:pPr>
            <a:r>
              <a:rPr lang="en-US" sz="135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35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 </a:t>
            </a:r>
            <a:pPr indent="0" marL="0">
              <a:buNone/>
            </a:pPr>
            <a:r>
              <a:rPr lang="en-US" sz="135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indent="0" marL="0">
              <a:buNone/>
            </a:pPr>
            <a:r>
              <a:rPr lang="en-US" sz="135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indent="0" marL="0">
              <a:buNone/>
            </a:pPr>
            <a:r>
              <a:rPr lang="en-US" sz="135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27048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13648" y="1737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灰度天花板从哪里来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27048" y="2551176"/>
            <a:ext cx="10003536" cy="7315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6334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27048" y="2633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13648" y="263347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配对数据集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两阶段融合网络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主动采样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527048" y="3447288"/>
            <a:ext cx="10003536" cy="7315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5295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27048" y="35295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13648" y="35295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独立验证协议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开放交付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527048" y="4343400"/>
            <a:ext cx="10003536" cy="7315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256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27048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13648" y="442569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补化学维度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而不是继续调模型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3101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07238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灰度天花板从哪里来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51939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45510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39081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低碳混合材体系已成常态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掺合料与水化产物灰度重叠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单模态分割触及信息天花板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6656" y="2085086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76120"/>
            <a:ext cx="105978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混合材是低碳主路线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矿渣、粉煤灰、偏高岭土、石灰石大比例替代熟料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混合体系成为工程常态。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265303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544064"/>
            <a:ext cx="105978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灰度退化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SCM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颗粒及其反应边与水化产物灰度区间重叠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单一强度通道无法区分化学上不同的相。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3220974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112008"/>
            <a:ext cx="10597896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架构调优已无增益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FCN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BSE-only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模型对灰度重叠相继续调参基本无增益——上限在模态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不在模型。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" y="4229608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4366768"/>
            <a:ext cx="597408" cy="292608"/>
          </a:xfrm>
          <a:prstGeom prst="roundRect">
            <a:avLst>
              <a:gd name="adj" fmla="val 50000"/>
            </a:avLst>
          </a:prstGeom>
          <a:solidFill>
            <a:srgbClr val="2F6FAE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366768"/>
            <a:ext cx="59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76400" y="4302760"/>
            <a:ext cx="9634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Scrivener (2004) Cem Concr Compos;Lothenbach et al. (2011) CCR;Juenger &amp; Siddique (2015) CCR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核心科学问题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少量而聪明的化学采样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能否补上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BSE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缺失的信息维度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600708"/>
            <a:ext cx="10872216" cy="775208"/>
          </a:xfrm>
          <a:prstGeom prst="roundRect">
            <a:avLst>
              <a:gd name="adj" fmla="val 5898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842008"/>
            <a:ext cx="920496" cy="292608"/>
          </a:xfrm>
          <a:prstGeom prst="roundRect">
            <a:avLst>
              <a:gd name="adj" fmla="val 50000"/>
            </a:avLst>
          </a:prstGeom>
          <a:solidFill>
            <a:srgbClr val="2F6FAE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42008"/>
            <a:ext cx="92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99488" y="1673860"/>
            <a:ext cx="9311640" cy="628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≤5%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视场覆盖的稀疏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EDS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经配准门控的图注意力融合网络注入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BSE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形貌特征——能否将灰度重叠相的像素级分割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IoU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≥20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个百分点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并支撑水化程度的准确、高效表征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261366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72338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95528" y="33451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 </a:t>
            </a:r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视场覆盖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5528" y="36195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稀疏采样预算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9976" y="261366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72338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pp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17136" y="33451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灰度重叠相</a:t>
            </a:r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IoU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17136" y="36195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</a:t>
            </a:r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BSE-only </a:t>
            </a:r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261366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272338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38744" y="33451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 </a:t>
            </a:r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机时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38744" y="36195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同等精度下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177284"/>
            <a:ext cx="10872216" cy="30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关键构想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EDS 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从被动的验证仪器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改造成由模型主动指挥的化学信息供给——模型自己决定实验下一步看哪里。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3101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07238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配对数据集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两阶段融合网络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主动采样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51939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45510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39081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4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掺量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6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龄期的配对数据集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为训练与验证提供系统覆盖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600708"/>
            <a:ext cx="5289804" cy="1230884"/>
          </a:xfrm>
          <a:prstGeom prst="roundRect">
            <a:avLst>
              <a:gd name="adj" fmla="val 3714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01876"/>
            <a:ext cx="731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19580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胶材体系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098040"/>
            <a:ext cx="4924044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P.I 42.5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分别复掺矿渣、粉煤灰、石灰石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覆盖主流低碳配比路线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600708"/>
            <a:ext cx="5289804" cy="1230884"/>
          </a:xfrm>
          <a:prstGeom prst="roundRect">
            <a:avLst>
              <a:gd name="adj" fmla="val 3714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3660" y="1801876"/>
            <a:ext cx="731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588252" y="1719580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掺量与龄期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3660" y="2098040"/>
            <a:ext cx="4924044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替代率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 / 20 / 40 / 60 wt%(w/b = 0.4);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龄期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/ 3 / 7 / 28 / 90 / 180 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105912"/>
            <a:ext cx="5289804" cy="1230884"/>
          </a:xfrm>
          <a:prstGeom prst="roundRect">
            <a:avLst>
              <a:gd name="adj" fmla="val 3714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07080"/>
            <a:ext cx="731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24784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配对采集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" y="3603244"/>
            <a:ext cx="4924044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同视场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BSE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高分辨图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EDS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六元素图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(Ca/Si/Al/Fe/Mg/S),≥3000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组配对图像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40780" y="3105912"/>
            <a:ext cx="5289804" cy="1230884"/>
          </a:xfrm>
          <a:prstGeom prst="roundRect">
            <a:avLst>
              <a:gd name="adj" fmla="val 3714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3660" y="3307080"/>
            <a:ext cx="731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8252" y="3224784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标注质量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23660" y="3603244"/>
            <a:ext cx="4924044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≥600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幅像素级相标注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QXRD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TGA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点分析三重交叉核验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4574540"/>
            <a:ext cx="10872216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合成示例视场见附录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A;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BSE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实践遵循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Scrivener (2004)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两阶段网络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配准残差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&lt;1 px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才进入融合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稀疏化学信息沿超像素图传播补全</a:t>
            </a:r>
            <a:endParaRPr lang="en-US" sz="2500" dirty="0"/>
          </a:p>
        </p:txBody>
      </p:sp>
      <p:pic>
        <p:nvPicPr>
          <p:cNvPr id="5" name="Image 0" descr="assets/bse_eds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250" y="1952142"/>
            <a:ext cx="6601581" cy="3486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529986"/>
            <a:ext cx="715734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四阶段融合分割架构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figflow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45482" y="2155825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8501514" y="2065528"/>
            <a:ext cx="302907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两步配准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刚性互信息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可学习形变场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达标才放行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45482" y="2841625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8501514" y="2751328"/>
            <a:ext cx="302907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双分支编码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稠密形貌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∥ GNN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化学梯度约束超像素图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45482" y="3527425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8501514" y="3437128"/>
            <a:ext cx="302907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融合输出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多尺度注意力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像素级相分割与相分数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227194" y="4378960"/>
            <a:ext cx="3303390" cy="896112"/>
          </a:xfrm>
          <a:prstGeom prst="roundRect">
            <a:avLst>
              <a:gd name="adj" fmla="val 5102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46650" y="4680712"/>
            <a:ext cx="597408" cy="292608"/>
          </a:xfrm>
          <a:prstGeom prst="roundRect">
            <a:avLst>
              <a:gd name="adj" fmla="val 50000"/>
            </a:avLst>
          </a:prstGeom>
          <a:solidFill>
            <a:srgbClr val="2F6FAE"/>
          </a:solidFill>
          <a:ln/>
        </p:spPr>
      </p:sp>
      <p:sp>
        <p:nvSpPr>
          <p:cNvPr id="15" name="Text 12"/>
          <p:cNvSpPr/>
          <p:nvPr/>
        </p:nvSpPr>
        <p:spPr>
          <a:xfrm>
            <a:off x="8446650" y="4680712"/>
            <a:ext cx="59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245226" y="4452112"/>
            <a:ext cx="206590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配准不达标的视场不进入融合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配准误差从机制上被隔离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不确定性驱动的主动采样闭环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模型指挥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EDS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看哪里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914525" y="1828394"/>
            <a:ext cx="8359902" cy="20117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4"/>
          <p:cNvSpPr/>
          <p:nvPr/>
        </p:nvSpPr>
        <p:spPr>
          <a:xfrm>
            <a:off x="1676781" y="1600708"/>
            <a:ext cx="475488" cy="475488"/>
          </a:xfrm>
          <a:prstGeom prst="ellipse">
            <a:avLst/>
          </a:prstGeom>
          <a:solidFill>
            <a:srgbClr val="2F6F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76781" y="16007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222500"/>
            <a:ext cx="2512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不确定性估计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519172"/>
            <a:ext cx="251231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MC-dropout /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深度集成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像素级熵图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63415" y="1600708"/>
            <a:ext cx="475488" cy="475488"/>
          </a:xfrm>
          <a:prstGeom prst="ellipse">
            <a:avLst/>
          </a:prstGeom>
          <a:solidFill>
            <a:srgbClr val="2F6F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3415" y="16007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5002" y="2222500"/>
            <a:ext cx="2512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高熵区聚类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5002" y="2519172"/>
            <a:ext cx="251231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相可分性判据圈定信息价值最高区域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50049" y="1600708"/>
            <a:ext cx="475488" cy="475488"/>
          </a:xfrm>
          <a:prstGeom prst="ellipse">
            <a:avLst/>
          </a:prstGeom>
          <a:solidFill>
            <a:srgbClr val="2F6F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0049" y="16007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31636" y="2222500"/>
            <a:ext cx="2512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定向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EDS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1636" y="2519172"/>
            <a:ext cx="251231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仪器只测模型点名的位置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36683" y="1600708"/>
            <a:ext cx="475488" cy="475488"/>
          </a:xfrm>
          <a:prstGeom prst="ellipse">
            <a:avLst/>
          </a:prstGeom>
          <a:solidFill>
            <a:srgbClr val="2F6F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6683" y="16007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18270" y="2222500"/>
            <a:ext cx="2512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融合更新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18270" y="2519172"/>
            <a:ext cx="251231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新化学证据沿超像素图传播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迭代收敛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" y="342519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3326892"/>
            <a:ext cx="1059789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效率目标</a:t>
            </a:r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同等精度下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EDS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机时较均匀随机采样减少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≥50%,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以实录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dwell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mapping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时间日志验证。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6656" y="3885438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3787140"/>
            <a:ext cx="1059789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下游任务</a:t>
            </a:r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分割导出的水化程度、孔隙率、相分数与相邻接特征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输入水化程度与强度预测器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留一体系外推检验泛化。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3101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07238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独立验证协议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开放交付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51939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45510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39081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预期以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≤5% EDS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覆盖将灰度重叠相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IoU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≥20 pp,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同等精度下机时减半</a:t>
            </a:r>
            <a:endParaRPr lang="en-US" sz="2500" dirty="0"/>
          </a:p>
        </p:txBody>
      </p:sp>
      <p:pic>
        <p:nvPicPr>
          <p:cNvPr id="5" name="Image 0" descr="assets/fi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493" y="1900936"/>
            <a:ext cx="7347967" cy="29377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930140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 IoU–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覆盖率目标曲线与机时对比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合成示意数据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非实测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)(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paperflow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" y="5439664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7824" y="5576824"/>
            <a:ext cx="758952" cy="292608"/>
          </a:xfrm>
          <a:prstGeom prst="roundRect">
            <a:avLst>
              <a:gd name="adj" fmla="val 50000"/>
            </a:avLst>
          </a:prstGeom>
          <a:solidFill>
            <a:srgbClr val="2F6FAE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" y="5576824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37944" y="5512816"/>
            <a:ext cx="947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两条曲线的间隔即化学信息的价值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主动选点用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5%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覆盖换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≥20 pp;BSE-only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基线停在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0.55,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与架构无关。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四项量化指标各自绑定独立于模型的验证协议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708"/>
          <a:ext cx="10872216" cy="914400"/>
        </p:xfrm>
        <a:graphic>
          <a:graphicData uri="http://schemas.openxmlformats.org/drawingml/2006/table">
            <a:tbl>
              <a:tblPr/>
              <a:tblGrid>
                <a:gridCol w="4566331"/>
                <a:gridCol w="63058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量化指标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E7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验证协议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E7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灰度重叠相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IoU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≥20 pp(≤5%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留出像素级标注测试集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标签经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EDS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点分析核验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分割推算水化程度误差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≤5%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TGA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独立测量对照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覆盖全部配比与龄期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同等精度下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EDS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机时节省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≥50%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同视场实录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dwell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mapping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时间日志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数据、权重、报告模块开放交付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≥3000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≥600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标注数据集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;CBMA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微调权重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自动报告模块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4013581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CF6E3"/>
          </a:solidFill>
          <a:ln w="12700">
            <a:solidFill>
              <a:srgbClr val="E3CE8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7824" y="4150741"/>
            <a:ext cx="597408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4150741"/>
            <a:ext cx="59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76400" y="4086733"/>
            <a:ext cx="9634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全篇数值均为申报目标而非已得结果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示意图为合成数据。交付物存入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CBMA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无机非金属材料数据节点。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主要风险已前置处置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门控、外推检验与自证机制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600708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01876"/>
            <a:ext cx="731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195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配准漂移与充电畸变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098040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形变两步配准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人工地标残差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&lt;1 px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方可进入分割阶段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600708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801876"/>
            <a:ext cx="731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17195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跨体系泛化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62856" y="2098040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留一体系外推检验微观中间变量是否优于仅配比基线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1600708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801876"/>
            <a:ext cx="731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449056" y="17195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不确定性质量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84464" y="2098040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高熵聚类直接驱动主动采样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采样收益即其有效性自证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3101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07238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补化学维度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而不是继续调模型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51939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45510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39081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以最小化学采样代价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把定量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表征推向常规可部署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6656" y="1691386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582420"/>
            <a:ext cx="105978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突破口在模态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不在模型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补上化学维度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目标以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≤5%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EDS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将灰度重叠相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IoU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≥20 pp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2277618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168652"/>
            <a:ext cx="105978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EDS 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角色重构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从被动验证到模型主动指挥的化学信息供给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同等精度下机时目标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−≥50%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286385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754884"/>
            <a:ext cx="105978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可复用的智能表征能力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开放数据集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CBMA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微调权重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自动报告模块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CBMA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数据节点。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" y="3597148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3F6FA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734308"/>
            <a:ext cx="923544" cy="292608"/>
          </a:xfrm>
          <a:prstGeom prst="roundRect">
            <a:avLst>
              <a:gd name="adj" fmla="val 50000"/>
            </a:avLst>
          </a:prstGeom>
          <a:solidFill>
            <a:srgbClr val="2F6FAE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734308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02536" y="3670300"/>
            <a:ext cx="930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数据集细节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P7;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网络架构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P8;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指标与验证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P11;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2416" y="1436116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Scrivener, K.L. (2004). Backscattered electron imaging of cementitious microstructures. Cement and Concrete Composites, 26, 935–945.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2225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2222500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Lothenbach, B., Scrivener, K., &amp; Hooton, R.D. (2011). Supplementary cementitious materials. Cement and Concrete Research, 41, 1244–1256.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0088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2416" y="3008884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Juenger, M.C.G., &amp; Siddique, R. (2015). Recent advances in understanding the role of SCMs in concrete. Cement and Concrete Research, 78, 71–80.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7952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2416" y="3795268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Maes, F., Collignon, A., et al. (1997). Multimodality image registration by maximization of mutual information. IEEE Trans. Med. Imaging, 16, 187–198.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68796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52844" y="1436116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Ronneberger, O., Fischer, P., &amp; Brox, T. (2015). U-Net: Convolutional networks for biomedical image segmentation. LNCS, 9351, 234–241.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8796" y="22225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52844" y="2222500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Achanta, R., Shaji, A., et al. (2012). SLIC superpixels compared to state-of-the-art superpixel methods. IEEE TPAMI, 34, 2274–2282.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8796" y="30088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52844" y="3008884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J., Shelhamer, E., &amp; Darrell, T. (2015). Fully convolutional networks for semantic segmentation. CVPR 2015, 3431–3440.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00" b="1" spc="20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合成示例视场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从灰度退化的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BSE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视场到相图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稀疏采样点经超像素图传播补全</a:t>
            </a:r>
            <a:endParaRPr lang="en-US" sz="2500" dirty="0"/>
          </a:p>
        </p:txBody>
      </p:sp>
      <p:pic>
        <p:nvPicPr>
          <p:cNvPr id="5" name="Image 0" descr="assets/fi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087" y="1573174"/>
            <a:ext cx="4800213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93787" y="1809775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6849819" y="1719478"/>
            <a:ext cx="468076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BSE: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偏高岭土与矿渣灰度几乎相同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,BSE-only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不可分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93787" y="2495575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6849819" y="2405278"/>
            <a:ext cx="468076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EDS: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≤5%,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按真值相着色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93787" y="2948203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6849819" y="2857906"/>
            <a:ext cx="468076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超像素图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含样本节点实心着色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灰色小节点待图传播补全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93787" y="3634003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6849819" y="3543706"/>
            <a:ext cx="468076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真值相图</a:t>
            </a:r>
            <a:pPr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同一视场、同一配色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细白线为相界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75499" y="4252366"/>
            <a:ext cx="495508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合成示意数据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高斯滤波随机场生成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非实测——本项目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paperflow 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BSE–EDS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286000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65176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恳请各位专家批评指正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5029200"/>
            <a:ext cx="10872216" cy="10973"/>
          </a:xfrm>
          <a:prstGeom prst="rect">
            <a:avLst/>
          </a:prstGeom>
          <a:solidFill>
            <a:srgbClr val="AFC4DD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521208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中国建筑材料科学研究总院</a:t>
            </a:r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(CBMA)  </a:t>
            </a:r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github.com/qingguang0309/academic-skills  </a:t>
            </a:r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2026 </a:t>
            </a:r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indent="0" marL="0">
              <a:buNone/>
            </a:pPr>
            <a:r>
              <a:rPr lang="en-US" sz="130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2026-07-22T16:22:44Z</dcterms:created>
  <dcterms:modified xsi:type="dcterms:W3CDTF">2026-07-22T16:22:44Z</dcterms:modified>
</cp:coreProperties>
</file>