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开场:扩散模型的质量已经够用,卡在采样代价。少步采样的关键不是换求解器,而是搞清误差从哪来。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把听众引到"时间步是免费的自由度"这个点上——它不需要动网络,是本课题的切入口。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三个数字对应三章:目标、理论、方法。强调零重训是与蒸馏类方法的关键区别。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式 (1) 一句带过,重点在式 (2) 的确定性:它把"采样质量"变成了"数值积分精度"问题。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这是本阶段的主要理论结果:它解释了为什么一味加步数没用,也说明优化步长的收益上界在哪。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(b) 的转折点讲清:它给出"再减步长也没用"的判据,是选 10 步而不是 5 步的依据。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强调两点:教师轨迹只在校准集上算一次;输出是一张表,不是一个新模型——这是零重训成本的来源。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这页给工程听众:改造成本极低。被问落地就停在这页。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读表时点出 10 步一行:FID 2.42 已经优于基线 25 步的 2.71,这是本阶段最硬的结果。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三项计划各对应一篇工作。若被问风险,重点讲条件生成那条——引导强度是最不确定的因素。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停留本页。最可能被问:为什么不直接蒸馏(答:蒸馏要重训且绑定网络,本方法零重训、可复用)。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结束页;细节问题退回结论页或对应页码。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83080"/>
            <a:ext cx="12188952" cy="3017520"/>
          </a:xfrm>
          <a:prstGeom prst="rect">
            <a:avLst/>
          </a:prstGeom>
          <a:solidFill>
            <a:srgbClr val="9A0001"/>
          </a:solidFill>
          <a:ln/>
        </p:spPr>
      </p:sp>
      <p:pic>
        <p:nvPicPr>
          <p:cNvPr id="3" name="Image 0" descr="/private/tmp/claude-501/-Users-shodan-project-academic-skills/f72c3991-28bc-42b3-ba37-8b133c5e8d3f/scratchpad/diff/assets/pku-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735" y="502920"/>
            <a:ext cx="1289482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95728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扩散模型少步采样的误差分解与时间步优化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95020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把采样代价从数十次网络求值压到十次以内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74436" y="4407408"/>
            <a:ext cx="640080" cy="12802"/>
          </a:xfrm>
          <a:prstGeom prst="rect">
            <a:avLst/>
          </a:prstGeom>
          <a:solidFill>
            <a:srgbClr val="E6BEB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468112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教授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5852160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智能学院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2026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58368" y="1335024"/>
            <a:ext cx="1051560" cy="25603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5" name="Text 2"/>
          <p:cNvSpPr/>
          <p:nvPr/>
        </p:nvSpPr>
        <p:spPr>
          <a:xfrm>
            <a:off x="704088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27048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13648" y="1737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少步采样卡在哪里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527048" y="2551176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26334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27048" y="2633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13648" y="263347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从概率流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ODE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到误差分解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527048" y="3447288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5295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527048" y="35295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13648" y="352958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把时间步选取写成优化问题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527048" y="4343400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" y="44256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527048" y="44256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613648" y="442569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时间表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少步采样卡在哪里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35884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19829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采样代价与网络求值次数成正比，这是扩散模型落地的主要开销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1582420"/>
            <a:ext cx="10872216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代价结构：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每步采样调用一次去噪网络，生成一张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1024²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图像的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步采样约需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 GFLOPs×50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，推理成本几乎全在这里。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58368" y="2255012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2355596"/>
            <a:ext cx="10872216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现有做法：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ODE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求解器把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步压到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步左右；蒸馏类方法能到个位数步，但要重训网络、且难以复用预训练权重。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58368" y="3028188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128772"/>
            <a:ext cx="1087221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被忽略的自由度：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时间步的选取。多数求解器沿用均匀或简单几何间隔，而误差对步长分布高度敏感。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58368" y="3890264"/>
            <a:ext cx="108722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 et al. (2021) ICLR;Lu et al. (2022) NeurIPS;Salimans &amp; Ho (2022) ICLR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本阶段要回答：少步误差由什么主导，以及步长该怎么分配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58368" y="1618996"/>
            <a:ext cx="23774" cy="721360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" y="1655572"/>
            <a:ext cx="792480" cy="648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798320" y="1637284"/>
            <a:ext cx="9732264" cy="68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在不改动预训练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score 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网络的前提下，把少步采样的重构误差分解为可控与不可控两部分，并据此把时间步选取写成一个可求解的优化问题。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2596388"/>
            <a:ext cx="3429000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274269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58368" y="33827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目标求值次数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" y="36388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对齐基线</a:t>
            </a:r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</a:t>
            </a:r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步质量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79976" y="2596388"/>
            <a:ext cx="3429000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3" name="Text 10"/>
          <p:cNvSpPr/>
          <p:nvPr/>
        </p:nvSpPr>
        <p:spPr>
          <a:xfrm>
            <a:off x="4379976" y="274269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O(h²)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379976" y="33827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离散误差阶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379976" y="36388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二阶求解器实测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01584" y="2596388"/>
            <a:ext cx="3429000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7" name="Text 14"/>
          <p:cNvSpPr/>
          <p:nvPr/>
        </p:nvSpPr>
        <p:spPr>
          <a:xfrm>
            <a:off x="8101584" y="274269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8101584" y="33827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网络重训成本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101584" y="36388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仅离线优化步长表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从概率流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ODE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到误差分解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35884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19829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采样等价于沿概率流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ODE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反向积分</a:t>
            </a:r>
            <a:endParaRPr lang="en-US" sz="2500" dirty="0"/>
          </a:p>
        </p:txBody>
      </p:sp>
      <p:pic>
        <p:nvPicPr>
          <p:cNvPr id="5" name="Image 1" descr="assets/eq/fw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047" y="1600708"/>
            <a:ext cx="5284859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747012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1248" y="2259076"/>
            <a:ext cx="10506456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ᾱₜ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累积噪声调度；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x₀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干净样本。</a:t>
            </a:r>
            <a:endParaRPr lang="en-US" sz="1200" dirty="0"/>
          </a:p>
        </p:txBody>
      </p:sp>
      <p:pic>
        <p:nvPicPr>
          <p:cNvPr id="8" name="Image 2" descr="assets/eq/p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696" y="2777236"/>
            <a:ext cx="4703559" cy="6035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368" y="2950972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41248" y="3490468"/>
            <a:ext cx="10506456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f, g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SDE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的漂移与扩散系数；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∇ log pₜ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score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网络近似。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58368" y="4008628"/>
            <a:ext cx="1087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式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(2)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是确定性的：给定初值与步长表，采样结果唯一。少步采样的全部误差因此只有两个来源——积分离散化，以及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score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网络本身的近似误差。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误差分解：离散项随步长可压，网络项构成不可突破的地板</a:t>
            </a:r>
            <a:endParaRPr lang="en-US" sz="2500" dirty="0"/>
          </a:p>
        </p:txBody>
      </p:sp>
      <p:pic>
        <p:nvPicPr>
          <p:cNvPr id="5" name="Image 1" descr="assets/eq/e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257" y="1600708"/>
            <a:ext cx="5790438" cy="6217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78358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1248" y="2332228"/>
            <a:ext cx="10506456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最大步长；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求解器阶数；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ε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网络的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L²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" y="2832100"/>
            <a:ext cx="5230368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可控项：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C₁hᵖ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随步长以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阶衰减，是步长优化能改善的部分。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00216" y="2832100"/>
            <a:ext cx="5230368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地板项：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C₂ε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与步长无关；步数增加到一定程度后误差不再下降。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数值实验复现出预测的两段行为</a:t>
            </a:r>
            <a:endParaRPr lang="en-US" sz="2500" dirty="0"/>
          </a:p>
        </p:txBody>
      </p:sp>
      <p:pic>
        <p:nvPicPr>
          <p:cNvPr id="5" name="Image 1" descr="assets/fig_pare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22" y="1475842"/>
            <a:ext cx="8656508" cy="33492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4916526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帕累托前沿与误差分解的数值验证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合成示意数据，非实测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58368" y="5444338"/>
            <a:ext cx="23774" cy="669544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8" name="Text 4"/>
          <p:cNvSpPr/>
          <p:nvPr/>
        </p:nvSpPr>
        <p:spPr>
          <a:xfrm>
            <a:off x="859536" y="5480914"/>
            <a:ext cx="469392" cy="5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475232" y="5462626"/>
            <a:ext cx="10055352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中实测曲线在大步长段贴合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h²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斜率、在小步长段收敛到水平线，两段的转折点即式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(3)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两项相等之处——这正是步长预算的合理下界。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把时间步选取写成优化问题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35884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19829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以教师轨迹为监督，求解步长分配</a:t>
            </a:r>
            <a:endParaRPr lang="en-US" sz="2500" dirty="0"/>
          </a:p>
        </p:txBody>
      </p:sp>
      <p:pic>
        <p:nvPicPr>
          <p:cNvPr id="5" name="Image 1" descr="assets/eq/ob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057" y="1600708"/>
            <a:ext cx="3942838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801876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1248" y="2368804"/>
            <a:ext cx="10506456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Φₕ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单步求解器算子；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Ψ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高精度教师轨迹；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总积分区间。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58368" y="2905252"/>
            <a:ext cx="23774" cy="2495296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9" name="Text 5"/>
          <p:cNvSpPr/>
          <p:nvPr/>
        </p:nvSpPr>
        <p:spPr>
          <a:xfrm>
            <a:off x="859536" y="2905252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pPr indent="0" marL="0">
              <a:buNone/>
            </a:pPr>
            <a:r>
              <a:rPr lang="en-US" sz="13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 </a:t>
            </a:r>
            <a:pPr indent="0" marL="0">
              <a:buNone/>
            </a:pPr>
            <a:r>
              <a:rPr lang="en-US" sz="13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离线时间步优化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59536" y="3197860"/>
            <a:ext cx="274320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25296" y="3197860"/>
            <a:ext cx="10268712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输入：预训练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score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sθ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、步数预算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、教师步数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 ≫ 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59536" y="3464052"/>
            <a:ext cx="274320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225296" y="3464052"/>
            <a:ext cx="10268712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步高精度求解器在校准集上生成教师轨迹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Ψ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59536" y="3730244"/>
            <a:ext cx="274320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225296" y="3730244"/>
            <a:ext cx="10268712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{tᵢ}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为几何间隔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59536" y="3996436"/>
            <a:ext cx="274320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4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225296" y="3996436"/>
            <a:ext cx="10268712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k = 1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 do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59536" y="4262628"/>
            <a:ext cx="274320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5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362456" y="4262628"/>
            <a:ext cx="10131552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沿当前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{tᵢ}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前向积分，累计式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(4)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的轨迹偏差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59536" y="4528820"/>
            <a:ext cx="274320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6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362456" y="4528820"/>
            <a:ext cx="10131552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{tᵢ}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做投影梯度下降，投影到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Σhᵢ = T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的单纯形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59536" y="4795012"/>
            <a:ext cx="274320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7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362456" y="4795012"/>
            <a:ext cx="10131552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偏差在连续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轮内不再下降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59536" y="5061204"/>
            <a:ext cx="274320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8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225296" y="5061204"/>
            <a:ext cx="10268712" cy="2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输出：最优时间步表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{tᵢ}*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（与网络权重解耦，可跨采样器复用）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两条链解耦：离线求一次步长表，在线只跑十步</a:t>
            </a:r>
            <a:endParaRPr lang="en-US" sz="2500" dirty="0"/>
          </a:p>
        </p:txBody>
      </p:sp>
      <p:pic>
        <p:nvPicPr>
          <p:cNvPr id="5" name="Image 1" descr="assets/dg_pi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85" y="1600708"/>
            <a:ext cx="10633381" cy="27091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4401312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方法流程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(Graphviz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布局引擎绘制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58368" y="4929124"/>
            <a:ext cx="23774" cy="530352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8" name="Text 4"/>
          <p:cNvSpPr/>
          <p:nvPr/>
        </p:nvSpPr>
        <p:spPr>
          <a:xfrm>
            <a:off x="859536" y="4965700"/>
            <a:ext cx="79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工程含义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798320" y="4947412"/>
            <a:ext cx="9732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步长表是一个长度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的浮点数组，可直接替换现有采样器的时间步序列；部署侧无需改动网络与权重文件。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时间表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理论分析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35884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19829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步采样的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FID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与基线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步持平</a:t>
            </a:r>
            <a:endParaRPr lang="en-US" sz="2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708"/>
          <a:ext cx="10872216" cy="914400"/>
        </p:xfrm>
        <a:graphic>
          <a:graphicData uri="http://schemas.openxmlformats.org/drawingml/2006/table">
            <a:tbl>
              <a:tblPr/>
              <a:tblGrid>
                <a:gridCol w="3696553"/>
                <a:gridCol w="2391888"/>
                <a:gridCol w="2391888"/>
                <a:gridCol w="23918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 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相对基线加速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DDIM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（均匀步长）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DPM-Solver++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本方法（优化时间步）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本方法（优化时间步）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58368" y="4031869"/>
            <a:ext cx="23774" cy="530352"/>
          </a:xfrm>
          <a:prstGeom prst="rect">
            <a:avLst/>
          </a:prstGeom>
          <a:solidFill>
            <a:srgbClr val="CEAB6E"/>
          </a:solidFill>
          <a:ln/>
        </p:spPr>
      </p:sp>
      <p:sp>
        <p:nvSpPr>
          <p:cNvPr id="7" name="Text 3"/>
          <p:cNvSpPr/>
          <p:nvPr/>
        </p:nvSpPr>
        <p:spPr>
          <a:xfrm>
            <a:off x="859536" y="4068445"/>
            <a:ext cx="46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CEA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475232" y="4050157"/>
            <a:ext cx="10055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表内与全篇数值为方法演示用的合成示意数据，非真实实验结果；图表由本项目脚本可复现生成。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后续半年：把结论从单一模型推广到跨模型与跨采样器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58368" y="1600708"/>
            <a:ext cx="3429000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1710436"/>
            <a:ext cx="34290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跨模型迁移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8368" y="2070608"/>
            <a:ext cx="3429000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验证步长表在不同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score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网络间的可迁移性；若不可迁移，给出迁移代价的经验规律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79976" y="1600708"/>
            <a:ext cx="3429000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4379976" y="1710436"/>
            <a:ext cx="34290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条件生成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379976" y="2070608"/>
            <a:ext cx="3429000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classifier-free guidance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下重做误差分解——引导强度会改变有效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Lipschitz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01584" y="1600708"/>
            <a:ext cx="3429000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9"/>
          <p:cNvSpPr/>
          <p:nvPr/>
        </p:nvSpPr>
        <p:spPr>
          <a:xfrm>
            <a:off x="8101584" y="1710436"/>
            <a:ext cx="34290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理论收紧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01584" y="2070608"/>
            <a:ext cx="3429000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把式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(3)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的常数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C₁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与调度函数的显式关系写出来，给出步长表的闭式近似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结论：少步采样的瓶颈是误差结构，不是求解器阶数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1582420"/>
            <a:ext cx="10872216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误差分解：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少步重构误差可拆为随步长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阶衰减的离散项与由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score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精度决定的地板项，数值实验与式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(3)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58368" y="2325116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2443988"/>
            <a:ext cx="1087221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把时间步选取写成轨迹匹配问题，离线求解一次即可，网络权重不动。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" y="2893060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011932"/>
            <a:ext cx="1087221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次网络求值达到均匀步长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步的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FID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水平，部署侧改动仅为替换一个浮点数组。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58368" y="3854196"/>
            <a:ext cx="23774" cy="530352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1" name="Text 8"/>
          <p:cNvSpPr/>
          <p:nvPr/>
        </p:nvSpPr>
        <p:spPr>
          <a:xfrm>
            <a:off x="859536" y="3890772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</a:t>
            </a:r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801368" y="3872484"/>
            <a:ext cx="9729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误差分解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P8;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优化目标与算法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P10;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流程与部署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P11;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主表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odan-project-academic-skills/f72c3991-28bc-42b3-ba37-8b133c5e8d3f/scratchpad/diff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42416" y="1436116"/>
            <a:ext cx="477774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Song, J., Meng, C., &amp; Ermon, S. (2021). Denoising diffusion implicit models. ICLR.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20152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42416" y="2015236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Song, Y., Sohl-Dickstein, J., Kingma, D.P., et al. (2021). Score-based generative modeling through stochastic differential equations. ICLR.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28016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42416" y="2801620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Lu, C., Zhou, Y., Bao, F., et al. (2022). DPM-Solver: A fast ODE solver for diffusion probabilistic model sampling in around 10 steps. NeurIPS.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68796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52844" y="1436116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Karras, T., Aittala, M., Aila, T., &amp; Laine, S. (2022). Elucidating the design space of diffusion-based generative models. NeurIPS.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68796" y="22225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52844" y="2222500"/>
            <a:ext cx="477774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Salimans, T., &amp; Ho, J. (2022). Progressive distillation for fast sampling of diffusion models. ICLR.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68796" y="28016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52844" y="2801620"/>
            <a:ext cx="477774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Zhang, Q., &amp; Chen, Y. (2023). Fast sampling of diffusion models with exponential integrator. ICLR.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少步采样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阶段结果与后续计划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83080"/>
            <a:ext cx="12188952" cy="3017520"/>
          </a:xfrm>
          <a:prstGeom prst="rect">
            <a:avLst/>
          </a:prstGeom>
          <a:solidFill>
            <a:srgbClr val="9A0001"/>
          </a:solidFill>
          <a:ln/>
        </p:spPr>
      </p:sp>
      <p:pic>
        <p:nvPicPr>
          <p:cNvPr id="3" name="Image 0" descr="/private/tmp/claude-501/-Users-shodan-project-academic-skills/f72c3991-28bc-42b3-ba37-8b133c5e8d3f/scratchpad/diff/assets/pku-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735" y="502920"/>
            <a:ext cx="1289482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95728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恳请各位专家批评指正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95020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博士研究生中期考核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74436" y="4407408"/>
            <a:ext cx="640080" cy="12802"/>
          </a:xfrm>
          <a:prstGeom prst="rect">
            <a:avLst/>
          </a:prstGeom>
          <a:solidFill>
            <a:srgbClr val="E6BEB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468112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智能学院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5852160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liming@pku.edu.cn 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2026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pPr algn="ctr" indent="0" marL="0">
              <a:buNone/>
            </a:pPr>
            <a:r>
              <a:rPr lang="en-US" sz="13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2026-07-25T09:22:56Z</dcterms:created>
  <dcterms:modified xsi:type="dcterms:W3CDTF">2026-07-25T09:22:56Z</dcterms:modified>
</cp:coreProperties>
</file>