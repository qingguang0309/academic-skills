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开场:胺洗的再生能耗是燃烧后捕集的成本大头;吸附法的关键在材料,材料的关键在怎么从十万级候选里找到对的那几十个。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口头引文献:Sumida 2012 是 MOF 碳捕集的系统综述;Boyd 2019 证明了数据驱动设计湿烟气捕集的可行性。照片:燃煤电厂夜景(CC0)。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强调三个数字:全库规模、加速比、最终清单。管线本身是论文的可复用贡献。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漏斗的关键设计:昂贵计算只花在模型不确定的地方——主动学习决定 GCMC 下一步算哪些结构。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指着 (b) 讲:灰云是全体,前沿是天花板,绿区是工程要求;三者的距离就是筛选的价值。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这两个面板对应开题最常被问的两个问题:评价工况是否贴近真实烟气;ML 是否可信。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每个数字都有独立于模型本身的验收办法,这是开题委员会最关心的。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里程碑与指标一一对应:每个阶段结束都有可检查的交付物。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回应委员会两类典型质疑:模型不准怎么办;算不动怎么办;算出来做不出来怎么办。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期间停留本页。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被追问细节时退回结论页或对应页码。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4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41248"/>
            <a:ext cx="118872" cy="118872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713232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研究生学位论文开题报告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1087221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面向烟气</a:t>
            </a:r>
            <a:pPr indent="0" marL="0">
              <a:lnSpc>
                <a:spcPct val="11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CO₂ </a:t>
            </a:r>
            <a:pPr indent="0" marL="0">
              <a:lnSpc>
                <a:spcPct val="11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捕集的</a:t>
            </a:r>
            <a:pPr indent="0" marL="0">
              <a:lnSpc>
                <a:spcPct val="11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MOF </a:t>
            </a:r>
            <a:pPr indent="0" marL="0">
              <a:lnSpc>
                <a:spcPct val="11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高通量计算筛选</a:t>
            </a:r>
            <a:endParaRPr lang="en-US" sz="36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与机器学习加速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379476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pPr indent="0" marL="0">
              <a:buNone/>
            </a:pPr>
            <a:r>
              <a:rPr lang="en-US" sz="1500" dirty="0">
                <a:solidFill>
                  <a:srgbClr val="B5C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137 953 </a:t>
            </a:r>
            <a:pPr indent="0" marL="0">
              <a:buNone/>
            </a:pPr>
            <a:r>
              <a:rPr lang="en-US" sz="150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个候选结构到</a:t>
            </a:r>
            <a:pPr indent="0" marL="0">
              <a:buNone/>
            </a:pPr>
            <a:r>
              <a:rPr lang="en-US" sz="1500" dirty="0">
                <a:solidFill>
                  <a:srgbClr val="B5C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 </a:t>
            </a:r>
            <a:pPr indent="0" marL="0">
              <a:buNone/>
            </a:pPr>
            <a:r>
              <a:rPr lang="en-US" sz="150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个可实验对象的确定性路径</a:t>
            </a:r>
            <a:pPr indent="0" marL="0">
              <a:buNone/>
            </a:pPr>
            <a:r>
              <a:rPr lang="en-US" sz="1500" dirty="0">
                <a:solidFill>
                  <a:srgbClr val="B5C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pPr indent="0" marL="0">
              <a:buNone/>
            </a:pPr>
            <a:r>
              <a:rPr lang="en-US" sz="1500" dirty="0">
                <a:solidFill>
                  <a:srgbClr val="B5C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开题报告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5029200"/>
            <a:ext cx="10872216" cy="10973"/>
          </a:xfrm>
          <a:prstGeom prst="rect">
            <a:avLst/>
          </a:prstGeom>
          <a:solidFill>
            <a:srgbClr val="B5CEC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5230368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伟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教授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5577840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5C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××</a:t>
            </a:r>
            <a:pPr indent="0" marL="0">
              <a:buNone/>
            </a:pPr>
            <a:r>
              <a:rPr lang="en-US" sz="135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</a:t>
            </a:r>
            <a:pPr indent="0" marL="0">
              <a:buNone/>
            </a:pPr>
            <a:r>
              <a:rPr lang="en-US" sz="1350" dirty="0">
                <a:solidFill>
                  <a:srgbClr val="B5C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35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材料科学与工程学院</a:t>
            </a:r>
            <a:pPr indent="0" marL="0">
              <a:buNone/>
            </a:pPr>
            <a:r>
              <a:rPr lang="en-US" sz="1350" dirty="0">
                <a:solidFill>
                  <a:srgbClr val="B5C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35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350" dirty="0">
                <a:solidFill>
                  <a:srgbClr val="B5C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2026 </a:t>
            </a:r>
            <a:pPr indent="0" marL="0">
              <a:buNone/>
            </a:pPr>
            <a:r>
              <a:rPr lang="en-US" sz="135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pPr indent="0" marL="0">
              <a:buNone/>
            </a:pPr>
            <a:r>
              <a:rPr lang="en-US" sz="1350" dirty="0">
                <a:solidFill>
                  <a:srgbClr val="B5C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</a:t>
            </a:r>
            <a:pPr indent="0" marL="0">
              <a:buNone/>
            </a:pPr>
            <a:r>
              <a:rPr lang="en-US" sz="135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</a:t>
            </a:r>
            <a:pPr indent="0" marL="0">
              <a:buNone/>
            </a:pPr>
            <a:r>
              <a:rPr lang="en-US" sz="3000" b="1" spc="600" kern="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3000" b="1" spc="600" kern="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109728" cy="109728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4" name="Text 2"/>
          <p:cNvSpPr/>
          <p:nvPr/>
        </p:nvSpPr>
        <p:spPr>
          <a:xfrm>
            <a:off x="704088" y="1737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27048" y="1737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13648" y="17373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MOF,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为什么要靠筛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527048" y="2551176"/>
            <a:ext cx="10003536" cy="7315"/>
          </a:xfrm>
          <a:prstGeom prst="rect">
            <a:avLst/>
          </a:prstGeom>
          <a:solidFill>
            <a:srgbClr val="D8E2D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63347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27048" y="2633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13648" y="263347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四阶段漏斗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GCMC 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标尺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ML 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527048" y="3447288"/>
            <a:ext cx="10003536" cy="7315"/>
          </a:xfrm>
          <a:prstGeom prst="rect">
            <a:avLst/>
          </a:prstGeom>
          <a:solidFill>
            <a:srgbClr val="D8E2D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52958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27048" y="35295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预期成果与研究计划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13648" y="352958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指标绑定验证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两年时间表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风险预案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527048" y="4343400"/>
            <a:ext cx="10003536" cy="7315"/>
          </a:xfrm>
          <a:prstGeom prst="rect">
            <a:avLst/>
          </a:prstGeom>
          <a:solidFill>
            <a:srgbClr val="D8E2D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256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27048" y="44256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13648" y="442569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buNone/>
            </a:pPr>
            <a:r>
              <a:rPr lang="en-US" sz="12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把“找材料”做成可复现的管线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高通量筛选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4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3310128"/>
            <a:ext cx="118872" cy="118872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072384"/>
            <a:ext cx="10597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MOF,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为什么要靠筛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5806440"/>
            <a:ext cx="160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b="1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16378" y="5806440"/>
            <a:ext cx="1911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84014" y="5806440"/>
            <a:ext cx="1911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预期成果与研究计划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1650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高通量筛选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84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燃烧后捕集是存量排放的现实路径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2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胺洗高再生能耗呼唤新一代吸附材料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05277" y="1946656"/>
            <a:ext cx="3490477" cy="25994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6" name="Image 0" descr="assets/web/plant_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853" y="1983232"/>
            <a:ext cx="3417325" cy="25262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4600956"/>
            <a:ext cx="4184294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CC0 / rawpixel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272430" y="2179904"/>
            <a:ext cx="77724" cy="77724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9" name="Text 6"/>
          <p:cNvSpPr/>
          <p:nvPr/>
        </p:nvSpPr>
        <p:spPr>
          <a:xfrm>
            <a:off x="5528462" y="2078939"/>
            <a:ext cx="6002122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5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存量约束</a:t>
            </a:r>
            <a:pPr indent="0" marL="0">
              <a:lnSpc>
                <a:spcPct val="124000"/>
              </a:lnSpc>
              <a:buNone/>
            </a:pPr>
            <a:r>
              <a:rPr lang="en-US" sz="1550" b="1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燃煤与工业烟气仍将长期存在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燃烧后捕集是可改造存量源的主流路线。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272430" y="2953080"/>
            <a:ext cx="77724" cy="77724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11" name="Text 8"/>
          <p:cNvSpPr/>
          <p:nvPr/>
        </p:nvSpPr>
        <p:spPr>
          <a:xfrm>
            <a:off x="5528462" y="2852115"/>
            <a:ext cx="6002122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5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现役技术痛点</a:t>
            </a:r>
            <a:pPr indent="0" marL="0">
              <a:lnSpc>
                <a:spcPct val="124000"/>
              </a:lnSpc>
              <a:buNone/>
            </a:pPr>
            <a:r>
              <a:rPr lang="en-US" sz="1550" b="1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 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胺洗再生能耗约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3.5–4 GJ/t CO₂,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占捕集成本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60% 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且有降解与腐蚀问题。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272430" y="3726256"/>
            <a:ext cx="77724" cy="77724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13" name="Text 10"/>
          <p:cNvSpPr/>
          <p:nvPr/>
        </p:nvSpPr>
        <p:spPr>
          <a:xfrm>
            <a:off x="5528462" y="3625291"/>
            <a:ext cx="6002122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50" b="1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indent="0" marL="0">
              <a:lnSpc>
                <a:spcPct val="124000"/>
              </a:lnSpc>
              <a:buNone/>
            </a:pPr>
            <a:r>
              <a:rPr lang="en-US" sz="155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的机会</a:t>
            </a:r>
            <a:pPr indent="0" marL="0">
              <a:lnSpc>
                <a:spcPct val="124000"/>
              </a:lnSpc>
              <a:buNone/>
            </a:pPr>
            <a:r>
              <a:rPr lang="en-US" sz="1550" b="1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孔化学高度可调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固体吸附再生能耗有望降至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GJ/t </a:t>
            </a:r>
            <a:pPr indent="0" marL="0">
              <a:lnSpc>
                <a:spcPct val="124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以下——但候选空间高达十万级。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58368" y="5110480"/>
            <a:ext cx="10872216" cy="566928"/>
          </a:xfrm>
          <a:prstGeom prst="roundRect">
            <a:avLst>
              <a:gd name="adj" fmla="val 8065"/>
            </a:avLst>
          </a:prstGeom>
          <a:solidFill>
            <a:srgbClr val="F2F7F5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7824" y="5247640"/>
            <a:ext cx="597408" cy="292608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/>
        </p:spPr>
      </p:sp>
      <p:sp>
        <p:nvSpPr>
          <p:cNvPr id="16" name="Text 13"/>
          <p:cNvSpPr/>
          <p:nvPr/>
        </p:nvSpPr>
        <p:spPr>
          <a:xfrm>
            <a:off x="877824" y="5247640"/>
            <a:ext cx="59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676400" y="5183632"/>
            <a:ext cx="9634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Sumida et al. (2012) Chem. Rev.;Furukawa et al. (2013) Science;Boyd et al. (2019) Nature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高通量筛选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84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计算与机器学习能否把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10⁵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级候选空间</a:t>
            </a:r>
            <a:endParaRPr lang="en-US" sz="2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可靠地压缩到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个可实验对象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994408"/>
            <a:ext cx="10872216" cy="775208"/>
          </a:xfrm>
          <a:prstGeom prst="roundRect">
            <a:avLst>
              <a:gd name="adj" fmla="val 5898"/>
            </a:avLst>
          </a:prstGeom>
          <a:solidFill>
            <a:srgbClr val="F2F7F5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235708"/>
            <a:ext cx="920496" cy="292608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235708"/>
            <a:ext cx="92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99488" y="2067560"/>
            <a:ext cx="9311640" cy="628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GCMC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分子模拟为标尺、机器学习代理模型为加速器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能否在保持粗筛精度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(MAE ≤ 0.3 mmol g⁻¹)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的前提下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CoRE MOF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全库筛选的计算成本压缩两个数量级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并交付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个兼具容量、选择性与水稳定性的可合成候选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8368" y="3007360"/>
            <a:ext cx="3429000" cy="1325880"/>
          </a:xfrm>
          <a:prstGeom prst="roundRect">
            <a:avLst>
              <a:gd name="adj" fmla="val 3793"/>
            </a:avLst>
          </a:prstGeom>
          <a:solidFill>
            <a:srgbClr val="F2F7F5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11708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137 953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95528" y="3738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</a:t>
            </a:r>
            <a:pPr algn="ctr" indent="0" marL="0">
              <a:buNone/>
            </a:pPr>
            <a:r>
              <a:rPr lang="en-US" sz="1350" b="1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MOF </a:t>
            </a:r>
            <a:pPr algn="ctr" indent="0" marL="0">
              <a:buNone/>
            </a:pPr>
            <a:r>
              <a:rPr lang="en-US" sz="135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5528" y="4013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MOF 2019 </a:t>
            </a:r>
            <a:pPr algn="ctr" indent="0" marL="0">
              <a:buNone/>
            </a:pPr>
            <a:r>
              <a:rPr lang="en-US" sz="110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9976" y="3007360"/>
            <a:ext cx="3429000" cy="1325880"/>
          </a:xfrm>
          <a:prstGeom prst="roundRect">
            <a:avLst>
              <a:gd name="adj" fmla="val 3793"/>
            </a:avLst>
          </a:prstGeom>
          <a:solidFill>
            <a:srgbClr val="F2F7F5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311708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17136" y="3738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筛选加速目标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17136" y="4013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</a:t>
            </a:r>
            <a:pPr algn="ctr" indent="0" marL="0">
              <a:buNone/>
            </a:pPr>
            <a:r>
              <a:rPr lang="en-US" sz="110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</a:t>
            </a:r>
            <a:pPr algn="ctr" indent="0" marL="0">
              <a:buNone/>
            </a:pPr>
            <a:r>
              <a:rPr lang="en-US" sz="110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</a:t>
            </a:r>
            <a:pPr algn="ctr" indent="0" marL="0">
              <a:buNone/>
            </a:pPr>
            <a:r>
              <a:rPr lang="en-US" sz="110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</a:t>
            </a:r>
            <a:pPr algn="ctr" indent="0" marL="0">
              <a:buNone/>
            </a:pPr>
            <a:r>
              <a:rPr lang="en-US" sz="110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GCMC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1584" y="3007360"/>
            <a:ext cx="3429000" cy="1325880"/>
          </a:xfrm>
          <a:prstGeom prst="roundRect">
            <a:avLst>
              <a:gd name="adj" fmla="val 3793"/>
            </a:avLst>
          </a:prstGeom>
          <a:solidFill>
            <a:srgbClr val="F2F7F5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8744" y="311708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38744" y="3738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实验候选清单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38744" y="40132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含水稳定性约束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4570984"/>
            <a:ext cx="10872216" cy="304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选题定位</a:t>
            </a:r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不造新合成路线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专注把“从库到实验清单”这一步做成可复现、可迁移的筛选管线。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高通量筛选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17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4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3310128"/>
            <a:ext cx="118872" cy="118872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072384"/>
            <a:ext cx="10597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四阶段漏斗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GCMC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标尺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ML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5806440"/>
            <a:ext cx="160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16378" y="5806440"/>
            <a:ext cx="1911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b="1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84014" y="5806440"/>
            <a:ext cx="1911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预期成果与研究计划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1650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高通量筛选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84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四阶段漏斗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几何过滤与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GCMC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打底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2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代理承担绝大多数评价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914525" y="2222094"/>
            <a:ext cx="8359902" cy="20117"/>
          </a:xfrm>
          <a:prstGeom prst="rect">
            <a:avLst/>
          </a:prstGeom>
          <a:solidFill>
            <a:srgbClr val="D8E2DD"/>
          </a:solidFill>
          <a:ln/>
        </p:spPr>
      </p:sp>
      <p:sp>
        <p:nvSpPr>
          <p:cNvPr id="6" name="Shape 4"/>
          <p:cNvSpPr/>
          <p:nvPr/>
        </p:nvSpPr>
        <p:spPr>
          <a:xfrm>
            <a:off x="1676781" y="1994408"/>
            <a:ext cx="475488" cy="475488"/>
          </a:xfrm>
          <a:prstGeom prst="ellipse">
            <a:avLst/>
          </a:prstGeom>
          <a:solidFill>
            <a:srgbClr val="2E7D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76781" y="1994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616200"/>
            <a:ext cx="2512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几何过滤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912872"/>
            <a:ext cx="251231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孔径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比表面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密度硬约束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去除不可及结构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63415" y="1994408"/>
            <a:ext cx="475488" cy="475488"/>
          </a:xfrm>
          <a:prstGeom prst="ellipse">
            <a:avLst/>
          </a:prstGeom>
          <a:solidFill>
            <a:srgbClr val="2E7D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3415" y="1994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45002" y="2616200"/>
            <a:ext cx="2512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GCMC </a:t>
            </a:r>
            <a:pPr algn="ctr" indent="0" marL="0">
              <a:buNone/>
            </a:pPr>
            <a:r>
              <a:rPr lang="en-US" sz="14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粗筛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45002" y="2912872"/>
            <a:ext cx="251231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8 200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个结构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15:85 CO₂/N₂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混合等温线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50049" y="1994408"/>
            <a:ext cx="475488" cy="475488"/>
          </a:xfrm>
          <a:prstGeom prst="ellipse">
            <a:avLst/>
          </a:prstGeom>
          <a:solidFill>
            <a:srgbClr val="2E7D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50049" y="1994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31636" y="2616200"/>
            <a:ext cx="2512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</a:t>
            </a:r>
            <a:pPr algn="ctr" indent="0" marL="0">
              <a:buNone/>
            </a:pPr>
            <a:r>
              <a:rPr lang="en-US" sz="14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31636" y="2912872"/>
            <a:ext cx="251231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代理模型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主动学习覆盖全库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36683" y="1994408"/>
            <a:ext cx="475488" cy="475488"/>
          </a:xfrm>
          <a:prstGeom prst="ellipse">
            <a:avLst/>
          </a:prstGeom>
          <a:solidFill>
            <a:srgbClr val="2E7D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36683" y="1994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18270" y="2616200"/>
            <a:ext cx="2512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精算与验证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18270" y="2912872"/>
            <a:ext cx="251231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DFT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结合能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水稳定性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,Top-50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" y="3818890"/>
            <a:ext cx="77724" cy="77724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3720592"/>
            <a:ext cx="10597896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训练集设计</a:t>
            </a:r>
            <a:pPr indent="0" marL="0">
              <a:lnSpc>
                <a:spcPct val="124000"/>
              </a:lnSpc>
              <a:buNone/>
            </a:pPr>
            <a:r>
              <a:rPr lang="en-US" sz="1500" b="1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GCMC 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粗筛结果即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ML 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化学描述符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主动学习按不确定性补标注。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6656" y="4279138"/>
            <a:ext cx="77724" cy="77724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4180840"/>
            <a:ext cx="10597896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产出物</a:t>
            </a:r>
            <a:pPr indent="0" marL="0">
              <a:lnSpc>
                <a:spcPct val="124000"/>
              </a:lnSpc>
              <a:buNone/>
            </a:pPr>
            <a:r>
              <a:rPr lang="en-US" sz="1500" b="1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开源筛选管线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全库性能数据库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Top-50 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候选清单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附合成可行性注记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高通量筛选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84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预期以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≈2 800×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的候选压缩进入目标区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≥ 150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 ≥ 4 mmol g⁻¹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996109" y="1799946"/>
            <a:ext cx="8196733" cy="319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6" name="Image 0" descr="assets/fig_scree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685" y="1836522"/>
            <a:ext cx="8123581" cy="31206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5048606"/>
            <a:ext cx="10872216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 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四阶段筛选漏斗与容量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选择性图谱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合成示意数据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非实测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)(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paper-figures 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规范生成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58368" y="5558130"/>
            <a:ext cx="10872216" cy="706120"/>
          </a:xfrm>
          <a:prstGeom prst="roundRect">
            <a:avLst>
              <a:gd name="adj" fmla="val 6475"/>
            </a:avLst>
          </a:prstGeom>
          <a:solidFill>
            <a:srgbClr val="F2F7F5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5764886"/>
            <a:ext cx="758952" cy="292608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/>
        </p:spPr>
      </p:sp>
      <p:sp>
        <p:nvSpPr>
          <p:cNvPr id="10" name="Text 7"/>
          <p:cNvSpPr/>
          <p:nvPr/>
        </p:nvSpPr>
        <p:spPr>
          <a:xfrm>
            <a:off x="877824" y="5764886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怎么读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837944" y="5631282"/>
            <a:ext cx="9473184" cy="559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每一级把候选压一个量级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昂贵方法只接住上一级的幸存者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;(b) Pareto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前沿逼近绿色目标区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目标区右上角即实验清单的来源。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高通量筛选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84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方法有效性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等温线复现烟气工况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2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代理模型对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GCMC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R²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0.92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996109" y="1827784"/>
            <a:ext cx="8196733" cy="31937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</p:spPr>
      </p:sp>
      <p:pic>
        <p:nvPicPr>
          <p:cNvPr id="6" name="Image 0" descr="assets/fig_isothe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685" y="1864360"/>
            <a:ext cx="8123581" cy="31206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5076444"/>
            <a:ext cx="10872216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 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混合气等温线与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ML–GCMC parity(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合成示意数据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非实测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)(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paper-figures 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规范生成</a:t>
            </a:r>
            <a:pPr algn="ctr" indent="0" marL="0">
              <a:buNone/>
            </a:pPr>
            <a:r>
              <a:rPr lang="en-US" sz="11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58368" y="5585968"/>
            <a:ext cx="10872216" cy="566928"/>
          </a:xfrm>
          <a:prstGeom prst="roundRect">
            <a:avLst>
              <a:gd name="adj" fmla="val 8065"/>
            </a:avLst>
          </a:prstGeom>
          <a:solidFill>
            <a:srgbClr val="F2F7F5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5723128"/>
            <a:ext cx="920496" cy="292608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/>
        </p:spPr>
      </p:sp>
      <p:sp>
        <p:nvSpPr>
          <p:cNvPr id="10" name="Text 7"/>
          <p:cNvSpPr/>
          <p:nvPr/>
        </p:nvSpPr>
        <p:spPr>
          <a:xfrm>
            <a:off x="877824" y="5723128"/>
            <a:ext cx="920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验证口径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999488" y="5659120"/>
            <a:ext cx="931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0.15 bar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分压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虚线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为评价点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MOF-74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;(b)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R² ≥ 0.9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≤ 0.3 mmol g⁻¹,±0.5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带内命中率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 95%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高通量筛选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17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4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3310128"/>
            <a:ext cx="118872" cy="118872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072384"/>
            <a:ext cx="10597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预期成果与研究计划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指标绑定验证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两年时间表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风险预案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5806440"/>
            <a:ext cx="160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16378" y="5806440"/>
            <a:ext cx="1911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84014" y="5806440"/>
            <a:ext cx="1911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b="1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预期成果与研究计划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1650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高通量筛选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预期成果与研究计划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预期成果与研究计划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四项量化指标各自绑定独立验证口径</a:t>
            </a:r>
            <a:endParaRPr lang="en-US" sz="2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00708"/>
          <a:ext cx="10872216" cy="914400"/>
        </p:xfrm>
        <a:graphic>
          <a:graphicData uri="http://schemas.openxmlformats.org/drawingml/2006/table">
            <a:tbl>
              <a:tblPr/>
              <a:tblGrid>
                <a:gridCol w="4783775"/>
                <a:gridCol w="60884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4B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量化指标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C4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F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4B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验证口径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C4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F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代理精度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:R² ≥ 0.9,MAE ≤ 0.3 mmol g⁻¹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留出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20% GCMC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结果盲测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分孔径分区报告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筛选加速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≥ 100×(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等精度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同一候选集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GCMC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与管线实测机时对比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Top-50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清单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:S ≥ 150,q ≥ 4 mmol g⁻¹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 bar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、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 K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混合气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GCMC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复核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水稳定性文献核验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开源交付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C4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筛选管线代码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全库数据库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候选清单公开发布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C4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8368" y="4013581"/>
            <a:ext cx="10872216" cy="566928"/>
          </a:xfrm>
          <a:prstGeom prst="roundRect">
            <a:avLst>
              <a:gd name="adj" fmla="val 8065"/>
            </a:avLst>
          </a:prstGeom>
          <a:solidFill>
            <a:srgbClr val="FCF6E3"/>
          </a:solidFill>
          <a:ln w="12700">
            <a:solidFill>
              <a:srgbClr val="E3CE8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7824" y="4150741"/>
            <a:ext cx="597408" cy="292608"/>
          </a:xfrm>
          <a:prstGeom prst="roundRect">
            <a:avLst>
              <a:gd name="adj" fmla="val 50000"/>
            </a:avLst>
          </a:prstGeom>
          <a:solidFill>
            <a:srgbClr val="C08A3E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4150741"/>
            <a:ext cx="59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76400" y="4086733"/>
            <a:ext cx="9634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5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本页与全篇数值均为开题目标而非已得结果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5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A5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示意图为合成数据。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高通量筛选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预期成果与研究计划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预期成果与研究计划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两年计划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前半段建标尺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后半段换清单</a:t>
            </a:r>
            <a:endParaRPr lang="en-US" sz="2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00708"/>
          <a:ext cx="10872216" cy="914400"/>
        </p:xfrm>
        <a:graphic>
          <a:graphicData uri="http://schemas.openxmlformats.org/drawingml/2006/table">
            <a:tbl>
              <a:tblPr/>
              <a:tblGrid>
                <a:gridCol w="2826776"/>
                <a:gridCol w="3913998"/>
                <a:gridCol w="413144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4B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C4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F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4B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C4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F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4B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C4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F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方法与数据搭建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2026.09 – 2026.12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MOF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清洗入库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;GCMC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流程对标文献基准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高通量粗筛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2027.01 – 2027.06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8 200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结构混合气数据集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首版描述符库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与主动学习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2027.07 – 2027.12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代理模型达标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(R² ≥ 0.9);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全库预测完成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精算与论文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C4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2028.01 – 2028.06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C4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Top-50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清单与开源发布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;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28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学位论文撰写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C4B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高通量筛选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预期成果与研究计划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预期成果与研究计划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主要风险已备预案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精度、算力与可合成性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58368" y="1600708"/>
            <a:ext cx="3429000" cy="1230884"/>
          </a:xfrm>
          <a:prstGeom prst="roundRect">
            <a:avLst>
              <a:gd name="adj" fmla="val 3714"/>
            </a:avLst>
          </a:prstGeom>
          <a:solidFill>
            <a:srgbClr val="F2F7F5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01876"/>
            <a:ext cx="73152" cy="73152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1958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</a:t>
            </a:r>
            <a:pPr indent="0" marL="0">
              <a:buNone/>
            </a:pPr>
            <a:r>
              <a:rPr lang="en-US" sz="145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精度不达标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098040"/>
            <a:ext cx="3063240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回退主动学习加密采样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按孔径分区建模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弱区退回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GCMC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直算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9976" y="1600708"/>
            <a:ext cx="3429000" cy="1230884"/>
          </a:xfrm>
          <a:prstGeom prst="roundRect">
            <a:avLst>
              <a:gd name="adj" fmla="val 3714"/>
            </a:avLst>
          </a:prstGeom>
          <a:solidFill>
            <a:srgbClr val="F2F7F5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2856" y="1801876"/>
            <a:ext cx="73152" cy="73152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11" name="Text 9"/>
          <p:cNvSpPr/>
          <p:nvPr/>
        </p:nvSpPr>
        <p:spPr>
          <a:xfrm>
            <a:off x="4727448" y="171958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算力不足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62856" y="2098040"/>
            <a:ext cx="3063240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粗筛工况降采样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单温度双压力点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课题组集群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校级超算排队冗余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1584" y="1600708"/>
            <a:ext cx="3429000" cy="1230884"/>
          </a:xfrm>
          <a:prstGeom prst="roundRect">
            <a:avLst>
              <a:gd name="adj" fmla="val 3714"/>
            </a:avLst>
          </a:prstGeom>
          <a:solidFill>
            <a:srgbClr val="F2F7F5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1801876"/>
            <a:ext cx="73152" cy="73152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15" name="Text 13"/>
          <p:cNvSpPr/>
          <p:nvPr/>
        </p:nvSpPr>
        <p:spPr>
          <a:xfrm>
            <a:off x="8449056" y="1719580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候选不可合成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84464" y="2098040"/>
            <a:ext cx="3063240" cy="6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清单叠加已合成子库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(CoRE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实验来源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与合成课题组联合评审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高通量筛选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预期成果与研究计划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4E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3310128"/>
            <a:ext cx="118872" cy="118872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072384"/>
            <a:ext cx="10597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32688" y="3767328"/>
            <a:ext cx="9500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78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把“找材料”做成可复现的管线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8368" y="5806440"/>
            <a:ext cx="1601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16378" y="5806440"/>
            <a:ext cx="1911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研究内容与技术路线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84014" y="5806440"/>
            <a:ext cx="19116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预期成果与研究计划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1650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b="1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高通量筛选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84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GCMC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为标尺、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为杠杆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2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把碳捕集材料发现从经验试错推向管线化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76656" y="2085086"/>
            <a:ext cx="77724" cy="77724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76120"/>
            <a:ext cx="105978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问题有解且可度量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四阶段漏斗把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137 953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个候选压缩约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2 800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每一级有明确准入指标。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6656" y="2653030"/>
            <a:ext cx="77724" cy="77724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544064"/>
            <a:ext cx="105978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加速不以精度为代价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主动学习让昂贵计算只花在不确定处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目标等精度下提速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 100×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6656" y="3220974"/>
            <a:ext cx="77724" cy="77724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112008"/>
            <a:ext cx="10597896" cy="34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交付可复用</a:t>
            </a:r>
            <a:pPr indent="0" marL="0">
              <a:lnSpc>
                <a:spcPct val="124000"/>
              </a:lnSpc>
              <a:buNone/>
            </a:pPr>
            <a:r>
              <a:rPr lang="en-US" sz="1700" b="1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开源管线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全库数据库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Top-50 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实验清单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indent="0" marL="0">
              <a:lnSpc>
                <a:spcPct val="124000"/>
              </a:lnSpc>
              <a:buNone/>
            </a:pPr>
            <a:r>
              <a:rPr lang="en-US" sz="1700" dirty="0">
                <a:solidFill>
                  <a:srgbClr val="2428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方法可迁移到其他气体分离体系。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8368" y="3935984"/>
            <a:ext cx="10872216" cy="566928"/>
          </a:xfrm>
          <a:prstGeom prst="roundRect">
            <a:avLst>
              <a:gd name="adj" fmla="val 8065"/>
            </a:avLst>
          </a:prstGeom>
          <a:solidFill>
            <a:srgbClr val="F2F7F5"/>
          </a:solidFill>
          <a:ln w="12700">
            <a:solidFill>
              <a:srgbClr val="DFEA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4073144"/>
            <a:ext cx="923544" cy="292608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073144"/>
            <a:ext cx="923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02536" y="4009136"/>
            <a:ext cx="9308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P8;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目标区证据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P9;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方法有效性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P10;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指标口径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P12;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时间表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4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P13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高通量筛选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89204"/>
            <a:ext cx="91440" cy="91440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023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C4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4361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2416" y="1436116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Sumida, K., Rogow, D.L., Mason, J.A., et al. (2012). Carbon dioxide capture in metal-organic frameworks. Chemical Reviews, 112, 724–781.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22225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" y="2222500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Furukawa, H., Cordova, K.E., O'Keeffe, M., &amp; Yaghi, O.M. (2013). The chemistry and applications of metal-organic frameworks. Science, 341, 1230444.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30088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2416" y="3008884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Wilmer, C.E., Leaf, M., Lee, C.Y., et al. (2012). Large-scale screening of hypothetical metal-organic frameworks. Nature Chemistry, 4, 83–89.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68796" y="14361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52844" y="1436116"/>
            <a:ext cx="47777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Chung, Y.G., Haldoupis, E., Bucior, B.J., et al. (2019). Advances, updates, and analytics for the computation-ready, experimental MOF database: CoRE MOF 2019. Journal of Chemical &amp; Engineering Data, 64, 5985–5998.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68796" y="24297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52844" y="2429764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Boyd, P.G., Chidambaram, A., García-Díez, E., et al. (2019). Data-driven design of metal-organic frameworks for wet flue gas CO₂ capture. Nature, 576, 253–256.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8796" y="32161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52844" y="3216148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42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Jablonka, K.M., Ongari, D., Moosavi, S.M., &amp; Smit, B. (2020). Big-data science in porous materials. Chemical Reviews, 120, 8066–8129.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高通量筛选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BA4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4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2286000"/>
            <a:ext cx="118872" cy="118872"/>
          </a:xfrm>
          <a:prstGeom prst="rect">
            <a:avLst/>
          </a:prstGeom>
          <a:solidFill>
            <a:srgbClr val="C08A3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651760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恳请各位专家批评指正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5029200"/>
            <a:ext cx="10872216" cy="10973"/>
          </a:xfrm>
          <a:prstGeom prst="rect">
            <a:avLst/>
          </a:prstGeom>
          <a:solidFill>
            <a:srgbClr val="B5CEC5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5212080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5C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××</a:t>
            </a:r>
            <a:pPr indent="0" marL="0">
              <a:buNone/>
            </a:pPr>
            <a:r>
              <a:rPr lang="en-US" sz="130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</a:t>
            </a:r>
            <a:pPr indent="0" marL="0">
              <a:buNone/>
            </a:pPr>
            <a:r>
              <a:rPr lang="en-US" sz="1300" dirty="0">
                <a:solidFill>
                  <a:srgbClr val="B5C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材料科学与工程学院</a:t>
            </a:r>
            <a:pPr indent="0" marL="0">
              <a:buNone/>
            </a:pPr>
            <a:r>
              <a:rPr lang="en-US" sz="1300" dirty="0">
                <a:solidFill>
                  <a:srgbClr val="B5C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300" dirty="0">
                <a:solidFill>
                  <a:srgbClr val="B5C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liming@example.edu.cn  </a:t>
            </a:r>
            <a:pPr indent="0" marL="0">
              <a:buNone/>
            </a:pPr>
            <a:r>
              <a:rPr lang="en-US" sz="130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300" dirty="0">
                <a:solidFill>
                  <a:srgbClr val="B5C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2026 </a:t>
            </a:r>
            <a:pPr indent="0" marL="0">
              <a:buNone/>
            </a:pPr>
            <a:r>
              <a:rPr lang="en-US" sz="130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pPr indent="0" marL="0">
              <a:buNone/>
            </a:pPr>
            <a:r>
              <a:rPr lang="en-US" sz="1300" dirty="0">
                <a:solidFill>
                  <a:srgbClr val="B5C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</a:t>
            </a:r>
            <a:pPr indent="0" marL="0">
              <a:buNone/>
            </a:pPr>
            <a:r>
              <a:rPr lang="en-US" sz="1300" dirty="0">
                <a:solidFill>
                  <a:srgbClr val="B5C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2026-07-23T17:00:14Z</dcterms:created>
  <dcterms:modified xsi:type="dcterms:W3CDTF">2026-07-23T17:00:14Z</dcterms:modified>
</cp:coreProperties>
</file>