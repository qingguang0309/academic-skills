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开场：这个题目吵不出结果，是因为双方没有共同的单位。今天我把它换成一个能算的问题。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这一页定基调：不是预测，是换一套能算的单位。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折点的位置是这张图唯一要读的信息。历史段是反推轨迹，不要说成实测点。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评审最可能质疑的是锚点怎么定的。答案就在式 (4)：不是我选的。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这一页讲的是方法纪律，不是结果。它决定了后面所有数字可不可信。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这一页的作用是把问题重新提对：不是会不会，是先撞哪一堵、在什么水平上撞。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表是给要逐项核对的人看的，讲的时候只念最后一行和读法。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这是全篇唯一一个需要把两份文献放在一起才看得见的结果，讲慢一点。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有人会拿上一页反驳，这一页就是替他把话说完，再指出口径差别。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与其争论 2030 年的绝对水平，不如争论 g 能否维持——后者是可讨论的。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把抽象的约束落到看得见的东西上，观众才会记住排序的理由。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导航：方法问题回 P7/P8，约束问题回 P10/P11，数据墙回 P12/P13。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这一页是主动交底。评审最反感的是把规模讲成能力，先自己说破。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致谢从简：本报告的贡献是重新组织，不是新测量。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学术报告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AFC4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AFC4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通向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endParaRPr lang="en-US" sz="4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人工智能算力曲线</a:t>
            </a:r>
            <a:endParaRPr lang="en-US" sz="4200" dirty="0"/>
          </a:p>
        </p:txBody>
      </p:sp>
      <p:sp>
        <p:nvSpPr>
          <p:cNvPr id="10" name="Shape 7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1" name="Text 8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外推、约束，与最先触及的那堵墙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3" name="Text 10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计算科学与人工智能实验室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7EE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“会不会更强”无法证伪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双方对“强”的度量不一致，争不出结果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算力是可算的代理量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有单位、有历史序列、有标度律绑定规模与数据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代价要先讲清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算力不等于能力，最后一节回到这一点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把问题收窄到单次训练算力，分歧才变得可以计算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747012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为什么选算力：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它有明确单位（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），有公开的历史序列，并通过标度律与模型规模、数据量建立定量联系。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02332"/>
            <a:ext cx="5230368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502916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收窄的代价：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算力不等于能力，两者之间隔着“算力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损失”与“损失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任务表现”两层映射。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3158236"/>
            <a:ext cx="5230368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258820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收窄的收益：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各方的判断可以折算到同一套单位里，分歧从此可以定位而不只是表态。</a:t>
            </a:r>
            <a:endParaRPr lang="en-US" sz="1500" dirty="0"/>
          </a:p>
        </p:txBody>
      </p:sp>
      <p:pic>
        <p:nvPicPr>
          <p:cNvPr id="9" name="Image 0" descr="assets/eq/c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5468" y="1600708"/>
            <a:ext cx="2579864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0216" y="1838452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83096" y="2441956"/>
            <a:ext cx="486460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单次训练算力；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0216" y="2978404"/>
            <a:ext cx="23774" cy="937260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13" name="Text 10"/>
          <p:cNvSpPr/>
          <p:nvPr/>
        </p:nvSpPr>
        <p:spPr>
          <a:xfrm>
            <a:off x="6501384" y="3014980"/>
            <a:ext cx="60045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48144" y="2996692"/>
            <a:ext cx="4282440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来自前向与反向传播中每个参数每个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的乘加次数计数。三个量绑定后，给定其中两个即可推出第三个。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300216" y="4171696"/>
            <a:ext cx="1548384" cy="2377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6300216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6300216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单位明确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41208" y="4171696"/>
            <a:ext cx="1548384" cy="2377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9" name="Text 16"/>
          <p:cNvSpPr/>
          <p:nvPr/>
        </p:nvSpPr>
        <p:spPr>
          <a:xfrm>
            <a:off x="8141208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</a:t>
            </a:r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8141208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公开历史序列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9982200" y="4171696"/>
            <a:ext cx="1548384" cy="2377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22" name="Text 19"/>
          <p:cNvSpPr/>
          <p:nvPr/>
        </p:nvSpPr>
        <p:spPr>
          <a:xfrm>
            <a:off x="9982200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</a:t>
            </a:r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9982200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到能力的映射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2010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年折过一次，倍增期由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个月缩到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arXiv:2202.05924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1247" y="1516482"/>
            <a:ext cx="5626457" cy="289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99966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按已发表的倍增周期与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年结论构造的算力轨迹（非逐模型实测点）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91202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对数坐标上斜率抬了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3.3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这一加速不是硬件单方面的贡献，而是硬件、资本投入与工程并行度共同作用，因此没有像摩尔定律那样明确的物理下限可依。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7EE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等比例配比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算力预算固定时，参数量与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数应同步放大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指数外推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对数坐标下是直线，折点即倍增期变化处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锚点取自已发表结论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自选起点会把结论悄悄写进假设里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三个关系式，把标度律、外推与锚点串成一条可复核的链</a:t>
            </a:r>
            <a:endParaRPr lang="en-US" sz="2500" dirty="0"/>
          </a:p>
        </p:txBody>
      </p:sp>
      <p:pic>
        <p:nvPicPr>
          <p:cNvPr id="4" name="Image 0" descr="assets/eq/ch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00708"/>
            <a:ext cx="4897120" cy="656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01027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" y="2367105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pic>
        <p:nvPicPr>
          <p:cNvPr id="7" name="Image 1" descr="assets/eq/g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17" y="2885265"/>
            <a:ext cx="3503623" cy="6583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3086433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41248" y="365336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年增倍数；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t₀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基准年。</a:t>
            </a:r>
            <a:endParaRPr lang="en-US" sz="1200" dirty="0"/>
          </a:p>
        </p:txBody>
      </p:sp>
      <p:pic>
        <p:nvPicPr>
          <p:cNvPr id="10" name="Image 2" descr="assets/eq/anch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46" y="4171521"/>
            <a:ext cx="4156364" cy="6217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4354401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90304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C₂₀₂₄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由两个已发表锚点反推的基准。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881368" y="1747012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的来源：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训练四百余个模型后得到的结论——算力预算固定时，参数量与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数应等比例放大。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881368" y="2349500"/>
            <a:ext cx="4649216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5" name="Text 10"/>
          <p:cNvSpPr/>
          <p:nvPr/>
        </p:nvSpPr>
        <p:spPr>
          <a:xfrm>
            <a:off x="6881368" y="2431796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对数坐标下是直线；轨迹呈折线，只因为倍增期在某些年份发生了变化。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881368" y="3034284"/>
            <a:ext cx="4649216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7" name="Text 12"/>
          <p:cNvSpPr/>
          <p:nvPr/>
        </p:nvSpPr>
        <p:spPr>
          <a:xfrm>
            <a:off x="6881368" y="3116580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本文不自选历史起点，两个锚点都取自同一份公开报告，基准年由它们反推得到。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自选起点会把结论写进假设：第一版外推低了六个数量级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656" y="1992986"/>
            <a:ext cx="3669792" cy="20117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错误做法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自己定一个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2000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年的起点，按倍增期往后推。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54096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93264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3264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推到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10¹⁹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量级，比公开可查的前沿低约六个数量级。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88992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8992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28160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8160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改用年增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两个已发表的量反推基准年。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4.9×10²⁵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反推的</a:t>
            </a:r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300216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23" name="Text 21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10²⁵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公开报告的独立陈述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61704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逾</a:t>
            </a:r>
            <a:pPr algn="l"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</a:t>
            </a:r>
            <a:pPr algn="l" indent="0" marL="0">
              <a:buNone/>
            </a:pPr>
            <a:r>
              <a:rPr lang="en-US" sz="11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个模型达此量级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0216" y="3182620"/>
            <a:ext cx="23774" cy="937260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27" name="Text 25"/>
          <p:cNvSpPr/>
          <p:nvPr/>
        </p:nvSpPr>
        <p:spPr>
          <a:xfrm>
            <a:off x="6501384" y="3219196"/>
            <a:ext cx="954024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一致性校验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01712" y="3200908"/>
            <a:ext cx="3928872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反推值与该报告另一处独立陈述在数量级上相容。两个来源互不依赖，因此这条校验是有效的。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300216" y="435762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一般性教训：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外推里最容易出错的不是增速，是起点。起点一旦自选，结论就被悄悄写进了假设，而且错得毫无痕迹。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7EE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四道天花板差三个数量级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“会不会撞墙”不是有内容的问题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电力最先咬合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其次是芯片产能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数据墙其实更早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把两篇文献联立才看得见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四类约束的上限相差三个数量级，问题该换成“先撞哪一堵”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ceil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963" y="1534770"/>
            <a:ext cx="6443027" cy="28006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26814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四类约束单独作用时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年所允许的训练算力上限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18050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跨度极不对称：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电力（单一园区）上限区间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1×10²⁸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3×10²⁹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，延迟墙则在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3×10³⁰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1×10³²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，中位相差约两个半数量级。在这个尺度差面前，把“会遇到物理瓶颈”当作单一命题讨论是没有内容的。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四道天花板的量化口径与对应上限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62887"/>
          <a:ext cx="10872216" cy="914400"/>
        </p:xfrm>
        <a:graphic>
          <a:graphicData uri="http://schemas.openxmlformats.org/drawingml/2006/table">
            <a:tbl>
              <a:tblPr/>
              <a:tblGrid>
                <a:gridCol w="3624072"/>
                <a:gridCol w="3624072"/>
                <a:gridCol w="3624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F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E768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资源口径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F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E768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允许的训练算力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FLOP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F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E768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电力·单一园区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3×10²⁹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电力·跨地域分布式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芯片产能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2 000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4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亿张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H100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5×10³⁰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4×10¹⁴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2×10¹⁶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token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延迟墙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现有硬件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3×10³⁰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1×10³²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综合结论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7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F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58368" y="4805578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综合结论落在电力（单一园区）区间的上四分之一处，略高于芯片产能区间的下沿——这正对应“电力最先咬合、芯片产能其次”的判断。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把等比例配比与文本存量联立，数据墙在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就到了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arXiv:2203.15556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(2024) arXiv:2211.04325</a:t>
            </a:r>
            <a:endParaRPr lang="en-US" sz="1200" dirty="0"/>
          </a:p>
        </p:txBody>
      </p:sp>
      <p:pic>
        <p:nvPicPr>
          <p:cNvPr id="5" name="Image 0" descr="assets/fig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938" y="1600708"/>
            <a:ext cx="5314715" cy="27091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01312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计算最优配比下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随算力的走向，及其与公开文本存量的交点</a:t>
            </a:r>
            <a:endParaRPr lang="en-US" sz="1150" dirty="0"/>
          </a:p>
        </p:txBody>
      </p:sp>
      <p:pic>
        <p:nvPicPr>
          <p:cNvPr id="7" name="Image 1" descr="assets/eq/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904" y="1765300"/>
            <a:ext cx="3840480" cy="5737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75704" y="1924159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775704" y="264994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解出的交点：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的公开人类文本存量，由式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反解得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≈ 2.7×10²⁸ FLOP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775704" y="3226018"/>
            <a:ext cx="4754880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7"/>
          <p:cNvSpPr/>
          <p:nvPr/>
        </p:nvSpPr>
        <p:spPr>
          <a:xfrm>
            <a:off x="6775704" y="329917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它比想象的早：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该值仅为综合结论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倍；按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4×/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年折算，比电力墙提前约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与上一页的“数据不是紧约束”并不矛盾，差别全在口径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765300"/>
            <a:ext cx="246888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多模态有效</a:t>
            </a:r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4×10¹⁴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2×10¹⁶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，把图像、音频、视频与质量加权后的重复利用都计入。结论：数据不是紧约束。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9856" y="1765300"/>
            <a:ext cx="2468880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6"/>
          <p:cNvSpPr/>
          <p:nvPr/>
        </p:nvSpPr>
        <p:spPr>
          <a:xfrm>
            <a:off x="3419856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纯文本存量口径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419856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。结论：在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处即告失效。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</a:t>
            </a:r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</a:t>
            </a:r>
            <a:pPr algn="l"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比电力墙提前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182620"/>
            <a:ext cx="23774" cy="1170432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219196"/>
            <a:ext cx="79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精确表述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40168" y="3200908"/>
            <a:ext cx="4090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附近失效。继续放大必须依赖多模态语料、合成数据或数据效率改进——这三条从可选项变成必需项的时点，由式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(5)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00216" y="4590796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该问哪个问题：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不是“数据够不够用”，而是“按哪个口径算、这个口径对应的技术路线是否成立”。口径一换，结论就反向。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六次方让结果对增速极度敏感：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差了近五倍</a:t>
            </a:r>
            <a:endParaRPr lang="en-US" sz="2500" dirty="0"/>
          </a:p>
        </p:txBody>
      </p:sp>
      <p:pic>
        <p:nvPicPr>
          <p:cNvPr id="4" name="Image 0" descr="assets/fig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7" y="1753413"/>
            <a:ext cx="5359239" cy="26177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462577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4  2030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年可达算力对持续年增倍数的敏感性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775704" y="157053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3.0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3.6×10²⁸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，不足综合结论的五分之一。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775704" y="2173021"/>
            <a:ext cx="4754880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5"/>
          <p:cNvSpPr/>
          <p:nvPr/>
        </p:nvSpPr>
        <p:spPr>
          <a:xfrm>
            <a:off x="6775704" y="2255317"/>
            <a:ext cx="475488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恰为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，即公开报告的判断值。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75704" y="2615997"/>
            <a:ext cx="4754880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0" name="Text 7"/>
          <p:cNvSpPr/>
          <p:nvPr/>
        </p:nvSpPr>
        <p:spPr>
          <a:xfrm>
            <a:off x="6775704" y="269829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4.28 / 5.14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分别触及电力（单一园区）上限与芯片产能中位。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75704" y="3657397"/>
            <a:ext cx="23774" cy="704088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12" name="Text 9"/>
          <p:cNvSpPr/>
          <p:nvPr/>
        </p:nvSpPr>
        <p:spPr>
          <a:xfrm>
            <a:off x="6976872" y="3693973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592568" y="3675685"/>
            <a:ext cx="39380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年状态的任何断言，实质上都是对“年增速能否维持六年”的断言。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775704" y="4599229"/>
            <a:ext cx="4754880" cy="728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为什么这么敏感：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六年复利意味着六次方——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变动四分之一，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年的结果就变动一个数量级。历史上该增速已维持十余年，但维持它所依赖的资本与电力扩张已进入新的量级。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约束的物理载体：电力接入以电网规划计，产能扩张以年计</a:t>
            </a:r>
            <a:endParaRPr lang="en-US" sz="2500" dirty="0"/>
          </a:p>
        </p:txBody>
      </p:sp>
      <p:pic>
        <p:nvPicPr>
          <p:cNvPr id="4" name="Image 0" descr="assets/data_center_server_room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526" y="1600708"/>
            <a:ext cx="4166052" cy="23434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03555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数据中心机房：供电与散热能力是最先咬合的约束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(CC0 / rawpixel)</a:t>
            </a:r>
            <a:endParaRPr lang="en-US" sz="1150" dirty="0"/>
          </a:p>
        </p:txBody>
      </p:sp>
      <p:pic>
        <p:nvPicPr>
          <p:cNvPr id="6" name="Image 1" descr="assets/semiconductor_cleanroom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000" y="1600708"/>
            <a:ext cx="3992800" cy="21447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0216" y="3836924"/>
            <a:ext cx="5230368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晶圆厂洁净室：产能无法在需求出现后一两年内响应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(STMicroelectronics (original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pPr algn="ctr" indent="0" marL="0">
              <a:buNone/>
            </a:pPr>
            <a:r>
              <a:rPr lang="en-US" sz="1150" dirty="0">
                <a:solidFill>
                  <a:srgbClr val="6E76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4526788"/>
            <a:ext cx="1087221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为什么电力最先咬合：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GW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的园区级功率相当于一座中型核电机组的输出，其接入周期由电网规划决定，而不由芯片供应决定。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E7EE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三条结论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轨迹、约束排序、数据墙位置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锚点、配比假设、口径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最重要的限定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结论：三条都是条件命题，条件是增速能否维持六年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全部外部数值取自四份公开文献，已逐条核对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582420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以已发表的两个锚点反推，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4.9×10²⁵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；维持年增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倍六年后达到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。每一段都可由公开数值复核，不含自选参数。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246884"/>
            <a:ext cx="10872216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56612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约束排序：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四类约束的上限相差三个数量级以上，最先咬合的是电力，其次是芯片产能。因此该问的是“先遇到哪一个、在什么算力水平上遇到”。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3021076"/>
            <a:ext cx="10872216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3130804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处失效，比电力约束提前约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年。多模态语料、合成数据与数据效率改进因此是前置条件，不是加分项。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179316"/>
            <a:ext cx="23774" cy="704088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4215892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75232" y="4197604"/>
            <a:ext cx="100553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以上全部取决于年增速能否维持六年，而这一条本报告无法回答。外推的价值不在于给出答案，在于把答案所依赖的假设摆到明处。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必须写明的局限：算力与能力之间隔着两层映射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897380" y="1988515"/>
            <a:ext cx="2752344" cy="20117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677924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77924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第一层：算力</a:t>
            </a:r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有稳定的幂律形式，但幂指数意味着收益递减——算力涨一个数量级，损失的改善远小于一个数量级。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0268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0268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10712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第二层：损失</a:t>
            </a:r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更不稳定。同一损失水平下不同任务差异很大，推理时计算的引入进一步削弱了对应关系。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0216" y="157795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因此结论只能说规模：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2×10²⁹ FLOP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支撑的陈述是“规模上的增长空间”，而不是“能力上的必然提升”。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0216" y="2163166"/>
            <a:ext cx="5230368" cy="6401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5" name="Text 13"/>
          <p:cNvSpPr/>
          <p:nvPr/>
        </p:nvSpPr>
        <p:spPr>
          <a:xfrm>
            <a:off x="6300216" y="2245462"/>
            <a:ext cx="523036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原报告也是这么表述的：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它把结论说成“规模差距相当于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GPT-2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之间的差距”——这是关于规模的类比，不是关于能力的承诺。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420466"/>
            <a:ext cx="23774" cy="1135888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457042"/>
            <a:ext cx="1115568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63256" y="3438754"/>
            <a:ext cx="3767328" cy="109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锚点精度完全继承自两个已发表量；式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假定严格等比例配比，实际偏离会让数据墙更早到来；纯文本与多模态两种口径给出方向相反的结论。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0216" y="4794098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听报告时的判据：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凡是把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FLOP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数字直接说成能力水平的，中间那两层映射一定被跳过了——可以据此判断一个预测是否值得采信。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2F6F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42416" y="1436116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AI. Can AI scaling continue through 2030? 2024. epoch.ai/blog/can-ai-scaling-continue-through-2030.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079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2416" y="1807972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J, BORGEAUD S, MENSCH A, et al. Training compute-optimal large language models[C]. NeurIPS, 2022, 35. arXiv:2203.15556.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2416" y="2387092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KAPLAN J, MCCANDLISH S, HENIGHAN T, et al. Scaling laws for neural language models[EB/OL]. 2020. arXiv:2001.08361.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7589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2416" y="2758948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J, HEIM L, HO A, et al. Compute trends across three eras of machine learning[EB/OL]. 2022. arXiv:2202.05924.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1308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42416" y="3130804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P, HO A, SEVILLA J, et al. Will we run out of data? Limits of LLM scaling based on human-generated data[C]. ICML, 2024. arXiv:2211.04325.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2F6FAE"/>
          </a:solidFill>
          <a:ln/>
        </p:spPr>
      </p:sp>
      <p:sp>
        <p:nvSpPr>
          <p:cNvPr id="5" name="Shape 2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实验室同事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在锚点选取与口径差异上的讨论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</a:t>
            </a:r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等四个研究组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本报告全部外部数值的来源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12" name="Text 9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公开文献与开放数据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本报告不产生新数据，只把已发表的判断放进同一套单位里。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1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1F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讨论与提问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5" name="Text 2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先撞的不是电力墙，是数据墙——前提是纯文本路线不变。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7" name="Shape 4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D9DEE6"/>
          </a:solidFill>
          <a:ln/>
        </p:spPr>
      </p:sp>
      <p:sp>
        <p:nvSpPr>
          <p:cNvPr id="8" name="Shape 5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E1E8F0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liming@example.edu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E76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图表与脚本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本报告的全部图由公开数据复算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F3A5F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2026-08-03T17:14:27Z</dcterms:created>
  <dcterms:modified xsi:type="dcterms:W3CDTF">2026-08-03T17:14:27Z</dcterms:modified>
</cp:coreProperties>
</file>