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T80</c:v>
                </c:pt>
              </c:strCache>
            </c:strRef>
          </c:tx>
          <c:spPr>
            <a:solidFill>
              <a:srgbClr val="9A000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422"/>
                    </a:solidFill>
                    <a:latin typeface="Arial"/>
                    <a:ea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无封装</c:v>
                  </c:pt>
                  <c:pt idx="1">
                    <c:v>单层 EVA</c:v>
                  </c:pt>
                  <c:pt idx="2">
                    <c:v>EVA + Al₂O₃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260</c:v>
                </c:pt>
                <c:pt idx="1">
                  <c:v>780</c:v>
                </c:pt>
                <c:pt idx="2">
                  <c:v>1980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2A2422"/>
                  </a:solidFill>
                  <a:latin typeface="Arial"/>
                  <a:ea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7DA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97069"/>
                </a:solidFill>
                <a:latin typeface="Arial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DA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defRPr>
                </a:pPr>
                <a:r>
                  <a: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rPr>
                  <a:t>湿热 T80 (h)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97069"/>
                </a:solidFill>
                <a:latin typeface="Arial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开场：钙钛矿的效率早已追平晶硅，卡住产业化的是寿命。本文把封装从经验试错变成有机理依据的设计。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这一页只讲一件事：卡住产业化的不是效率。评审若追问 T80 定义，退到公式页。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照片是真实电站，用来把实验室条件和服役场景连起来。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流程图是全篇骨架，后面每一页都能挂回这三条路径上。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这是全篇最关键的一个数字。评审若问活化能怎么定的，退到下一页的公式。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公式页不逐条念，只说明每个量是怎么测出来的。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照片是真实的封装胶膜检查，用来说明层压质量本身也是变量。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这一页是全篇的转折：把“阻隔不够”这个判断用数据立住。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β 的变化是本文最有说服力的机理证据，比 T80 数字本身更重要。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方法页的作用是让评审相信数据；重点说清哪些变量被控住了。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导航：机理问题回 P8/P9，工艺问题回 P12/P15，数据统计问题回 P15。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致谢：念到名字即可，不逐条展开。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结束页；细节问题退回对应页码，导航见结论页备注。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cam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30352"/>
            <a:ext cx="1926454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335024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硕士学位论文答辩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755648"/>
            <a:ext cx="10872216" cy="103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2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钙钛矿太阳能电池的</a:t>
            </a:r>
            <a:endParaRPr lang="en-US" sz="3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2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湿热稳定性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658368" y="3072384"/>
            <a:ext cx="1371600" cy="50292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7" name="Text 3"/>
          <p:cNvSpPr/>
          <p:nvPr/>
        </p:nvSpPr>
        <p:spPr>
          <a:xfrm>
            <a:off x="658368" y="3364992"/>
            <a:ext cx="6740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把封装从“挡水”重新定义为“抬高迁移势垒”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0" y="5138928"/>
            <a:ext cx="12188952" cy="1719072"/>
          </a:xfrm>
          <a:prstGeom prst="rect">
            <a:avLst/>
          </a:prstGeom>
          <a:solidFill>
            <a:srgbClr val="9A0001"/>
          </a:solidFill>
          <a:ln/>
        </p:spPr>
      </p:sp>
      <p:pic>
        <p:nvPicPr>
          <p:cNvPr id="9" name="Image 2" descr="/Users/shodan/project/academic-skills/examples/perovskite-stability-slides/assets/pku-landmar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3429000"/>
            <a:ext cx="5257800" cy="34111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368" y="5522976"/>
            <a:ext cx="54361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658368" y="5998464"/>
            <a:ext cx="54361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BE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pPr indent="0" marL="0">
              <a:buNone/>
            </a:pPr>
            <a:r>
              <a:rPr lang="en-US" sz="1350" dirty="0">
                <a:solidFill>
                  <a:srgbClr val="E6BE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indent="0" marL="0">
              <a:buNone/>
            </a:pPr>
            <a:r>
              <a:rPr lang="en-US" sz="1350" dirty="0">
                <a:solidFill>
                  <a:srgbClr val="E6BE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</a:t>
            </a:r>
            <a:pPr indent="0" marL="0">
              <a:buNone/>
            </a:pPr>
            <a:r>
              <a:rPr lang="en-US" sz="1350" dirty="0">
                <a:solidFill>
                  <a:srgbClr val="E6BE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58368" y="6364224"/>
            <a:ext cx="59797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BE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</a:t>
            </a:r>
            <a:pPr indent="0" marL="0">
              <a:buNone/>
            </a:pPr>
            <a:r>
              <a:rPr lang="en-US" sz="1350" dirty="0">
                <a:solidFill>
                  <a:srgbClr val="E6BE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350" dirty="0">
                <a:solidFill>
                  <a:srgbClr val="E6BE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材料科学与工程学院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</a:t>
            </a:r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58368" y="1335024"/>
            <a:ext cx="1051560" cy="25603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5" name="Text 2"/>
          <p:cNvSpPr/>
          <p:nvPr/>
        </p:nvSpPr>
        <p:spPr>
          <a:xfrm>
            <a:off x="704088" y="1737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27048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13648" y="17373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效率达标，寿命没达标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527048" y="2551176"/>
            <a:ext cx="10003536" cy="7315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263347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27048" y="2633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13648" y="263347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先弄清水汽进来之后发生了什么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527048" y="3447288"/>
            <a:ext cx="10003536" cy="7315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52958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527048" y="35295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13648" y="352958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从挡水改为抬高势垒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527048" y="4343400"/>
            <a:ext cx="10003536" cy="7315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" y="44256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527048" y="44256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613648" y="442569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结论、边界、下一步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honeyco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0"/>
            <a:ext cx="2267712" cy="2834640"/>
          </a:xfrm>
          <a:prstGeom prst="rect">
            <a:avLst/>
          </a:prstGeom>
        </p:spPr>
      </p:pic>
      <p:pic>
        <p:nvPicPr>
          <p:cNvPr id="3" name="Image 1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7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877824" y="3749040"/>
            <a:ext cx="9500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效率达标，寿命没达标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58368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0" name="Text 6"/>
          <p:cNvSpPr/>
          <p:nvPr/>
        </p:nvSpPr>
        <p:spPr>
          <a:xfrm>
            <a:off x="658368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效率已经不是瓶颈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8368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认证效率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26.7%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，与单晶硅持平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434840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3" name="Text 9"/>
          <p:cNvSpPr/>
          <p:nvPr/>
        </p:nvSpPr>
        <p:spPr>
          <a:xfrm>
            <a:off x="4434840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寿命差了一个数量级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434840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湿热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T80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1 850 h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，标准要求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25 000 h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11312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6" name="Text 12"/>
          <p:cNvSpPr/>
          <p:nvPr/>
        </p:nvSpPr>
        <p:spPr>
          <a:xfrm>
            <a:off x="8211312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封装被当成挡水层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11312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只压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WVTR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，不看降解走的是哪条路径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742313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135884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29455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十二年里效率翻了近一倍，湿热寿命却仍差一个数量级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6126480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NREL Best Research-Cell Efficiency Chart (2025); IEC 61215-1-1:2021</a:t>
            </a:r>
            <a:endParaRPr lang="en-US" sz="1200" dirty="0"/>
          </a:p>
        </p:txBody>
      </p:sp>
      <p:pic>
        <p:nvPicPr>
          <p:cNvPr id="6" name="Image 1" descr="assets/fig_g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0708"/>
            <a:ext cx="5662233" cy="2617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4309398"/>
            <a:ext cx="5662233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认证效率与湿热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T80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寿命的十二年走势（合成示意数据）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732081" y="1747012"/>
            <a:ext cx="4798503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效率侧已收敛：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年后每两年只涨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0.5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个百分点，材料体系基本定型。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732081" y="2358644"/>
            <a:ext cx="4798503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0" name="Text 6"/>
          <p:cNvSpPr/>
          <p:nvPr/>
        </p:nvSpPr>
        <p:spPr>
          <a:xfrm>
            <a:off x="6732081" y="2450084"/>
            <a:ext cx="4798503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寿命侧仍在爬坡：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T80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 h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涨到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1 850 h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IEC 61215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的门槛是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25 000 h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732081" y="3061716"/>
            <a:ext cx="4798503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2" name="Text 8"/>
          <p:cNvSpPr/>
          <p:nvPr/>
        </p:nvSpPr>
        <p:spPr>
          <a:xfrm>
            <a:off x="6732081" y="3153156"/>
            <a:ext cx="4798503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两条曲线的斜率不同：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效率靠组分与界面优化就能推进，寿命受制于降解动力学，不会自动跟上。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湿热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85/85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是最苛刻的一关，它同时激活水解与离子迁移</a:t>
            </a:r>
            <a:endParaRPr lang="en-US" sz="2500" dirty="0"/>
          </a:p>
        </p:txBody>
      </p:sp>
      <p:pic>
        <p:nvPicPr>
          <p:cNvPr id="5" name="Image 1" descr="assets/solar_panel_array_field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49" y="1746402"/>
            <a:ext cx="3103541" cy="23276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4165498"/>
            <a:ext cx="4981303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户外电站的组件阵列：湿热与温度循环是实际服役中的主导应力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(Black Rock Solar / CC BY / flickr)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051151" y="1582420"/>
            <a:ext cx="5479433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</a:t>
            </a:r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85/85</a:t>
            </a:r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℃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让离子迁移的时间尺度落进实验室可测范围，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RH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保证水汽始终过量。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051151" y="2184908"/>
            <a:ext cx="5479433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5"/>
          <p:cNvSpPr/>
          <p:nvPr/>
        </p:nvSpPr>
        <p:spPr>
          <a:xfrm>
            <a:off x="6051151" y="2267204"/>
            <a:ext cx="5479433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两种机制同时开工：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水分子先与钙钛矿形成水合相，随后碘化物沿晶界迁移——单看任一条都低估衰减速度。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051151" y="2869692"/>
            <a:ext cx="5479433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1" name="Text 7"/>
          <p:cNvSpPr/>
          <p:nvPr/>
        </p:nvSpPr>
        <p:spPr>
          <a:xfrm>
            <a:off x="6051151" y="2951988"/>
            <a:ext cx="5479433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不能用高温干热替代：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干热只加速迁移，测不出水合这一步，会把封装需求估低。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51151" y="3892804"/>
            <a:ext cx="1631406" cy="2377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13" name="Text 9"/>
          <p:cNvSpPr/>
          <p:nvPr/>
        </p:nvSpPr>
        <p:spPr>
          <a:xfrm>
            <a:off x="6051151" y="4039108"/>
            <a:ext cx="16314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℃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6051151" y="4679188"/>
            <a:ext cx="163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试验温度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975165" y="3892804"/>
            <a:ext cx="1631406" cy="2377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16" name="Text 12"/>
          <p:cNvSpPr/>
          <p:nvPr/>
        </p:nvSpPr>
        <p:spPr>
          <a:xfrm>
            <a:off x="7975165" y="4039108"/>
            <a:ext cx="16314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7975165" y="4679188"/>
            <a:ext cx="163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相对湿度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9899178" y="3892804"/>
            <a:ext cx="1631406" cy="2377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19" name="Text 15"/>
          <p:cNvSpPr/>
          <p:nvPr/>
        </p:nvSpPr>
        <p:spPr>
          <a:xfrm>
            <a:off x="9899178" y="4039108"/>
            <a:ext cx="163140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h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9899178" y="4679188"/>
            <a:ext cx="16314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IEC </a:t>
            </a:r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单轮时长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honeyco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0"/>
            <a:ext cx="2267712" cy="2834640"/>
          </a:xfrm>
          <a:prstGeom prst="rect">
            <a:avLst/>
          </a:prstGeom>
        </p:spPr>
      </p:pic>
      <p:pic>
        <p:nvPicPr>
          <p:cNvPr id="3" name="Image 1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7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877824" y="3749040"/>
            <a:ext cx="9500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先弄清水汽进来之后发生了什么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58368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0" name="Text 6"/>
          <p:cNvSpPr/>
          <p:nvPr/>
        </p:nvSpPr>
        <p:spPr>
          <a:xfrm>
            <a:off x="658368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三条路径并行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8368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有机阳离子逸出、碘迁移、界面析出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PbI₂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434840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3" name="Text 9"/>
          <p:cNvSpPr/>
          <p:nvPr/>
        </p:nvSpPr>
        <p:spPr>
          <a:xfrm>
            <a:off x="4434840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温度决定谁先到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434840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活化能相差一倍以上，主导路径随温度切换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11312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6" name="Text 12"/>
          <p:cNvSpPr/>
          <p:nvPr/>
        </p:nvSpPr>
        <p:spPr>
          <a:xfrm>
            <a:off x="8211312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这决定了封装该防什么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11312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只挡水解决不了迁移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742313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135884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29455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水汽进入后分成三条并行路径，本文在入口与势垒两处干预</a:t>
            </a:r>
            <a:endParaRPr lang="en-US" sz="2500" dirty="0"/>
          </a:p>
        </p:txBody>
      </p:sp>
      <p:pic>
        <p:nvPicPr>
          <p:cNvPr id="5" name="Image 1" descr="assets/flow_degr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43" y="1600708"/>
            <a:ext cx="10368866" cy="27091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4401312"/>
            <a:ext cx="1087221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湿热降解的路径分解与两处干预点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58368" y="4892548"/>
            <a:ext cx="1087221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为什么要分路径：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三条路径的活化能不同，主导者随温度切换；把它们混作“降解”一个词，就无法判断某种封装到底拦住了哪一条。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碘迁移的活化能是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0.68 eV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，落在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 ℃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下最容易被激活的区间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6126480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(2019) Nat. Commun. 10, 4498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；本组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 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年变温阻抗实测</a:t>
            </a:r>
            <a:endParaRPr lang="en-US" sz="1200" dirty="0"/>
          </a:p>
        </p:txBody>
      </p:sp>
      <p:pic>
        <p:nvPicPr>
          <p:cNvPr id="6" name="Image 1" descr="assets/fig_e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04" y="1644193"/>
            <a:ext cx="5326760" cy="24348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4170477"/>
            <a:ext cx="5479433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三条路径的表观活化能（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5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，误差棒为标准差）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549281" y="1582420"/>
            <a:ext cx="4981303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阳离子逸出最先启动：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0.42 eV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，但它受限于表面积，在致密膜里贡献有限。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549281" y="2184908"/>
            <a:ext cx="4981303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0" name="Text 6"/>
          <p:cNvSpPr/>
          <p:nvPr/>
        </p:nvSpPr>
        <p:spPr>
          <a:xfrm>
            <a:off x="6549281" y="2267204"/>
            <a:ext cx="4981303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碘迁移是主导项：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0.68 eV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 ℃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下约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4×10⁴ s⁻¹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的跳跃频率，与实测衰减时间尺度一致。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549281" y="2869692"/>
            <a:ext cx="4981303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2" name="Text 8"/>
          <p:cNvSpPr/>
          <p:nvPr/>
        </p:nvSpPr>
        <p:spPr>
          <a:xfrm>
            <a:off x="6549281" y="2951988"/>
            <a:ext cx="4981303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PbI₂ </a:t>
            </a:r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析出是后果不是原因：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 eV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，只有前两步先发生才观察得到。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549281" y="3911092"/>
            <a:ext cx="23774" cy="68681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14" name="Text 10"/>
          <p:cNvSpPr/>
          <p:nvPr/>
        </p:nvSpPr>
        <p:spPr>
          <a:xfrm>
            <a:off x="6750449" y="3947668"/>
            <a:ext cx="469392" cy="61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推论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366145" y="3929380"/>
            <a:ext cx="4164439" cy="65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封装若只降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WVTR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，压住的是第一步；碘迁移一旦启动，残余水汽也足以维持。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Arrhenius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关系把活化能与加速倍率对应起来</a:t>
            </a:r>
            <a:endParaRPr lang="en-US" sz="2500" dirty="0"/>
          </a:p>
        </p:txBody>
      </p:sp>
      <p:pic>
        <p:nvPicPr>
          <p:cNvPr id="5" name="Image 1" descr="assets/eq/a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860" y="1600708"/>
            <a:ext cx="2827606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1792732"/>
            <a:ext cx="5912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1248" y="2350516"/>
            <a:ext cx="554683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k(T)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下的降解速率常数；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指前因子；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Ea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表观活化能，由变温实验的斜率给出。</a:t>
            </a:r>
            <a:endParaRPr lang="en-US" sz="1200" dirty="0"/>
          </a:p>
        </p:txBody>
      </p:sp>
      <p:pic>
        <p:nvPicPr>
          <p:cNvPr id="8" name="Image 2" descr="assets/eq/wvt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357" y="3075940"/>
            <a:ext cx="4318612" cy="6400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368" y="3267964"/>
            <a:ext cx="5912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41248" y="3825748"/>
            <a:ext cx="5546830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水汽在阻隔层中的扩散系数；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溶解度；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阻隔层厚度；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t(lag)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水汽穿透的滞后时间。</a:t>
            </a:r>
            <a:endParaRPr lang="en-US" sz="1200" dirty="0"/>
          </a:p>
        </p:txBody>
      </p:sp>
      <p:pic>
        <p:nvPicPr>
          <p:cNvPr id="11" name="Image 3" descr="assets/eq/t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551172"/>
            <a:ext cx="4998190" cy="42940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8368" y="4637860"/>
            <a:ext cx="5912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841248" y="5090309"/>
            <a:ext cx="554683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β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Weibull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形状因子，指示限速步类型；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τ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特征寿命。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982438" y="1607240"/>
            <a:ext cx="454814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为什么只能报表观值：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三条路径并行时，式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(1)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测到的是加权结果，权重随温度改变——这正是活化能不能跨温区外推的原因。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982438" y="2425628"/>
            <a:ext cx="454814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6" name="Text 10"/>
          <p:cNvSpPr/>
          <p:nvPr/>
        </p:nvSpPr>
        <p:spPr>
          <a:xfrm>
            <a:off x="6982438" y="2507924"/>
            <a:ext cx="454814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滞后时间比稳态更要紧：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式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(2)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的滞后时间决定封装在多久之后才开始失效；实验室短时测试常常整段落在滞后期内，因而高估阻隔能力。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982438" y="3326312"/>
            <a:ext cx="454814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8" name="Text 12"/>
          <p:cNvSpPr/>
          <p:nvPr/>
        </p:nvSpPr>
        <p:spPr>
          <a:xfrm>
            <a:off x="6982438" y="3408608"/>
            <a:ext cx="454814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</a:t>
            </a:r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才是机理证据：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式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(3)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β &lt; 1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对应表面主导，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≈ 1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对应体相扩散主导；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T80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只说“多久”，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说“为什么”。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982438" y="4583612"/>
            <a:ext cx="23774" cy="669544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20" name="Text 14"/>
          <p:cNvSpPr/>
          <p:nvPr/>
        </p:nvSpPr>
        <p:spPr>
          <a:xfrm>
            <a:off x="7183606" y="4620188"/>
            <a:ext cx="469392" cy="59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取值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799302" y="4601900"/>
            <a:ext cx="3731282" cy="632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= 2.1×10⁸ s⁻¹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，变温区间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55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℃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，五个温度点线性拟合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R² = 0.994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honeyco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0"/>
            <a:ext cx="2267712" cy="2834640"/>
          </a:xfrm>
          <a:prstGeom prst="rect">
            <a:avLst/>
          </a:prstGeom>
        </p:spPr>
      </p:pic>
      <p:pic>
        <p:nvPicPr>
          <p:cNvPr id="3" name="Image 1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7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877824" y="3749040"/>
            <a:ext cx="9500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从挡水改为抬高势垒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58368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0" name="Text 6"/>
          <p:cNvSpPr/>
          <p:nvPr/>
        </p:nvSpPr>
        <p:spPr>
          <a:xfrm>
            <a:off x="658368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先把入口关小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8368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原子层沉积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Al₂O₃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WVTR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压三个量级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434840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3" name="Text 9"/>
          <p:cNvSpPr/>
          <p:nvPr/>
        </p:nvSpPr>
        <p:spPr>
          <a:xfrm>
            <a:off x="4434840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再把势垒抬高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434840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晶界钝化让碘迁移在室温下走不动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11312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6" name="Text 12"/>
          <p:cNvSpPr/>
          <p:nvPr/>
        </p:nvSpPr>
        <p:spPr>
          <a:xfrm>
            <a:off x="8211312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两者缺一不可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11312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单独用任一种，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T80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都停在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800 h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742313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135884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29455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封装叠层的作用分工：阻隔层管入口，钝化层管势垒</a:t>
            </a:r>
            <a:endParaRPr lang="en-US" sz="2500" dirty="0"/>
          </a:p>
        </p:txBody>
      </p:sp>
      <p:pic>
        <p:nvPicPr>
          <p:cNvPr id="5" name="Image 1" descr="assets/encapsulation_lamination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055" y="1741322"/>
            <a:ext cx="3332085" cy="22362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4068978"/>
            <a:ext cx="4865459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封装胶膜的荧光检查：用于判断层压后有无空隙与分层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(Radiotrefoil / CC BY-SA / Wikimedia Commons)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6776413" y="1804416"/>
            <a:ext cx="3913065" cy="20117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8" name="Shape 4"/>
          <p:cNvSpPr/>
          <p:nvPr/>
        </p:nvSpPr>
        <p:spPr>
          <a:xfrm>
            <a:off x="6556957" y="1595018"/>
            <a:ext cx="438912" cy="4389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9A000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56957" y="159501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935307" y="2198522"/>
            <a:ext cx="1682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原子层沉积</a:t>
            </a:r>
            <a:pPr algn="ctr"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Al₂O₃</a:t>
            </a:r>
            <a:pPr algn="ctr"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pPr algn="ctr"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nm</a:t>
            </a:r>
            <a:pPr algn="ctr"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935307" y="2737002"/>
            <a:ext cx="1682212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 ℃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下沉积，避免热损伤钙钛矿层；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WVTR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降至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10⁻⁴ g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m⁻²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d⁻¹ 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量级。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513489" y="1595018"/>
            <a:ext cx="438912" cy="4389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9A000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513489" y="159501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891839" y="2198522"/>
            <a:ext cx="1682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晶界钝化（苯乙铵碘）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891839" y="2737002"/>
            <a:ext cx="1682212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在晶界处形成二维层，把碘空位的迁移势垒抬高约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0.3 eV</a:t>
            </a:r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0470022" y="1595018"/>
            <a:ext cx="438912" cy="43891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9A000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470022" y="159501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9848372" y="2198522"/>
            <a:ext cx="1682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 </a:t>
            </a:r>
            <a:pPr algn="ctr"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层压</a:t>
            </a:r>
            <a:pPr algn="ctr"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边缘密封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848372" y="2737002"/>
            <a:ext cx="1682212" cy="1002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承担机械保护与边缘路径封堵，单独使用时阻隔能力有限。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35307" y="3977538"/>
          <a:ext cx="5595277" cy="914400"/>
        </p:xfrm>
        <a:graphic>
          <a:graphicData uri="http://schemas.openxmlformats.org/drawingml/2006/table">
            <a:tbl>
              <a:tblPr/>
              <a:tblGrid>
                <a:gridCol w="1865092"/>
                <a:gridCol w="1865092"/>
                <a:gridCol w="18650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作用对象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关键指标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Al₂O₃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水汽入口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WVTR 3×10⁻⁴ g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·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m⁻²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·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d⁻¹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苯乙铵碘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碘迁移势垒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ΔEa ≈ +0.3 eV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 +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机械与边缘路径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剥离强度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&gt; 60 N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·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cm⁻¹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6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阻隔层把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WVTR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压了三个量级，但单独用它只把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T80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推到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780 h</a:t>
            </a:r>
            <a:endParaRPr lang="en-US" sz="2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58368" y="1732280"/>
          <a:ext cx="52303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58368" y="4457192"/>
            <a:ext cx="5230368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三种封装方案的湿热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T80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（合成示意数据）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300216" y="1582420"/>
            <a:ext cx="5230368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阻隔提升是必要的：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从无封装到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 + Al₂O₃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T80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7.6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倍。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300216" y="2184908"/>
            <a:ext cx="5230368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5"/>
          <p:cNvSpPr/>
          <p:nvPr/>
        </p:nvSpPr>
        <p:spPr>
          <a:xfrm>
            <a:off x="6300216" y="2267204"/>
            <a:ext cx="5230368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但收益不成比例：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WVTR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降了三个量级，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T80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只涨了不到一个量级——说明限速步已经不是水汽进入。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300216" y="2869692"/>
            <a:ext cx="5230368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1" name="Text 7"/>
          <p:cNvSpPr/>
          <p:nvPr/>
        </p:nvSpPr>
        <p:spPr>
          <a:xfrm>
            <a:off x="6300216" y="2951988"/>
            <a:ext cx="5230368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剩下的差距在势垒：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残余水汽已足以维持碘迁移，这一步只能靠钝化去拦。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300216" y="3892804"/>
            <a:ext cx="1548384" cy="2377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13" name="Text 9"/>
          <p:cNvSpPr/>
          <p:nvPr/>
        </p:nvSpPr>
        <p:spPr>
          <a:xfrm>
            <a:off x="6300216" y="4039108"/>
            <a:ext cx="154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10³×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6300216" y="4679188"/>
            <a:ext cx="154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WVTR </a:t>
            </a:r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降幅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41208" y="3892804"/>
            <a:ext cx="1548384" cy="2377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16" name="Text 12"/>
          <p:cNvSpPr/>
          <p:nvPr/>
        </p:nvSpPr>
        <p:spPr>
          <a:xfrm>
            <a:off x="8141208" y="4039108"/>
            <a:ext cx="154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3.0×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8141208" y="4679188"/>
            <a:ext cx="154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T80 </a:t>
            </a:r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增幅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9982200" y="3892804"/>
            <a:ext cx="1548384" cy="2377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19" name="Text 15"/>
          <p:cNvSpPr/>
          <p:nvPr/>
        </p:nvSpPr>
        <p:spPr>
          <a:xfrm>
            <a:off x="9982200" y="4039108"/>
            <a:ext cx="154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 h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9982200" y="4679188"/>
            <a:ext cx="154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阻隔单独的上限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阻隔与钝化叠加后，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T80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达到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1 980 h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，衰减由指数转为近线性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6126480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本组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年湿热老化实测（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</a:t>
            </a:r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200" dirty="0"/>
          </a:p>
        </p:txBody>
      </p:sp>
      <p:pic>
        <p:nvPicPr>
          <p:cNvPr id="6" name="Image 1" descr="assets/fig_ag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295" y="1600708"/>
            <a:ext cx="5117423" cy="26177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4309872"/>
            <a:ext cx="5595277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三种方案的归一化效率衰减曲线（阴影为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 = 3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的极差）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665125" y="1747012"/>
            <a:ext cx="4865459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形状变了，不只是变慢：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Weibull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β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0.85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升到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1.05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，衰减从“前期陡降”转为近似匀速。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665125" y="2349500"/>
            <a:ext cx="4865459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0" name="Text 6"/>
          <p:cNvSpPr/>
          <p:nvPr/>
        </p:nvSpPr>
        <p:spPr>
          <a:xfrm>
            <a:off x="6665125" y="2431796"/>
            <a:ext cx="4865459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这说明限速步换了：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&lt; 1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对应表面主导，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≈ 1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对应体相扩散主导，与钝化封住晶界通路一致。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665125" y="3034284"/>
            <a:ext cx="4865459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2" name="Text 8"/>
          <p:cNvSpPr/>
          <p:nvPr/>
        </p:nvSpPr>
        <p:spPr>
          <a:xfrm>
            <a:off x="6665125" y="3116580"/>
            <a:ext cx="4865459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距离标准仍有差距：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1 980 h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25 000 h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，需要在钝化层的热稳定性上继续做。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制样与测试流程：每一步都控住了会影响寿命的变量</a:t>
            </a:r>
            <a:endParaRPr lang="en-US" sz="2500" dirty="0"/>
          </a:p>
        </p:txBody>
      </p:sp>
      <p:pic>
        <p:nvPicPr>
          <p:cNvPr id="5" name="Image 1" descr="assets/spin_coating_laboratory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05" y="1745793"/>
            <a:ext cx="3325228" cy="22362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4073449"/>
            <a:ext cx="4981303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手套箱内的旋涂制样：水氧含量全程低于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0.1 ppm(Михайлов Тимофей / CC BY / Wikimedia Commons)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051151" y="1582420"/>
            <a:ext cx="547943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制样：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反溶剂一步法，手套箱内完成；同一批次内器件效率标准差控制在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0.6%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以内。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051151" y="2158492"/>
            <a:ext cx="5479433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5"/>
          <p:cNvSpPr/>
          <p:nvPr/>
        </p:nvSpPr>
        <p:spPr>
          <a:xfrm>
            <a:off x="6051151" y="2231644"/>
            <a:ext cx="547943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Al₂O₃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沉积温度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 ℃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循环；层压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145 ℃ / 12 min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051151" y="2574544"/>
            <a:ext cx="5479433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1" name="Text 7"/>
          <p:cNvSpPr/>
          <p:nvPr/>
        </p:nvSpPr>
        <p:spPr>
          <a:xfrm>
            <a:off x="6051151" y="2647696"/>
            <a:ext cx="547943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老化：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箱连续运行，每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 h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取出测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J–V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，测试环境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 ℃ / 40% RH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051151" y="3223768"/>
            <a:ext cx="5479433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3" name="Text 9"/>
          <p:cNvSpPr/>
          <p:nvPr/>
        </p:nvSpPr>
        <p:spPr>
          <a:xfrm>
            <a:off x="6051151" y="3296920"/>
            <a:ext cx="547943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片，报告极差而非标准差——样本量不足以支持标准差。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051151" y="4220464"/>
            <a:ext cx="23774" cy="885444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15" name="Text 11"/>
          <p:cNvSpPr/>
          <p:nvPr/>
        </p:nvSpPr>
        <p:spPr>
          <a:xfrm>
            <a:off x="6252319" y="4257040"/>
            <a:ext cx="792480" cy="812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已控变量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191103" y="4238752"/>
            <a:ext cx="4339481" cy="848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同批次退火时间、封装前静置时长、老化箱内位置三项均做了随机化；未控住的是钙钛矿薄膜的晶粒尺寸分布，它随批次波动约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15%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honeyco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0"/>
            <a:ext cx="2267712" cy="2834640"/>
          </a:xfrm>
          <a:prstGeom prst="rect">
            <a:avLst/>
          </a:prstGeom>
        </p:spPr>
      </p:pic>
      <p:pic>
        <p:nvPicPr>
          <p:cNvPr id="3" name="Image 1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7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877824" y="3749040"/>
            <a:ext cx="9500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结论、边界、下一步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58368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0" name="Text 6"/>
          <p:cNvSpPr/>
          <p:nvPr/>
        </p:nvSpPr>
        <p:spPr>
          <a:xfrm>
            <a:off x="658368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主要结论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8368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碘迁移是限速步，封装要抬势垒而非只挡水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434840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3" name="Text 9"/>
          <p:cNvSpPr/>
          <p:nvPr/>
        </p:nvSpPr>
        <p:spPr>
          <a:xfrm>
            <a:off x="4434840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434840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结论基于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85/85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单一应力，未含光照与温度循环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11312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6" name="Text 12"/>
          <p:cNvSpPr/>
          <p:nvPr/>
        </p:nvSpPr>
        <p:spPr>
          <a:xfrm>
            <a:off x="8211312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11312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钝化层的热稳定性是新的限制项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742313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降解机理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135884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封装策略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29455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结论：封装的设计目标应从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WVTR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转向碘迁移势垒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6126480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全篇数据为合成示意值，用于版式演示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528166"/>
            <a:ext cx="10872216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机理：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湿热降解由三条并行路径构成，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℃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下碘迁移（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= 0.68 eV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）是限速步；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PbI₂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析出是结果而非起因。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1933550"/>
            <a:ext cx="1087221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2043278"/>
            <a:ext cx="10872216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原子层沉积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Al₂O₃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WVTR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压低三个量级，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T80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780 h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；叠加晶界钝化后达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1 980 h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，为无封装的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7.6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" y="2448662"/>
            <a:ext cx="1087221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2558390"/>
            <a:ext cx="10872216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Weibull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指数从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0.85 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升至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1.05</a:t>
            </a:r>
            <a:pPr indent="0" marL="0">
              <a:lnSpc>
                <a:spcPct val="126000"/>
              </a:lnSpc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，衰减机制由表面主导转为体相扩散主导，与钝化封住晶界通路的预期一致。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58368" y="3347822"/>
            <a:ext cx="23774" cy="704088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3384398"/>
            <a:ext cx="46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75232" y="3366110"/>
            <a:ext cx="100553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结论仅覆盖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85/85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单一应力；光照与温度循环下的耦合失效未纳入，且钝化层自身在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 ℃ </a:t>
            </a:r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长时间下的稳定性尚未单独考察。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58368" y="4307942"/>
            <a:ext cx="3429000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" y="4417670"/>
            <a:ext cx="34290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钝化层热稳定性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58368" y="4777842"/>
            <a:ext cx="3429000" cy="70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二维层在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 ℃ 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下会缓慢相变，需要单独做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1 000 h 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的等温跟踪。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379976" y="4307942"/>
            <a:ext cx="3429000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8" name="Text 15"/>
          <p:cNvSpPr/>
          <p:nvPr/>
        </p:nvSpPr>
        <p:spPr>
          <a:xfrm>
            <a:off x="4379976" y="4417670"/>
            <a:ext cx="34290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双应力耦合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379976" y="4777842"/>
            <a:ext cx="3429000" cy="70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85/85 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基础上叠加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sun 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连续光照，判断光致离子迁移是否改变限速步。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101584" y="4307942"/>
            <a:ext cx="3429000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21" name="Text 18"/>
          <p:cNvSpPr/>
          <p:nvPr/>
        </p:nvSpPr>
        <p:spPr>
          <a:xfrm>
            <a:off x="8101584" y="4417670"/>
            <a:ext cx="3429000" cy="305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45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从器件到组件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8101584" y="4777842"/>
            <a:ext cx="3429000" cy="70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现有结论基于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0.1 cm² </a:t>
            </a:r>
            <a:pPr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小面积器件，边缘路径在组件尺度上权重会显著上升。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14361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42416" y="1436116"/>
            <a:ext cx="1048816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国家标准化管理委员会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地面用光伏组件设计鉴定和定型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IEC 61215-1-1:2021[S]. 2021.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18079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42416" y="1807972"/>
            <a:ext cx="1048816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NREL. Best Research-Cell Efficiency Chart[EB/OL]. (2025)[2026-07-01]. nrel.gov/pv/cell-efficiency.html.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21798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42416" y="2179828"/>
            <a:ext cx="104881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S, CHEN S, MOSCONI E, et al. Stabilizing halide perovskite surfaces for solar cell operation[J]. Science, 2019, 365(6452): 473-478.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27589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42416" y="2758948"/>
            <a:ext cx="104881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LEIJTENS T, EPERON G E, NOEL N K, et al. Stability of metal halide perovskite solar cells[J]. Adv Energy Mater, 2015, 5(20): 1500963.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8368" y="33380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42416" y="3338068"/>
            <a:ext cx="10488168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CHENG Y, DING L. Pushing commercialization of perovskite solar cells by improving their intrinsic stability[J]. Energy Environ Sci, 2021, 14(6): 3233-3255.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cam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</a:t>
            </a:r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658368" y="1335024"/>
            <a:ext cx="1051560" cy="25603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Shape 2"/>
          <p:cNvSpPr/>
          <p:nvPr/>
        </p:nvSpPr>
        <p:spPr>
          <a:xfrm>
            <a:off x="658368" y="1810512"/>
            <a:ext cx="5230368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7" name="Text 3"/>
          <p:cNvSpPr/>
          <p:nvPr/>
        </p:nvSpPr>
        <p:spPr>
          <a:xfrm>
            <a:off x="658368" y="188366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指导与合作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8368" y="230428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</a:t>
            </a:r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</a:t>
            </a:r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教授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58368" y="257860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选题指导与全程把关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58368" y="294436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58368" y="321868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原子层沉积工艺与阻隔性测试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58368" y="358444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悦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" y="385876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变温阻抗谱与活化能拟合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0216" y="1810512"/>
            <a:ext cx="5230368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5" name="Text 11"/>
          <p:cNvSpPr/>
          <p:nvPr/>
        </p:nvSpPr>
        <p:spPr>
          <a:xfrm>
            <a:off x="6300216" y="188366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项目与平台支持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00216" y="230428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国家自然科学基金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300216" y="257860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52372234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300216" y="294436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北京大学基础科研种子基金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300216" y="321868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BMU2026SEED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300216" y="358444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分子材料与纳米加工实验室（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MMNL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00216" y="398678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工学院公共表征平台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58368" y="5632704"/>
            <a:ext cx="10872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感谢材料化学课题组全体同学在制样与老化测试中的协助。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24" name="Text 20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钙钛矿湿热稳定性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19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perovskite-stability-slides/assets/pku-camp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Users/shodan/project/academic-skills/examples/perovskite-stability-slides/assets/pku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2331720"/>
            <a:ext cx="10872216" cy="592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恳请各位专家批评指正</a:t>
            </a:r>
            <a:endParaRPr lang="en-US" sz="3400" dirty="0"/>
          </a:p>
        </p:txBody>
      </p:sp>
      <p:sp>
        <p:nvSpPr>
          <p:cNvPr id="5" name="Shape 1"/>
          <p:cNvSpPr/>
          <p:nvPr/>
        </p:nvSpPr>
        <p:spPr>
          <a:xfrm>
            <a:off x="658368" y="3216148"/>
            <a:ext cx="1371600" cy="50292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6" name="Text 2"/>
          <p:cNvSpPr/>
          <p:nvPr/>
        </p:nvSpPr>
        <p:spPr>
          <a:xfrm>
            <a:off x="658368" y="3581908"/>
            <a:ext cx="8686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封装的目标不是挡水，是把碘迁移的势垒抬到室温下走不动。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658368" y="5134356"/>
            <a:ext cx="1371600" cy="27432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8" name="Shape 4"/>
          <p:cNvSpPr/>
          <p:nvPr/>
        </p:nvSpPr>
        <p:spPr>
          <a:xfrm>
            <a:off x="2029968" y="5142586"/>
            <a:ext cx="2926080" cy="10973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Shape 5"/>
          <p:cNvSpPr/>
          <p:nvPr/>
        </p:nvSpPr>
        <p:spPr>
          <a:xfrm>
            <a:off x="4956048" y="5145329"/>
            <a:ext cx="6574536" cy="5486"/>
          </a:xfrm>
          <a:prstGeom prst="rect">
            <a:avLst/>
          </a:prstGeom>
          <a:solidFill>
            <a:srgbClr val="F0E1DF"/>
          </a:solidFill>
          <a:ln/>
        </p:spPr>
      </p:sp>
      <p:sp>
        <p:nvSpPr>
          <p:cNvPr id="10" name="Text 6"/>
          <p:cNvSpPr/>
          <p:nvPr/>
        </p:nvSpPr>
        <p:spPr>
          <a:xfrm>
            <a:off x="658368" y="53583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58368" y="5559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liming@pku.edu.cn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315968" y="53583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数据与代码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315968" y="5559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github.com/liming/pvsk-damp-heat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9A0001"/>
          </a:solidFill>
          <a:ln/>
        </p:spPr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2026-08-03T17:15:14Z</dcterms:created>
  <dcterms:modified xsi:type="dcterms:W3CDTF">2026-08-03T17:15:14Z</dcterms:modified>
</cp:coreProperties>
</file>