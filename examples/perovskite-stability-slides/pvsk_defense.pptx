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T80</c:v>
                </c:pt>
              </c:strCache>
            </c:strRef>
          </c:tx>
          <c:spPr>
            <a:solidFill>
              <a:srgbClr val="9A0001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A2422"/>
                    </a:solidFill>
                    <a:latin typeface="Arial"/>
                    <a:ea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无封装</c:v>
                  </c:pt>
                  <c:pt idx="1">
                    <c:v>单层 EVA</c:v>
                  </c:pt>
                  <c:pt idx="2">
                    <c:v>EVA + Al₂O₃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260</c:v>
                </c:pt>
                <c:pt idx="1">
                  <c:v>780</c:v>
                </c:pt>
                <c:pt idx="2">
                  <c:v>1980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100" u="none">
                  <a:solidFill>
                    <a:srgbClr val="2A2422"/>
                  </a:solidFill>
                  <a:latin typeface="Arial"/>
                  <a:ea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-8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E7DAD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97069"/>
                </a:solidFill>
                <a:latin typeface="Arial"/>
                <a:ea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DAD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797069"/>
                    </a:solidFill>
                    <a:latin typeface="Arial"/>
                    <a:ea typeface="Microsoft YaHei"/>
                  </a:defRPr>
                </a:pPr>
                <a:r>
                  <a:rPr sz="1100" b="0" i="0" u="none" strike="noStrike">
                    <a:solidFill>
                      <a:srgbClr val="797069"/>
                    </a:solidFill>
                    <a:latin typeface="Arial"/>
                    <a:ea typeface="Microsoft YaHei"/>
                  </a:rPr>
                  <a:t>湿热 T80 (h)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97069"/>
                </a:solidFill>
                <a:latin typeface="Arial"/>
                <a:ea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开场：钙钛矿的效率早已追平晶硅，卡住产业化的是寿命。本文把封装从经验试错变成有机理依据的设计。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这一页只讲一件事：卡住产业化的不是效率。评审若追问 T80 定义，退到公式页。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照片是真实电站，用来把实验室条件和服役场景连起来。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流程图是全篇骨架，后面每一页都能挂回这三条路径上。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这是全篇最关键的一个数字。评审若问活化能怎么定的，退到下一页的公式。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公式页不逐条念，只说明每个量是怎么测出来的。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照片是真实的封装胶膜检查，用来说明层压质量本身也是变量。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这一页是全篇的转折：把“阻隔不够”这个判断用数据立住。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β 的变化是本文最有说服力的机理证据，比 T80 数字本身更重要。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方法页的作用是让评审相信数据；重点说清哪些变量被控住了。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Q&amp;A 导航：机理问题回 P8/P9，工艺问题回 P12/P15，数据统计问题回 P15。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致谢：念到名字即可，不逐条展开。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结束页；细节问题退回对应页码，导航见结论页备注。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BF5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kfade:right:9A0001:12"/>
          <p:cNvSpPr/>
          <p:nvPr/>
        </p:nvSpPr>
        <p:spPr>
          <a:xfrm>
            <a:off x="4114800" y="0"/>
            <a:ext cx="3127248" cy="6858000"/>
          </a:xfrm>
          <a:prstGeom prst="rect">
            <a:avLst/>
          </a:prstGeom>
          <a:gradFill rotWithShape="1">
            <a:gsLst>
              <a:gs pos="0">
                <a:srgbClr val="9A0001">
                  <a:alpha val="12000"/>
                </a:srgbClr>
              </a:gs>
              <a:gs pos="100000">
                <a:srgbClr val="9A0001">
                  <a:alpha val="0"/>
                </a:srgbClr>
              </a:gs>
            </a:gsLst>
            <a:lin ang="0" scaled="0"/>
          </a:gra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4133088" cy="6858000"/>
          </a:xfrm>
          <a:prstGeom prst="rect">
            <a:avLst/>
          </a:prstGeom>
          <a:solidFill>
            <a:srgbClr val="9A000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237744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硕士学位论文答辩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66928" y="5138928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100" kern="0" dirty="0">
                <a:solidFill>
                  <a:srgbClr val="E6BE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汇报人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534009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李</a:t>
            </a:r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明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66928" y="5705856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100" kern="0" dirty="0">
                <a:solidFill>
                  <a:srgbClr val="E6BE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日期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66928" y="590702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</a:t>
            </a:r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</a:t>
            </a:r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7 </a:t>
            </a:r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月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90288" y="2444496"/>
            <a:ext cx="6940296" cy="1328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42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钙钛矿太阳能电池的</a:t>
            </a:r>
            <a:endParaRPr lang="en-US" sz="4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42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湿热稳定性</a:t>
            </a:r>
            <a:endParaRPr lang="en-US" sz="4200" dirty="0"/>
          </a:p>
        </p:txBody>
      </p:sp>
      <p:sp>
        <p:nvSpPr>
          <p:cNvPr id="10" name="Shape 8"/>
          <p:cNvSpPr/>
          <p:nvPr/>
        </p:nvSpPr>
        <p:spPr>
          <a:xfrm>
            <a:off x="4590288" y="4104132"/>
            <a:ext cx="1371600" cy="50292"/>
          </a:xfrm>
          <a:prstGeom prst="rect">
            <a:avLst/>
          </a:prstGeom>
          <a:solidFill>
            <a:srgbClr val="9A0001"/>
          </a:solidFill>
          <a:ln/>
        </p:spPr>
      </p:sp>
      <p:sp>
        <p:nvSpPr>
          <p:cNvPr id="11" name="Text 9"/>
          <p:cNvSpPr/>
          <p:nvPr/>
        </p:nvSpPr>
        <p:spPr>
          <a:xfrm>
            <a:off x="4590288" y="4405884"/>
            <a:ext cx="6940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把封装从“挡水”重新定义为“抬高迁移势垒”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133088" y="5138928"/>
            <a:ext cx="7397496" cy="10973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13" name="Text 11"/>
          <p:cNvSpPr/>
          <p:nvPr/>
        </p:nvSpPr>
        <p:spPr>
          <a:xfrm>
            <a:off x="4590288" y="5358384"/>
            <a:ext cx="6940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100" kern="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指导教师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90288" y="5559552"/>
            <a:ext cx="6940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王</a:t>
            </a:r>
            <a:pPr algn="l" indent="0" marL="0"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14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立</a:t>
            </a:r>
            <a:pPr algn="l" indent="0" marL="0"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14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教授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90288" y="5961888"/>
            <a:ext cx="6940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北京大学</a:t>
            </a:r>
            <a:pPr indent="0" marL="0">
              <a:buNone/>
            </a:pPr>
            <a:r>
              <a:rPr lang="en-US" sz="12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材料科学与工程学院</a:t>
            </a:r>
            <a:endParaRPr lang="en-US" sz="1250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66928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600" kern="0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</a:t>
            </a:r>
            <a:pPr indent="0" marL="0">
              <a:buNone/>
            </a:pPr>
            <a:r>
              <a:rPr lang="en-US" sz="3000" b="1" spc="600" kern="0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buNone/>
            </a:pPr>
            <a:r>
              <a:rPr lang="en-US" sz="3000" b="1" spc="600" kern="0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录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58368" y="1335024"/>
            <a:ext cx="1051560" cy="25603"/>
          </a:xfrm>
          <a:prstGeom prst="rect">
            <a:avLst/>
          </a:prstGeom>
          <a:solidFill>
            <a:srgbClr val="BE2A2E"/>
          </a:solidFill>
          <a:ln/>
        </p:spPr>
      </p:sp>
      <p:sp>
        <p:nvSpPr>
          <p:cNvPr id="4" name="Text 2"/>
          <p:cNvSpPr/>
          <p:nvPr/>
        </p:nvSpPr>
        <p:spPr>
          <a:xfrm>
            <a:off x="704088" y="1737360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E2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527048" y="173736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613648" y="1737360"/>
            <a:ext cx="2916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效率达标，寿命没达标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1527048" y="2551176"/>
            <a:ext cx="10003536" cy="7315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8" name="Text 6"/>
          <p:cNvSpPr/>
          <p:nvPr/>
        </p:nvSpPr>
        <p:spPr>
          <a:xfrm>
            <a:off x="704088" y="2633472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E2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527048" y="2633472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降解机理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613648" y="2633472"/>
            <a:ext cx="2916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先弄清水汽进来之后发生了什么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1527048" y="3447288"/>
            <a:ext cx="10003536" cy="7315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12" name="Text 10"/>
          <p:cNvSpPr/>
          <p:nvPr/>
        </p:nvSpPr>
        <p:spPr>
          <a:xfrm>
            <a:off x="704088" y="3529584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E2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1527048" y="3529584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封装策略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8613648" y="3529584"/>
            <a:ext cx="2916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从挡水改为抬高势垒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1527048" y="4343400"/>
            <a:ext cx="10003536" cy="7315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16" name="Text 14"/>
          <p:cNvSpPr/>
          <p:nvPr/>
        </p:nvSpPr>
        <p:spPr>
          <a:xfrm>
            <a:off x="704088" y="4425696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E2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527048" y="4425696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结论与不足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613648" y="4425696"/>
            <a:ext cx="2916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结论、边界、下一步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钙钛矿湿热稳定性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19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3504" y="1051560"/>
            <a:ext cx="4023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0" b="1" dirty="0">
                <a:solidFill>
                  <a:srgbClr val="F4E4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676656" y="279806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E2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01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3127248"/>
            <a:ext cx="29261" cy="493776"/>
          </a:xfrm>
          <a:prstGeom prst="rect">
            <a:avLst/>
          </a:prstGeom>
          <a:solidFill>
            <a:srgbClr val="BE2A2E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3072384"/>
            <a:ext cx="10652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77824" y="3749040"/>
            <a:ext cx="95006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效率达标，寿命没达标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58368" y="4443984"/>
            <a:ext cx="3319272" cy="18288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8" name="Text 6"/>
          <p:cNvSpPr/>
          <p:nvPr/>
        </p:nvSpPr>
        <p:spPr>
          <a:xfrm>
            <a:off x="658368" y="455371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效率已经不是瓶颈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58368" y="4846320"/>
            <a:ext cx="3319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认证效率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26.7%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，与单晶硅持平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434840" y="4443984"/>
            <a:ext cx="3319272" cy="18288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11" name="Text 9"/>
          <p:cNvSpPr/>
          <p:nvPr/>
        </p:nvSpPr>
        <p:spPr>
          <a:xfrm>
            <a:off x="4434840" y="455371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寿命差了一个数量级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434840" y="4846320"/>
            <a:ext cx="3319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湿热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T80 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1 850 h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，标准要求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25 000 h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11312" y="4443984"/>
            <a:ext cx="3319272" cy="18288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14" name="Text 12"/>
          <p:cNvSpPr/>
          <p:nvPr/>
        </p:nvSpPr>
        <p:spPr>
          <a:xfrm>
            <a:off x="8211312" y="455371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封装被当成挡水层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211312" y="4846320"/>
            <a:ext cx="3319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只压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WVTR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，不看降解走的是哪条路径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58368" y="5806440"/>
            <a:ext cx="8279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E2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</a:t>
            </a:r>
            <a:pPr indent="0" marL="0">
              <a:buNone/>
            </a:pPr>
            <a:r>
              <a:rPr lang="en-US" sz="1150" b="1" dirty="0">
                <a:solidFill>
                  <a:srgbClr val="BE2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1742313" y="5806440"/>
            <a:ext cx="11375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</a:t>
            </a:r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降解机理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135884" y="5806440"/>
            <a:ext cx="11375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</a:t>
            </a:r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封装策略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529455" y="5806440"/>
            <a:ext cx="129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</a:t>
            </a:r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结论与不足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钙钛矿湿热稳定性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19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02336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BE2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58368" y="768096"/>
            <a:ext cx="10872216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十二年里效率翻了近一倍，湿热寿命却仍差一个数量级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658368" y="6126480"/>
            <a:ext cx="10872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NREL Best Research-Cell Efficiency Chart (2025); IEC 61215-1-1:2021</a:t>
            </a:r>
            <a:endParaRPr lang="en-US" sz="1200" dirty="0"/>
          </a:p>
        </p:txBody>
      </p:sp>
      <p:pic>
        <p:nvPicPr>
          <p:cNvPr id="5" name="Image 0" descr="assets/fig_g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600708"/>
            <a:ext cx="5662233" cy="261725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58368" y="4309398"/>
            <a:ext cx="5662233" cy="308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  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认证效率与湿热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T80 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寿命的十二年走势（合成示意数据）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6732081" y="1747012"/>
            <a:ext cx="4798503" cy="538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40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效率侧已收敛：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2021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年后每两年只涨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0.5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个百分点，材料体系基本定型。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732081" y="2358644"/>
            <a:ext cx="4798503" cy="6401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9" name="Text 6"/>
          <p:cNvSpPr/>
          <p:nvPr/>
        </p:nvSpPr>
        <p:spPr>
          <a:xfrm>
            <a:off x="6732081" y="2450084"/>
            <a:ext cx="4798503" cy="538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40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寿命侧仍在爬坡：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T80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50 h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涨到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1 850 h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，但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IEC 61215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的门槛是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25 000 h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732081" y="3061716"/>
            <a:ext cx="4798503" cy="6401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11" name="Text 8"/>
          <p:cNvSpPr/>
          <p:nvPr/>
        </p:nvSpPr>
        <p:spPr>
          <a:xfrm>
            <a:off x="6732081" y="3153156"/>
            <a:ext cx="4798503" cy="538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40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两条曲线的斜率不同：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效率靠组分与界面优化就能推进，寿命受制于降解动力学，不会自动跟上。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钙钛矿湿热稳定性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 19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02336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BE2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58368" y="768096"/>
            <a:ext cx="10872216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湿热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85/85 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是最苛刻的一关，它同时激活水解与离子迁移</a:t>
            </a:r>
            <a:endParaRPr lang="en-US" sz="2500" dirty="0"/>
          </a:p>
        </p:txBody>
      </p:sp>
      <p:pic>
        <p:nvPicPr>
          <p:cNvPr id="4" name="Image 0" descr="assets/solar_panel_array_field_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97249" y="1746402"/>
            <a:ext cx="3103541" cy="232765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58368" y="4165498"/>
            <a:ext cx="4981303" cy="506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  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户外电站的组件阵列：湿热与温度循环是实际服役中的主导应力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(Black Rock Solar / CC BY / flickr)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051151" y="1582420"/>
            <a:ext cx="5479433" cy="538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40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为什么是</a:t>
            </a:r>
            <a:pPr indent="0" marL="0">
              <a:lnSpc>
                <a:spcPct val="126000"/>
              </a:lnSpc>
              <a:buNone/>
            </a:pPr>
            <a:r>
              <a:rPr lang="en-US" sz="1400" b="1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85/85</a:t>
            </a:r>
            <a:pPr indent="0" marL="0">
              <a:lnSpc>
                <a:spcPct val="126000"/>
              </a:lnSpc>
              <a:buNone/>
            </a:pPr>
            <a:r>
              <a:rPr lang="en-US" sz="140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 ℃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让离子迁移的时间尺度落进实验室可测范围，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85% RH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保证水汽始终过量。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6051151" y="2184908"/>
            <a:ext cx="5479433" cy="6401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8" name="Text 5"/>
          <p:cNvSpPr/>
          <p:nvPr/>
        </p:nvSpPr>
        <p:spPr>
          <a:xfrm>
            <a:off x="6051151" y="2267204"/>
            <a:ext cx="5479433" cy="538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40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两种机制同时开工：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水分子先与钙钛矿形成水合相，随后碘化物沿晶界迁移——单看任一条都低估衰减速度。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051151" y="2869692"/>
            <a:ext cx="5479433" cy="6401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10" name="Text 7"/>
          <p:cNvSpPr/>
          <p:nvPr/>
        </p:nvSpPr>
        <p:spPr>
          <a:xfrm>
            <a:off x="6051151" y="2951988"/>
            <a:ext cx="5479433" cy="538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40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不能用高温干热替代：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干热只加速迁移，测不出水合这一步，会把封装需求估低。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051151" y="3892804"/>
            <a:ext cx="1631406" cy="23774"/>
          </a:xfrm>
          <a:prstGeom prst="rect">
            <a:avLst/>
          </a:prstGeom>
          <a:solidFill>
            <a:srgbClr val="9A0001"/>
          </a:solidFill>
          <a:ln/>
        </p:spPr>
      </p:sp>
      <p:sp>
        <p:nvSpPr>
          <p:cNvPr id="12" name="Text 9"/>
          <p:cNvSpPr/>
          <p:nvPr/>
        </p:nvSpPr>
        <p:spPr>
          <a:xfrm>
            <a:off x="6051151" y="4039108"/>
            <a:ext cx="163140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 ℃</a:t>
            </a:r>
            <a:endParaRPr lang="en-US" sz="3600" dirty="0"/>
          </a:p>
        </p:txBody>
      </p:sp>
      <p:sp>
        <p:nvSpPr>
          <p:cNvPr id="13" name="Text 10"/>
          <p:cNvSpPr/>
          <p:nvPr/>
        </p:nvSpPr>
        <p:spPr>
          <a:xfrm>
            <a:off x="6051151" y="4679188"/>
            <a:ext cx="16314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试验温度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7975165" y="3892804"/>
            <a:ext cx="1631406" cy="23774"/>
          </a:xfrm>
          <a:prstGeom prst="rect">
            <a:avLst/>
          </a:prstGeom>
          <a:solidFill>
            <a:srgbClr val="9A0001"/>
          </a:solidFill>
          <a:ln/>
        </p:spPr>
      </p:sp>
      <p:sp>
        <p:nvSpPr>
          <p:cNvPr id="15" name="Text 12"/>
          <p:cNvSpPr/>
          <p:nvPr/>
        </p:nvSpPr>
        <p:spPr>
          <a:xfrm>
            <a:off x="7975165" y="4039108"/>
            <a:ext cx="163140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85%</a:t>
            </a:r>
            <a:endParaRPr lang="en-US" sz="3600" dirty="0"/>
          </a:p>
        </p:txBody>
      </p:sp>
      <p:sp>
        <p:nvSpPr>
          <p:cNvPr id="16" name="Text 13"/>
          <p:cNvSpPr/>
          <p:nvPr/>
        </p:nvSpPr>
        <p:spPr>
          <a:xfrm>
            <a:off x="7975165" y="4679188"/>
            <a:ext cx="16314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相对湿度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9899178" y="3892804"/>
            <a:ext cx="1631406" cy="23774"/>
          </a:xfrm>
          <a:prstGeom prst="rect">
            <a:avLst/>
          </a:prstGeom>
          <a:solidFill>
            <a:srgbClr val="9A0001"/>
          </a:solidFill>
          <a:ln/>
        </p:spPr>
      </p:sp>
      <p:sp>
        <p:nvSpPr>
          <p:cNvPr id="18" name="Text 15"/>
          <p:cNvSpPr/>
          <p:nvPr/>
        </p:nvSpPr>
        <p:spPr>
          <a:xfrm>
            <a:off x="9899178" y="4039108"/>
            <a:ext cx="163140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1 000 h</a:t>
            </a:r>
            <a:endParaRPr lang="en-US" sz="3600" dirty="0"/>
          </a:p>
        </p:txBody>
      </p:sp>
      <p:sp>
        <p:nvSpPr>
          <p:cNvPr id="19" name="Text 16"/>
          <p:cNvSpPr/>
          <p:nvPr/>
        </p:nvSpPr>
        <p:spPr>
          <a:xfrm>
            <a:off x="9899178" y="4679188"/>
            <a:ext cx="16314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IEC </a:t>
            </a:r>
            <a:pPr algn="l" indent="0" marL="0">
              <a:buNone/>
            </a:pPr>
            <a:r>
              <a:rPr lang="en-US" sz="135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单轮时长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钙钛矿湿热稳定性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 19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3504" y="1051560"/>
            <a:ext cx="4023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0" b="1" dirty="0">
                <a:solidFill>
                  <a:srgbClr val="F4E4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676656" y="279806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E2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02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3127248"/>
            <a:ext cx="29261" cy="493776"/>
          </a:xfrm>
          <a:prstGeom prst="rect">
            <a:avLst/>
          </a:prstGeom>
          <a:solidFill>
            <a:srgbClr val="BE2A2E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3072384"/>
            <a:ext cx="10652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降解机理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77824" y="3749040"/>
            <a:ext cx="95006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先弄清水汽进来之后发生了什么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58368" y="4443984"/>
            <a:ext cx="3319272" cy="18288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8" name="Text 6"/>
          <p:cNvSpPr/>
          <p:nvPr/>
        </p:nvSpPr>
        <p:spPr>
          <a:xfrm>
            <a:off x="658368" y="455371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三条路径并行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58368" y="4846320"/>
            <a:ext cx="3319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有机阳离子逸出、碘迁移、界面析出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PbI₂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434840" y="4443984"/>
            <a:ext cx="3319272" cy="18288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11" name="Text 9"/>
          <p:cNvSpPr/>
          <p:nvPr/>
        </p:nvSpPr>
        <p:spPr>
          <a:xfrm>
            <a:off x="4434840" y="455371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温度决定谁先到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434840" y="4846320"/>
            <a:ext cx="3319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活化能相差一倍以上，主导路径随温度切换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11312" y="4443984"/>
            <a:ext cx="3319272" cy="18288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14" name="Text 12"/>
          <p:cNvSpPr/>
          <p:nvPr/>
        </p:nvSpPr>
        <p:spPr>
          <a:xfrm>
            <a:off x="8211312" y="455371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这决定了封装该防什么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211312" y="4846320"/>
            <a:ext cx="3319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只挡水解决不了迁移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58368" y="5806440"/>
            <a:ext cx="8279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</a:t>
            </a:r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1742313" y="5806440"/>
            <a:ext cx="11375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E2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</a:t>
            </a:r>
            <a:pPr indent="0" marL="0">
              <a:buNone/>
            </a:pPr>
            <a:r>
              <a:rPr lang="en-US" sz="1150" b="1" dirty="0">
                <a:solidFill>
                  <a:srgbClr val="BE2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降解机理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135884" y="5806440"/>
            <a:ext cx="11375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</a:t>
            </a:r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封装策略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529455" y="5806440"/>
            <a:ext cx="129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</a:t>
            </a:r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结论与不足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钙钛矿湿热稳定性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降解机理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/ 19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02336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BE2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降解机理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58368" y="768096"/>
            <a:ext cx="10872216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水汽进入后分成三条并行路径，本文在入口与势垒两处干预</a:t>
            </a:r>
            <a:endParaRPr lang="en-US" sz="2500" dirty="0"/>
          </a:p>
        </p:txBody>
      </p:sp>
      <p:pic>
        <p:nvPicPr>
          <p:cNvPr id="4" name="Image 0" descr="assets/flow_degra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0043" y="1600708"/>
            <a:ext cx="10368866" cy="27091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58368" y="4401312"/>
            <a:ext cx="10872216" cy="308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  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湿热降解的路径分解与两处干预点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58368" y="4892548"/>
            <a:ext cx="10872216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5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为什么要分路径：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三条路径的活化能不同，主导者随温度切换；把它们混作“降解”一个词，就无法判断某种封装到底拦住了哪一条。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钙钛矿湿热稳定性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降解机理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/ 19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02336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BE2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降解机理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58368" y="768096"/>
            <a:ext cx="10872216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碘迁移的活化能是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0.68 eV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，落在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85 ℃ 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下最容易被激活的区间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658368" y="6126480"/>
            <a:ext cx="10872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Yang </a:t>
            </a:r>
            <a:pPr algn="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</a:t>
            </a:r>
            <a:pPr algn="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(2019) Nat. Commun. 10, 4498</a:t>
            </a:r>
            <a:pPr algn="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；本组</a:t>
            </a:r>
            <a:pPr algn="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2025 </a:t>
            </a:r>
            <a:pPr algn="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年变温阻抗实测</a:t>
            </a:r>
            <a:endParaRPr lang="en-US" sz="1200" dirty="0"/>
          </a:p>
        </p:txBody>
      </p:sp>
      <p:pic>
        <p:nvPicPr>
          <p:cNvPr id="5" name="Image 0" descr="assets/fig_e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4704" y="1644193"/>
            <a:ext cx="5326760" cy="243484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58368" y="4170477"/>
            <a:ext cx="5479433" cy="308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  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三条路径的表观活化能（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 = 5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，误差棒为标准差）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6549281" y="1582420"/>
            <a:ext cx="4981303" cy="538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40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阳离子逸出最先启动：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0.42 eV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，但它受限于表面积，在致密膜里贡献有限。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549281" y="2184908"/>
            <a:ext cx="4981303" cy="6401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9" name="Text 6"/>
          <p:cNvSpPr/>
          <p:nvPr/>
        </p:nvSpPr>
        <p:spPr>
          <a:xfrm>
            <a:off x="6549281" y="2267204"/>
            <a:ext cx="4981303" cy="538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40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碘迁移是主导项：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0.68 eV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对应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85 ℃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下约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4×10⁴ s⁻¹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的跳跃频率，与实测衰减时间尺度一致。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549281" y="2869692"/>
            <a:ext cx="4981303" cy="6401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11" name="Text 8"/>
          <p:cNvSpPr/>
          <p:nvPr/>
        </p:nvSpPr>
        <p:spPr>
          <a:xfrm>
            <a:off x="6549281" y="2951988"/>
            <a:ext cx="4981303" cy="538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400" b="1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PbI₂ </a:t>
            </a:r>
            <a:pPr indent="0" marL="0">
              <a:lnSpc>
                <a:spcPct val="126000"/>
              </a:lnSpc>
              <a:buNone/>
            </a:pPr>
            <a:r>
              <a:rPr lang="en-US" sz="140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析出是后果不是原因：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0.94 eV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，只有前两步先发生才观察得到。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549281" y="3911092"/>
            <a:ext cx="23774" cy="686816"/>
          </a:xfrm>
          <a:prstGeom prst="rect">
            <a:avLst/>
          </a:prstGeom>
          <a:solidFill>
            <a:srgbClr val="BE2A2E"/>
          </a:solidFill>
          <a:ln/>
        </p:spPr>
      </p:sp>
      <p:sp>
        <p:nvSpPr>
          <p:cNvPr id="13" name="Text 10"/>
          <p:cNvSpPr/>
          <p:nvPr/>
        </p:nvSpPr>
        <p:spPr>
          <a:xfrm>
            <a:off x="6750449" y="3947668"/>
            <a:ext cx="469392" cy="61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80" kern="0" dirty="0">
                <a:solidFill>
                  <a:srgbClr val="BE2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推论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7366145" y="3929380"/>
            <a:ext cx="4164439" cy="65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封装若只降</a:t>
            </a:r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WVTR</a:t>
            </a:r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，压住的是第一步；碘迁移一旦启动，残余水汽也足以维持。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钙钛矿湿热稳定性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降解机理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/ 19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02336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BE2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降解机理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58368" y="768096"/>
            <a:ext cx="10872216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Arrhenius 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关系把活化能与加速倍率对应起来</a:t>
            </a:r>
            <a:endParaRPr lang="en-US" sz="2500" dirty="0"/>
          </a:p>
        </p:txBody>
      </p:sp>
      <p:pic>
        <p:nvPicPr>
          <p:cNvPr id="4" name="Image 0" descr="assets/eq/ar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00860" y="1600708"/>
            <a:ext cx="2827606" cy="6400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58368" y="1792732"/>
            <a:ext cx="59125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841248" y="2350516"/>
            <a:ext cx="5546830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00" b="1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其中</a:t>
            </a:r>
            <a:pPr indent="0" marL="0">
              <a:lnSpc>
                <a:spcPct val="124000"/>
              </a:lnSpc>
              <a:buNone/>
            </a:pPr>
            <a:r>
              <a:rPr lang="en-US" sz="120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k(T) </a:t>
            </a:r>
            <a:pPr indent="0" marL="0">
              <a:lnSpc>
                <a:spcPct val="124000"/>
              </a:lnSpc>
              <a:buNone/>
            </a:pPr>
            <a:r>
              <a:rPr lang="en-US" sz="120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温度</a:t>
            </a:r>
            <a:pPr indent="0" marL="0">
              <a:lnSpc>
                <a:spcPct val="124000"/>
              </a:lnSpc>
              <a:buNone/>
            </a:pPr>
            <a:r>
              <a:rPr lang="en-US" sz="120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 </a:t>
            </a:r>
            <a:pPr indent="0" marL="0">
              <a:lnSpc>
                <a:spcPct val="124000"/>
              </a:lnSpc>
              <a:buNone/>
            </a:pPr>
            <a:r>
              <a:rPr lang="en-US" sz="120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下的降解速率常数；</a:t>
            </a:r>
            <a:pPr indent="0" marL="0">
              <a:lnSpc>
                <a:spcPct val="124000"/>
              </a:lnSpc>
              <a:buNone/>
            </a:pPr>
            <a:r>
              <a:rPr lang="en-US" sz="120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 </a:t>
            </a:r>
            <a:pPr indent="0" marL="0">
              <a:lnSpc>
                <a:spcPct val="124000"/>
              </a:lnSpc>
              <a:buNone/>
            </a:pPr>
            <a:r>
              <a:rPr lang="en-US" sz="120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指前因子；</a:t>
            </a:r>
            <a:pPr indent="0" marL="0">
              <a:lnSpc>
                <a:spcPct val="124000"/>
              </a:lnSpc>
              <a:buNone/>
            </a:pPr>
            <a:r>
              <a:rPr lang="en-US" sz="120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Ea </a:t>
            </a:r>
            <a:pPr indent="0" marL="0">
              <a:lnSpc>
                <a:spcPct val="124000"/>
              </a:lnSpc>
              <a:buNone/>
            </a:pPr>
            <a:r>
              <a:rPr lang="en-US" sz="120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表观活化能，由变温实验的斜率给出。</a:t>
            </a:r>
            <a:endParaRPr lang="en-US" sz="1200" dirty="0"/>
          </a:p>
        </p:txBody>
      </p:sp>
      <p:pic>
        <p:nvPicPr>
          <p:cNvPr id="7" name="Image 1" descr="assets/eq/wvt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5357" y="3075940"/>
            <a:ext cx="4318612" cy="64008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58368" y="3267964"/>
            <a:ext cx="59125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841248" y="3825748"/>
            <a:ext cx="5546830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00" b="1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其中</a:t>
            </a:r>
            <a:pPr indent="0" marL="0">
              <a:lnSpc>
                <a:spcPct val="124000"/>
              </a:lnSpc>
              <a:buNone/>
            </a:pPr>
            <a:r>
              <a:rPr lang="en-US" sz="120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D </a:t>
            </a:r>
            <a:pPr indent="0" marL="0">
              <a:lnSpc>
                <a:spcPct val="124000"/>
              </a:lnSpc>
              <a:buNone/>
            </a:pPr>
            <a:r>
              <a:rPr lang="en-US" sz="120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水汽在阻隔层中的扩散系数；</a:t>
            </a:r>
            <a:pPr indent="0" marL="0">
              <a:lnSpc>
                <a:spcPct val="124000"/>
              </a:lnSpc>
              <a:buNone/>
            </a:pPr>
            <a:r>
              <a:rPr lang="en-US" sz="120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 </a:t>
            </a:r>
            <a:pPr indent="0" marL="0">
              <a:lnSpc>
                <a:spcPct val="124000"/>
              </a:lnSpc>
              <a:buNone/>
            </a:pPr>
            <a:r>
              <a:rPr lang="en-US" sz="120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溶解度；</a:t>
            </a:r>
            <a:pPr indent="0" marL="0">
              <a:lnSpc>
                <a:spcPct val="124000"/>
              </a:lnSpc>
              <a:buNone/>
            </a:pPr>
            <a:r>
              <a:rPr lang="en-US" sz="120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L </a:t>
            </a:r>
            <a:pPr indent="0" marL="0">
              <a:lnSpc>
                <a:spcPct val="124000"/>
              </a:lnSpc>
              <a:buNone/>
            </a:pPr>
            <a:r>
              <a:rPr lang="en-US" sz="120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阻隔层厚度；</a:t>
            </a:r>
            <a:pPr indent="0" marL="0">
              <a:lnSpc>
                <a:spcPct val="124000"/>
              </a:lnSpc>
              <a:buNone/>
            </a:pPr>
            <a:r>
              <a:rPr lang="en-US" sz="120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t(lag) </a:t>
            </a:r>
            <a:pPr indent="0" marL="0">
              <a:lnSpc>
                <a:spcPct val="124000"/>
              </a:lnSpc>
              <a:buNone/>
            </a:pPr>
            <a:r>
              <a:rPr lang="en-US" sz="120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水汽穿透的滞后时间。</a:t>
            </a:r>
            <a:endParaRPr lang="en-US" sz="1200" dirty="0"/>
          </a:p>
        </p:txBody>
      </p:sp>
      <p:pic>
        <p:nvPicPr>
          <p:cNvPr id="10" name="Image 2" descr="assets/eq/t8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568" y="4551172"/>
            <a:ext cx="4998190" cy="429409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658368" y="4637860"/>
            <a:ext cx="59125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(3)</a:t>
            </a:r>
            <a:endParaRPr lang="en-US" sz="1200" dirty="0"/>
          </a:p>
        </p:txBody>
      </p:sp>
      <p:sp>
        <p:nvSpPr>
          <p:cNvPr id="12" name="Text 7"/>
          <p:cNvSpPr/>
          <p:nvPr/>
        </p:nvSpPr>
        <p:spPr>
          <a:xfrm>
            <a:off x="841248" y="5090309"/>
            <a:ext cx="5546830" cy="262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00" b="1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其中</a:t>
            </a:r>
            <a:pPr indent="0" marL="0">
              <a:lnSpc>
                <a:spcPct val="124000"/>
              </a:lnSpc>
              <a:buNone/>
            </a:pPr>
            <a:r>
              <a:rPr lang="en-US" sz="120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β </a:t>
            </a:r>
            <a:pPr indent="0" marL="0">
              <a:lnSpc>
                <a:spcPct val="124000"/>
              </a:lnSpc>
              <a:buNone/>
            </a:pPr>
            <a:r>
              <a:rPr lang="en-US" sz="120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Weibull </a:t>
            </a:r>
            <a:pPr indent="0" marL="0">
              <a:lnSpc>
                <a:spcPct val="124000"/>
              </a:lnSpc>
              <a:buNone/>
            </a:pPr>
            <a:r>
              <a:rPr lang="en-US" sz="120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形状因子，指示限速步类型；</a:t>
            </a:r>
            <a:pPr indent="0" marL="0">
              <a:lnSpc>
                <a:spcPct val="124000"/>
              </a:lnSpc>
              <a:buNone/>
            </a:pPr>
            <a:r>
              <a:rPr lang="en-US" sz="120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τ </a:t>
            </a:r>
            <a:pPr indent="0" marL="0">
              <a:lnSpc>
                <a:spcPct val="124000"/>
              </a:lnSpc>
              <a:buNone/>
            </a:pPr>
            <a:r>
              <a:rPr lang="en-US" sz="120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特征寿命。</a:t>
            </a:r>
            <a:endParaRPr lang="en-US" sz="1200" dirty="0"/>
          </a:p>
        </p:txBody>
      </p:sp>
      <p:sp>
        <p:nvSpPr>
          <p:cNvPr id="13" name="Text 8"/>
          <p:cNvSpPr/>
          <p:nvPr/>
        </p:nvSpPr>
        <p:spPr>
          <a:xfrm>
            <a:off x="6982438" y="1607240"/>
            <a:ext cx="4548146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5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为什么只能报表观值：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三条路径并行时，式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(1)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测到的是加权结果，权重随温度改变——这正是活化能不能跨温区外推的原因。</a:t>
            </a:r>
            <a:endParaRPr lang="en-US" sz="1350" dirty="0"/>
          </a:p>
        </p:txBody>
      </p:sp>
      <p:sp>
        <p:nvSpPr>
          <p:cNvPr id="14" name="Shape 9"/>
          <p:cNvSpPr/>
          <p:nvPr/>
        </p:nvSpPr>
        <p:spPr>
          <a:xfrm>
            <a:off x="6982438" y="2425628"/>
            <a:ext cx="4548146" cy="6401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15" name="Text 10"/>
          <p:cNvSpPr/>
          <p:nvPr/>
        </p:nvSpPr>
        <p:spPr>
          <a:xfrm>
            <a:off x="6982438" y="2507924"/>
            <a:ext cx="4548146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5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滞后时间比稳态更要紧：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式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(2)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的滞后时间决定封装在多久之后才开始失效；实验室短时测试常常整段落在滞后期内，因而高估阻隔能力。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982438" y="3326312"/>
            <a:ext cx="4548146" cy="6401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17" name="Text 12"/>
          <p:cNvSpPr/>
          <p:nvPr/>
        </p:nvSpPr>
        <p:spPr>
          <a:xfrm>
            <a:off x="6982438" y="3408608"/>
            <a:ext cx="4548146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50" b="1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β </a:t>
            </a:r>
            <a:pPr indent="0" marL="0">
              <a:lnSpc>
                <a:spcPct val="126000"/>
              </a:lnSpc>
              <a:buNone/>
            </a:pPr>
            <a:r>
              <a:rPr lang="en-US" sz="135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才是机理证据：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式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(3)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β &lt; 1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对应表面主导，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β ≈ 1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对应体相扩散主导；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T80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只说“多久”，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β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说“为什么”。</a:t>
            </a:r>
            <a:endParaRPr lang="en-US" sz="1350" dirty="0"/>
          </a:p>
        </p:txBody>
      </p:sp>
      <p:sp>
        <p:nvSpPr>
          <p:cNvPr id="18" name="Shape 13"/>
          <p:cNvSpPr/>
          <p:nvPr/>
        </p:nvSpPr>
        <p:spPr>
          <a:xfrm>
            <a:off x="6982438" y="4583612"/>
            <a:ext cx="23774" cy="669544"/>
          </a:xfrm>
          <a:prstGeom prst="rect">
            <a:avLst/>
          </a:prstGeom>
          <a:solidFill>
            <a:srgbClr val="BE2A2E"/>
          </a:solidFill>
          <a:ln/>
        </p:spPr>
      </p:sp>
      <p:sp>
        <p:nvSpPr>
          <p:cNvPr id="19" name="Text 14"/>
          <p:cNvSpPr/>
          <p:nvPr/>
        </p:nvSpPr>
        <p:spPr>
          <a:xfrm>
            <a:off x="7183606" y="4620188"/>
            <a:ext cx="469392" cy="596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80" kern="0" dirty="0">
                <a:solidFill>
                  <a:srgbClr val="BE2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取值</a:t>
            </a:r>
            <a:endParaRPr lang="en-US" sz="1200" dirty="0"/>
          </a:p>
        </p:txBody>
      </p:sp>
      <p:sp>
        <p:nvSpPr>
          <p:cNvPr id="20" name="Text 15"/>
          <p:cNvSpPr/>
          <p:nvPr/>
        </p:nvSpPr>
        <p:spPr>
          <a:xfrm>
            <a:off x="7799302" y="4601900"/>
            <a:ext cx="3731282" cy="632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本文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 = 2.1×10⁸ s⁻¹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，变温区间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55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 ℃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，五个温度点线性拟合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R² = 0.994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</p:txBody>
      </p:sp>
      <p:sp>
        <p:nvSpPr>
          <p:cNvPr id="21" name="Text 16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钙钛矿湿热稳定性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降解机理</a:t>
            </a:r>
            <a:endParaRPr lang="en-US" sz="950" dirty="0"/>
          </a:p>
        </p:txBody>
      </p:sp>
      <p:sp>
        <p:nvSpPr>
          <p:cNvPr id="22" name="Text 17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/ 19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3504" y="1051560"/>
            <a:ext cx="4023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0" b="1" dirty="0">
                <a:solidFill>
                  <a:srgbClr val="F4E4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676656" y="279806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E2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03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3127248"/>
            <a:ext cx="29261" cy="493776"/>
          </a:xfrm>
          <a:prstGeom prst="rect">
            <a:avLst/>
          </a:prstGeom>
          <a:solidFill>
            <a:srgbClr val="BE2A2E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3072384"/>
            <a:ext cx="10652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封装策略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77824" y="3749040"/>
            <a:ext cx="95006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从挡水改为抬高势垒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58368" y="4443984"/>
            <a:ext cx="3319272" cy="18288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8" name="Text 6"/>
          <p:cNvSpPr/>
          <p:nvPr/>
        </p:nvSpPr>
        <p:spPr>
          <a:xfrm>
            <a:off x="658368" y="455371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先把入口关小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58368" y="4846320"/>
            <a:ext cx="3319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原子层沉积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Al₂O₃ 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WVTR 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压三个量级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434840" y="4443984"/>
            <a:ext cx="3319272" cy="18288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11" name="Text 9"/>
          <p:cNvSpPr/>
          <p:nvPr/>
        </p:nvSpPr>
        <p:spPr>
          <a:xfrm>
            <a:off x="4434840" y="455371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再把势垒抬高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434840" y="4846320"/>
            <a:ext cx="3319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晶界钝化让碘迁移在室温下走不动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11312" y="4443984"/>
            <a:ext cx="3319272" cy="18288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14" name="Text 12"/>
          <p:cNvSpPr/>
          <p:nvPr/>
        </p:nvSpPr>
        <p:spPr>
          <a:xfrm>
            <a:off x="8211312" y="455371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两者缺一不可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211312" y="4846320"/>
            <a:ext cx="3319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单独用任一种，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T80 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都停在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800 h 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量级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58368" y="5806440"/>
            <a:ext cx="8279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</a:t>
            </a:r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1742313" y="5806440"/>
            <a:ext cx="11375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</a:t>
            </a:r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降解机理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135884" y="5806440"/>
            <a:ext cx="11375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E2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</a:t>
            </a:r>
            <a:pPr indent="0" marL="0">
              <a:buNone/>
            </a:pPr>
            <a:r>
              <a:rPr lang="en-US" sz="1150" b="1" dirty="0">
                <a:solidFill>
                  <a:srgbClr val="BE2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封装策略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529455" y="5806440"/>
            <a:ext cx="129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</a:t>
            </a:r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结论与不足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钙钛矿湿热稳定性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封装策略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19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02336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BE2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封装策略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58368" y="768096"/>
            <a:ext cx="10872216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封装叠层的作用分工：阻隔层管入口，钝化层管势垒</a:t>
            </a:r>
            <a:endParaRPr lang="en-US" sz="2500" dirty="0"/>
          </a:p>
        </p:txBody>
      </p:sp>
      <p:pic>
        <p:nvPicPr>
          <p:cNvPr id="4" name="Image 0" descr="assets/encapsulation_lamination_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25055" y="1741322"/>
            <a:ext cx="3332085" cy="223621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58368" y="4068978"/>
            <a:ext cx="4865459" cy="506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5  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封装胶膜的荧光检查：用于判断层压后有无空隙与分层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(Radiotrefoil / CC BY-SA / Wikimedia Commons)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6776413" y="1804416"/>
            <a:ext cx="3913065" cy="20117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7" name="Shape 4"/>
          <p:cNvSpPr/>
          <p:nvPr/>
        </p:nvSpPr>
        <p:spPr>
          <a:xfrm>
            <a:off x="6556957" y="1595018"/>
            <a:ext cx="438912" cy="438912"/>
          </a:xfrm>
          <a:prstGeom prst="ellipse">
            <a:avLst/>
          </a:prstGeom>
          <a:solidFill>
            <a:srgbClr val="FFFFFF"/>
          </a:solidFill>
          <a:ln w="17780">
            <a:solidFill>
              <a:srgbClr val="9A000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556957" y="159501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5935307" y="2198522"/>
            <a:ext cx="16822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原子层沉积</a:t>
            </a:r>
            <a:pPr algn="ctr" indent="0" marL="0">
              <a:buNone/>
            </a:pPr>
            <a:r>
              <a:rPr lang="en-US" sz="140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Al₂O₃</a:t>
            </a:r>
            <a:pPr algn="ctr" indent="0" marL="0">
              <a:buNone/>
            </a:pPr>
            <a:r>
              <a:rPr lang="en-US" sz="14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</a:t>
            </a:r>
            <a:pPr algn="ctr" indent="0" marL="0">
              <a:buNone/>
            </a:pPr>
            <a:r>
              <a:rPr lang="en-US" sz="140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nm</a:t>
            </a:r>
            <a:pPr algn="ctr" indent="0" marL="0">
              <a:buNone/>
            </a:pPr>
            <a:r>
              <a:rPr lang="en-US" sz="14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935307" y="2737002"/>
            <a:ext cx="1682212" cy="1002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</a:t>
            </a:r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80 ℃ </a:t>
            </a:r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下沉积，避免热损伤钙钛矿层；</a:t>
            </a:r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WVTR </a:t>
            </a:r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降至</a:t>
            </a:r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10⁻⁴ g</a:t>
            </a:r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m⁻²</a:t>
            </a:r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d⁻¹ </a:t>
            </a:r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量级。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8513489" y="1595018"/>
            <a:ext cx="438912" cy="438912"/>
          </a:xfrm>
          <a:prstGeom prst="ellipse">
            <a:avLst/>
          </a:prstGeom>
          <a:solidFill>
            <a:srgbClr val="FFFFFF"/>
          </a:solidFill>
          <a:ln w="17780">
            <a:solidFill>
              <a:srgbClr val="9A000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513489" y="159501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7891839" y="2198522"/>
            <a:ext cx="16822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晶界钝化（苯乙铵碘）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7891839" y="2737002"/>
            <a:ext cx="1682212" cy="1002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在晶界处形成二维层，把碘空位的迁移势垒抬高约</a:t>
            </a:r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0.3 eV</a:t>
            </a:r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10470022" y="1595018"/>
            <a:ext cx="438912" cy="438912"/>
          </a:xfrm>
          <a:prstGeom prst="ellipse">
            <a:avLst/>
          </a:prstGeom>
          <a:solidFill>
            <a:srgbClr val="FFFFFF"/>
          </a:solidFill>
          <a:ln w="17780">
            <a:solidFill>
              <a:srgbClr val="9A0001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0470022" y="159501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9848372" y="2198522"/>
            <a:ext cx="16822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 </a:t>
            </a:r>
            <a:pPr algn="ctr" indent="0" marL="0">
              <a:buNone/>
            </a:pPr>
            <a:r>
              <a:rPr lang="en-US" sz="14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层压</a:t>
            </a:r>
            <a:pPr algn="ctr" indent="0" marL="0">
              <a:buNone/>
            </a:pPr>
            <a:r>
              <a:rPr lang="en-US" sz="140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14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边缘密封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9848372" y="2737002"/>
            <a:ext cx="1682212" cy="1002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承担机械保护与边缘路径封堵，单独使用时阻隔能力有限。</a:t>
            </a:r>
            <a:endParaRPr lang="en-US" sz="1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35307" y="3977538"/>
          <a:ext cx="5595277" cy="914400"/>
        </p:xfrm>
        <a:graphic>
          <a:graphicData uri="http://schemas.openxmlformats.org/drawingml/2006/table">
            <a:tbl>
              <a:tblPr/>
              <a:tblGrid>
                <a:gridCol w="1865092"/>
                <a:gridCol w="1865092"/>
                <a:gridCol w="186509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9A000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层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9A000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9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9A000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作用对象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9A000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9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9A000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关键指标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9A000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9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Al₂O₃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7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水汽入口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7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WVTR 3×10⁻⁴ g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·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m⁻²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·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d⁻¹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7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苯乙铵碘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7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碘迁移势垒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7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ΔEa ≈ +0.3 eV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7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EVA +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边封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9A000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机械与边缘路径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9A000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剥离强度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&gt; 60 N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·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cm⁻¹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9A000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0" name="Text 16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钙钛矿湿热稳定性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封装策略</a:t>
            </a:r>
            <a:endParaRPr lang="en-US" sz="950" dirty="0"/>
          </a:p>
        </p:txBody>
      </p:sp>
      <p:sp>
        <p:nvSpPr>
          <p:cNvPr id="21" name="Text 17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19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02336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BE2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封装策略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58368" y="768096"/>
            <a:ext cx="10872216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阻隔层把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WVTR 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压了三个量级，但单独用它只把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T80 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推到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780 h</a:t>
            </a:r>
            <a:endParaRPr lang="en-US" sz="25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58368" y="1732280"/>
          <a:ext cx="5230368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658368" y="4457192"/>
            <a:ext cx="5230368" cy="308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6  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三种封装方案的湿热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T80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（合成示意数据）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300216" y="1582420"/>
            <a:ext cx="5230368" cy="538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40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阻隔提升是必要的：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从无封装到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EVA + Al₂O₃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T80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提高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7.6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倍。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6300216" y="2184908"/>
            <a:ext cx="5230368" cy="6401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8" name="Text 5"/>
          <p:cNvSpPr/>
          <p:nvPr/>
        </p:nvSpPr>
        <p:spPr>
          <a:xfrm>
            <a:off x="6300216" y="2267204"/>
            <a:ext cx="5230368" cy="538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40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但收益不成比例：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WVTR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降了三个量级，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T80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只涨了不到一个量级——说明限速步已经不是水汽进入。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300216" y="2869692"/>
            <a:ext cx="5230368" cy="6401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10" name="Text 7"/>
          <p:cNvSpPr/>
          <p:nvPr/>
        </p:nvSpPr>
        <p:spPr>
          <a:xfrm>
            <a:off x="6300216" y="2951988"/>
            <a:ext cx="5230368" cy="538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40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剩下的差距在势垒：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残余水汽已足以维持碘迁移，这一步只能靠钝化去拦。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300216" y="3892804"/>
            <a:ext cx="1548384" cy="23774"/>
          </a:xfrm>
          <a:prstGeom prst="rect">
            <a:avLst/>
          </a:prstGeom>
          <a:solidFill>
            <a:srgbClr val="9A0001"/>
          </a:solidFill>
          <a:ln/>
        </p:spPr>
      </p:sp>
      <p:sp>
        <p:nvSpPr>
          <p:cNvPr id="12" name="Text 9"/>
          <p:cNvSpPr/>
          <p:nvPr/>
        </p:nvSpPr>
        <p:spPr>
          <a:xfrm>
            <a:off x="6300216" y="4039108"/>
            <a:ext cx="15483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10³×</a:t>
            </a:r>
            <a:endParaRPr lang="en-US" sz="3600" dirty="0"/>
          </a:p>
        </p:txBody>
      </p:sp>
      <p:sp>
        <p:nvSpPr>
          <p:cNvPr id="13" name="Text 10"/>
          <p:cNvSpPr/>
          <p:nvPr/>
        </p:nvSpPr>
        <p:spPr>
          <a:xfrm>
            <a:off x="6300216" y="4679188"/>
            <a:ext cx="1548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WVTR </a:t>
            </a:r>
            <a:pPr algn="l" indent="0" marL="0">
              <a:buNone/>
            </a:pPr>
            <a:r>
              <a:rPr lang="en-US" sz="135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降幅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8141208" y="3892804"/>
            <a:ext cx="1548384" cy="23774"/>
          </a:xfrm>
          <a:prstGeom prst="rect">
            <a:avLst/>
          </a:prstGeom>
          <a:solidFill>
            <a:srgbClr val="9A0001"/>
          </a:solidFill>
          <a:ln/>
        </p:spPr>
      </p:sp>
      <p:sp>
        <p:nvSpPr>
          <p:cNvPr id="15" name="Text 12"/>
          <p:cNvSpPr/>
          <p:nvPr/>
        </p:nvSpPr>
        <p:spPr>
          <a:xfrm>
            <a:off x="8141208" y="4039108"/>
            <a:ext cx="15483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3.0×</a:t>
            </a:r>
            <a:endParaRPr lang="en-US" sz="3600" dirty="0"/>
          </a:p>
        </p:txBody>
      </p:sp>
      <p:sp>
        <p:nvSpPr>
          <p:cNvPr id="16" name="Text 13"/>
          <p:cNvSpPr/>
          <p:nvPr/>
        </p:nvSpPr>
        <p:spPr>
          <a:xfrm>
            <a:off x="8141208" y="4679188"/>
            <a:ext cx="1548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T80 </a:t>
            </a:r>
            <a:pPr algn="l" indent="0" marL="0">
              <a:buNone/>
            </a:pPr>
            <a:r>
              <a:rPr lang="en-US" sz="135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增幅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9982200" y="3892804"/>
            <a:ext cx="1548384" cy="23774"/>
          </a:xfrm>
          <a:prstGeom prst="rect">
            <a:avLst/>
          </a:prstGeom>
          <a:solidFill>
            <a:srgbClr val="9A0001"/>
          </a:solidFill>
          <a:ln/>
        </p:spPr>
      </p:sp>
      <p:sp>
        <p:nvSpPr>
          <p:cNvPr id="18" name="Text 15"/>
          <p:cNvSpPr/>
          <p:nvPr/>
        </p:nvSpPr>
        <p:spPr>
          <a:xfrm>
            <a:off x="9982200" y="4039108"/>
            <a:ext cx="15483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780 h</a:t>
            </a:r>
            <a:endParaRPr lang="en-US" sz="3600" dirty="0"/>
          </a:p>
        </p:txBody>
      </p:sp>
      <p:sp>
        <p:nvSpPr>
          <p:cNvPr id="19" name="Text 16"/>
          <p:cNvSpPr/>
          <p:nvPr/>
        </p:nvSpPr>
        <p:spPr>
          <a:xfrm>
            <a:off x="9982200" y="4679188"/>
            <a:ext cx="1548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阻隔单独的上限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钙钛矿湿热稳定性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封装策略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19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02336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BE2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封装策略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58368" y="768096"/>
            <a:ext cx="10872216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阻隔与钝化叠加后，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T80 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达到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1 980 h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，衰减由指数转为近线性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658368" y="6126480"/>
            <a:ext cx="10872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本组</a:t>
            </a:r>
            <a:pPr algn="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2025</a:t>
            </a:r>
            <a:pPr algn="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</a:t>
            </a:r>
            <a:pPr algn="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</a:t>
            </a:r>
            <a:pPr algn="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年湿热老化实测（</a:t>
            </a:r>
            <a:pPr algn="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 = 3</a:t>
            </a:r>
            <a:pPr algn="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</a:t>
            </a:r>
            <a:endParaRPr lang="en-US" sz="1200" dirty="0"/>
          </a:p>
        </p:txBody>
      </p:sp>
      <p:pic>
        <p:nvPicPr>
          <p:cNvPr id="5" name="Image 0" descr="assets/fig_ag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295" y="1600708"/>
            <a:ext cx="5117423" cy="26177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58368" y="4309872"/>
            <a:ext cx="5595277" cy="308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7  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三种方案的归一化效率衰减曲线（阴影为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 = 3 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的极差）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6665125" y="1747012"/>
            <a:ext cx="4865459" cy="538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40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形状变了，不只是变慢：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Weibull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指数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β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0.85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升到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1.05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，衰减从“前期陡降”转为近似匀速。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665125" y="2349500"/>
            <a:ext cx="4865459" cy="6401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9" name="Text 6"/>
          <p:cNvSpPr/>
          <p:nvPr/>
        </p:nvSpPr>
        <p:spPr>
          <a:xfrm>
            <a:off x="6665125" y="2431796"/>
            <a:ext cx="4865459" cy="538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40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这说明限速步换了：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β &lt; 1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对应表面主导，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β ≈ 1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对应体相扩散主导，与钝化封住晶界通路一致。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665125" y="3034284"/>
            <a:ext cx="4865459" cy="6401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11" name="Text 8"/>
          <p:cNvSpPr/>
          <p:nvPr/>
        </p:nvSpPr>
        <p:spPr>
          <a:xfrm>
            <a:off x="6665125" y="3116580"/>
            <a:ext cx="4865459" cy="538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40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距离标准仍有差距：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1 980 h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25 000 h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，需要在钝化层的热稳定性上继续做。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钙钛矿湿热稳定性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封装策略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19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02336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BE2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封装策略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58368" y="768096"/>
            <a:ext cx="10872216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制样与测试流程：每一步都控住了会影响寿命的变量</a:t>
            </a:r>
            <a:endParaRPr lang="en-US" sz="2500" dirty="0"/>
          </a:p>
        </p:txBody>
      </p:sp>
      <p:pic>
        <p:nvPicPr>
          <p:cNvPr id="4" name="Image 0" descr="assets/spin_coating_laboratory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86405" y="1745793"/>
            <a:ext cx="3325228" cy="223621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58368" y="4073449"/>
            <a:ext cx="4981303" cy="506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8  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手套箱内的旋涂制样：水氧含量全程低于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0.1 ppm(Михайлов Тимофей / CC BY / Wikimedia Commons)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051151" y="1582420"/>
            <a:ext cx="5479433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5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制样：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反溶剂一步法，手套箱内完成；同一批次内器件效率标准差控制在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0.6%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以内。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6051151" y="2158492"/>
            <a:ext cx="5479433" cy="6401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8" name="Text 5"/>
          <p:cNvSpPr/>
          <p:nvPr/>
        </p:nvSpPr>
        <p:spPr>
          <a:xfrm>
            <a:off x="6051151" y="2231644"/>
            <a:ext cx="5479433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5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封装：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Al₂O₃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沉积温度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80 ℃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循环；层压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145 ℃ / 12 min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6051151" y="2574544"/>
            <a:ext cx="5479433" cy="6401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10" name="Text 7"/>
          <p:cNvSpPr/>
          <p:nvPr/>
        </p:nvSpPr>
        <p:spPr>
          <a:xfrm>
            <a:off x="6051151" y="2647696"/>
            <a:ext cx="5479433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5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老化：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85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箱连续运行，每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100 h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取出测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J–V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，测试环境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25 ℃ / 40% RH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6051151" y="3223768"/>
            <a:ext cx="5479433" cy="6401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12" name="Text 9"/>
          <p:cNvSpPr/>
          <p:nvPr/>
        </p:nvSpPr>
        <p:spPr>
          <a:xfrm>
            <a:off x="6051151" y="3296920"/>
            <a:ext cx="5479433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5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统计：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每组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片，报告极差而非标准差——样本量不足以支持标准差。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6051151" y="4220464"/>
            <a:ext cx="23774" cy="885444"/>
          </a:xfrm>
          <a:prstGeom prst="rect">
            <a:avLst/>
          </a:prstGeom>
          <a:solidFill>
            <a:srgbClr val="BE2A2E"/>
          </a:solidFill>
          <a:ln/>
        </p:spPr>
      </p:sp>
      <p:sp>
        <p:nvSpPr>
          <p:cNvPr id="14" name="Text 11"/>
          <p:cNvSpPr/>
          <p:nvPr/>
        </p:nvSpPr>
        <p:spPr>
          <a:xfrm>
            <a:off x="6252319" y="4257040"/>
            <a:ext cx="792480" cy="8122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80" kern="0" dirty="0">
                <a:solidFill>
                  <a:srgbClr val="BE2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已控变量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7191103" y="4238752"/>
            <a:ext cx="4339481" cy="8488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同批次退火时间、封装前静置时长、老化箱内位置三项均做了随机化；未控住的是钙钛矿薄膜的晶粒尺寸分布，它随批次波动约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15%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钙钛矿湿热稳定性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封装策略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19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3504" y="1051560"/>
            <a:ext cx="4023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0" b="1" dirty="0">
                <a:solidFill>
                  <a:srgbClr val="F4E4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676656" y="279806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E2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04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3127248"/>
            <a:ext cx="29261" cy="493776"/>
          </a:xfrm>
          <a:prstGeom prst="rect">
            <a:avLst/>
          </a:prstGeom>
          <a:solidFill>
            <a:srgbClr val="BE2A2E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3072384"/>
            <a:ext cx="10652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结论与不足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77824" y="3749040"/>
            <a:ext cx="95006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结论、边界、下一步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58368" y="4443984"/>
            <a:ext cx="3319272" cy="18288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8" name="Text 6"/>
          <p:cNvSpPr/>
          <p:nvPr/>
        </p:nvSpPr>
        <p:spPr>
          <a:xfrm>
            <a:off x="658368" y="455371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主要结论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58368" y="4846320"/>
            <a:ext cx="3319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碘迁移是限速步，封装要抬势垒而非只挡水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434840" y="4443984"/>
            <a:ext cx="3319272" cy="18288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11" name="Text 9"/>
          <p:cNvSpPr/>
          <p:nvPr/>
        </p:nvSpPr>
        <p:spPr>
          <a:xfrm>
            <a:off x="4434840" y="455371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边界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434840" y="4846320"/>
            <a:ext cx="3319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结论基于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85/85 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单一应力，未含光照与温度循环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11312" y="4443984"/>
            <a:ext cx="3319272" cy="18288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14" name="Text 12"/>
          <p:cNvSpPr/>
          <p:nvPr/>
        </p:nvSpPr>
        <p:spPr>
          <a:xfrm>
            <a:off x="8211312" y="455371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下一步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211312" y="4846320"/>
            <a:ext cx="3319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钝化层的热稳定性是新的限制项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58368" y="5806440"/>
            <a:ext cx="8279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</a:t>
            </a:r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1742313" y="5806440"/>
            <a:ext cx="11375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</a:t>
            </a:r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降解机理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135884" y="5806440"/>
            <a:ext cx="11375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</a:t>
            </a:r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封装策略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529455" y="5806440"/>
            <a:ext cx="129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E2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</a:t>
            </a:r>
            <a:pPr indent="0" marL="0">
              <a:buNone/>
            </a:pPr>
            <a:r>
              <a:rPr lang="en-US" sz="1150" b="1" dirty="0">
                <a:solidFill>
                  <a:srgbClr val="BE2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结论与不足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钙钛矿湿热稳定性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结论与不足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19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02336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BE2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结论与不足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58368" y="768096"/>
            <a:ext cx="10872216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结论：封装的设计目标应从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WVTR 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转向碘迁移势垒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658368" y="6126480"/>
            <a:ext cx="10872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全篇数据为合成示意值，用于版式演示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" y="1528166"/>
            <a:ext cx="10872216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500" b="1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</a:t>
            </a:r>
            <a:pPr indent="0" marL="0">
              <a:lnSpc>
                <a:spcPct val="126000"/>
              </a:lnSpc>
              <a:buNone/>
            </a:pPr>
            <a:r>
              <a:rPr lang="en-US" sz="150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机理：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湿热降解由三条并行路径构成，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 ℃ 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下碘迁移（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 = 0.68 eV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）是限速步；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PbI₂ 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析出是结果而非起因。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58368" y="1933550"/>
            <a:ext cx="10872216" cy="6401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7" name="Text 5"/>
          <p:cNvSpPr/>
          <p:nvPr/>
        </p:nvSpPr>
        <p:spPr>
          <a:xfrm>
            <a:off x="658368" y="2043278"/>
            <a:ext cx="10872216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500" b="1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</a:t>
            </a:r>
            <a:pPr indent="0" marL="0">
              <a:lnSpc>
                <a:spcPct val="126000"/>
              </a:lnSpc>
              <a:buNone/>
            </a:pPr>
            <a:r>
              <a:rPr lang="en-US" sz="150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策略：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原子层沉积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Al₂O₃ 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WVTR 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压低三个量级，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T80 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达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780 h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；叠加晶界钝化后达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1 980 h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，为无封装的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7.6 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倍。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58368" y="2448662"/>
            <a:ext cx="10872216" cy="6401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9" name="Text 7"/>
          <p:cNvSpPr/>
          <p:nvPr/>
        </p:nvSpPr>
        <p:spPr>
          <a:xfrm>
            <a:off x="658368" y="2558390"/>
            <a:ext cx="10872216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500" b="1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</a:t>
            </a:r>
            <a:pPr indent="0" marL="0">
              <a:lnSpc>
                <a:spcPct val="126000"/>
              </a:lnSpc>
              <a:buNone/>
            </a:pPr>
            <a:r>
              <a:rPr lang="en-US" sz="150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证据：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Weibull 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指数从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0.85 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升至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1.05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，衰减机制由表面主导转为体相扩散主导，与钝化封住晶界通路的预期一致。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58368" y="3347822"/>
            <a:ext cx="23774" cy="704088"/>
          </a:xfrm>
          <a:prstGeom prst="rect">
            <a:avLst/>
          </a:prstGeom>
          <a:solidFill>
            <a:srgbClr val="BE2A2E"/>
          </a:solidFill>
          <a:ln/>
        </p:spPr>
      </p:sp>
      <p:sp>
        <p:nvSpPr>
          <p:cNvPr id="11" name="Text 9"/>
          <p:cNvSpPr/>
          <p:nvPr/>
        </p:nvSpPr>
        <p:spPr>
          <a:xfrm>
            <a:off x="859536" y="3384398"/>
            <a:ext cx="469392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80" kern="0" dirty="0">
                <a:solidFill>
                  <a:srgbClr val="BE2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不足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475232" y="3366110"/>
            <a:ext cx="1005535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结论仅覆盖</a:t>
            </a:r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85/85 </a:t>
            </a:r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单一应力；光照与温度循环下的耦合失效未纳入，且钝化层自身在</a:t>
            </a:r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85 ℃ </a:t>
            </a:r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长时间下的稳定性尚未单独考察。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8368" y="4307942"/>
            <a:ext cx="3429000" cy="18288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14" name="Text 12"/>
          <p:cNvSpPr/>
          <p:nvPr/>
        </p:nvSpPr>
        <p:spPr>
          <a:xfrm>
            <a:off x="658368" y="4417670"/>
            <a:ext cx="3429000" cy="305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下一步</a:t>
            </a:r>
            <a:pPr indent="0" marL="0">
              <a:buNone/>
            </a:pPr>
            <a:r>
              <a:rPr lang="en-US" sz="145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buNone/>
            </a:pPr>
            <a:r>
              <a:rPr lang="en-US" sz="145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indent="0" marL="0">
              <a:buNone/>
            </a:pPr>
            <a:r>
              <a:rPr lang="en-US" sz="145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buNone/>
            </a:pPr>
            <a:r>
              <a:rPr lang="en-US" sz="145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钝化层热稳定性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58368" y="4777842"/>
            <a:ext cx="3429000" cy="70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二维层在</a:t>
            </a:r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85 ℃ </a:t>
            </a:r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下会缓慢相变，需要单独做</a:t>
            </a:r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1 000 h </a:t>
            </a:r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的等温跟踪。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379976" y="4307942"/>
            <a:ext cx="3429000" cy="18288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17" name="Text 15"/>
          <p:cNvSpPr/>
          <p:nvPr/>
        </p:nvSpPr>
        <p:spPr>
          <a:xfrm>
            <a:off x="4379976" y="4417670"/>
            <a:ext cx="3429000" cy="305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下一步</a:t>
            </a:r>
            <a:pPr indent="0" marL="0">
              <a:buNone/>
            </a:pPr>
            <a:r>
              <a:rPr lang="en-US" sz="145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buNone/>
            </a:pPr>
            <a:r>
              <a:rPr lang="en-US" sz="145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indent="0" marL="0">
              <a:buNone/>
            </a:pPr>
            <a:r>
              <a:rPr lang="en-US" sz="145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buNone/>
            </a:pPr>
            <a:r>
              <a:rPr lang="en-US" sz="145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双应力耦合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4379976" y="4777842"/>
            <a:ext cx="3429000" cy="70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</a:t>
            </a:r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85/85 </a:t>
            </a:r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基础上叠加</a:t>
            </a:r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 sun </a:t>
            </a:r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连续光照，判断光致离子迁移是否改变限速步。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101584" y="4307942"/>
            <a:ext cx="3429000" cy="18288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20" name="Text 18"/>
          <p:cNvSpPr/>
          <p:nvPr/>
        </p:nvSpPr>
        <p:spPr>
          <a:xfrm>
            <a:off x="8101584" y="4417670"/>
            <a:ext cx="3429000" cy="305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下一步</a:t>
            </a:r>
            <a:pPr indent="0" marL="0">
              <a:buNone/>
            </a:pPr>
            <a:r>
              <a:rPr lang="en-US" sz="145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buNone/>
            </a:pPr>
            <a:r>
              <a:rPr lang="en-US" sz="145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indent="0" marL="0">
              <a:buNone/>
            </a:pPr>
            <a:r>
              <a:rPr lang="en-US" sz="145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buNone/>
            </a:pPr>
            <a:r>
              <a:rPr lang="en-US" sz="145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从器件到组件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101584" y="4777842"/>
            <a:ext cx="3429000" cy="70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现有结论基于</a:t>
            </a:r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0.1 cm² </a:t>
            </a:r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小面积器件，边缘路径在组件尺度上权重会显著上升。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钙钛矿湿热稳定性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结论与不足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19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02336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BE2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结论与不足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58368" y="768096"/>
            <a:ext cx="10872216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参考文献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658368" y="143611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2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[1]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042416" y="1436116"/>
            <a:ext cx="10488168" cy="298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国家标准化管理委员会</a:t>
            </a:r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</a:t>
            </a:r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地面用光伏组件设计鉴定和定型</a:t>
            </a:r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IEC 61215-1-1:2021[S]. 2021.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58368" y="180797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2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[2]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42416" y="1807972"/>
            <a:ext cx="10488168" cy="298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NREL. Best Research-Cell Efficiency Chart[EB/OL]. (2025)[2026-07-01]. nrel.gov/pv/cell-efficiency.html.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58368" y="21798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2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[3]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42416" y="2179828"/>
            <a:ext cx="10488168" cy="505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YANG S, CHEN S, MOSCONI E, et al. Stabilizing halide perovskite surfaces for solar cell operation[J]. Science, 2019, 365(6452): 473-478.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275894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2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[4]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42416" y="2758948"/>
            <a:ext cx="10488168" cy="505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LEIJTENS T, EPERON G E, NOEL N K, et al. Stability of metal halide perovskite solar cells[J]. Adv Energy Mater, 2015, 5(20): 1500963.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58368" y="333806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2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[5]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42416" y="3338068"/>
            <a:ext cx="10488168" cy="505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CHENG Y, DING L. Pushing commercialization of perovskite solar cells by improving their intrinsic stability[J]. Energy Environ Sci, 2021, 14(6): 3233-3255.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钙钛矿湿热稳定性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结论与不足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19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kfade:down:9A0001:12"/>
          <p:cNvSpPr/>
          <p:nvPr/>
        </p:nvSpPr>
        <p:spPr>
          <a:xfrm>
            <a:off x="0" y="0"/>
            <a:ext cx="12188952" cy="2377440"/>
          </a:xfrm>
          <a:prstGeom prst="rect">
            <a:avLst/>
          </a:prstGeom>
          <a:gradFill rotWithShape="1">
            <a:gsLst>
              <a:gs pos="0">
                <a:srgbClr val="9A0001">
                  <a:alpha val="12000"/>
                </a:srgbClr>
              </a:gs>
              <a:gs pos="100000">
                <a:srgbClr val="9A0001">
                  <a:alpha val="0"/>
                </a:srgbClr>
              </a:gs>
            </a:gsLst>
            <a:lin ang="5400000" scaled="0"/>
          </a:gradFill>
          <a:ln/>
        </p:spPr>
      </p:sp>
      <p:sp>
        <p:nvSpPr>
          <p:cNvPr id="3" name="Text 1"/>
          <p:cNvSpPr/>
          <p:nvPr/>
        </p:nvSpPr>
        <p:spPr>
          <a:xfrm>
            <a:off x="658368" y="566928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600" kern="0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致</a:t>
            </a:r>
            <a:pPr indent="0" marL="0">
              <a:buNone/>
            </a:pPr>
            <a:r>
              <a:rPr lang="en-US" sz="3000" b="1" spc="600" kern="0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buNone/>
            </a:pPr>
            <a:r>
              <a:rPr lang="en-US" sz="3000" b="1" spc="600" kern="0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谢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58368" y="1335024"/>
            <a:ext cx="1051560" cy="25603"/>
          </a:xfrm>
          <a:prstGeom prst="rect">
            <a:avLst/>
          </a:prstGeom>
          <a:solidFill>
            <a:srgbClr val="BE2A2E"/>
          </a:solidFill>
          <a:ln/>
        </p:spPr>
      </p:sp>
      <p:sp>
        <p:nvSpPr>
          <p:cNvPr id="5" name="Shape 3"/>
          <p:cNvSpPr/>
          <p:nvPr/>
        </p:nvSpPr>
        <p:spPr>
          <a:xfrm>
            <a:off x="658368" y="1810512"/>
            <a:ext cx="5230368" cy="18288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1883664"/>
            <a:ext cx="5230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指导与合作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58368" y="2304288"/>
            <a:ext cx="5230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王</a:t>
            </a:r>
            <a:pPr indent="0" marL="0">
              <a:buNone/>
            </a:pPr>
            <a:r>
              <a:rPr lang="en-US" sz="1500" b="1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buNone/>
            </a:pPr>
            <a:r>
              <a:rPr lang="en-US" sz="150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立</a:t>
            </a:r>
            <a:pPr indent="0" marL="0">
              <a:buNone/>
            </a:pPr>
            <a:r>
              <a:rPr lang="en-US" sz="1500" b="1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buNone/>
            </a:pPr>
            <a:r>
              <a:rPr lang="en-US" sz="150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教授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58368" y="2578608"/>
            <a:ext cx="5230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选题指导与全程把关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8368" y="2944368"/>
            <a:ext cx="5230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张</a:t>
            </a:r>
            <a:pPr indent="0" marL="0">
              <a:buNone/>
            </a:pPr>
            <a:r>
              <a:rPr lang="en-US" sz="15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华</a:t>
            </a:r>
            <a:pPr indent="0" marL="0">
              <a:buNone/>
            </a:pPr>
            <a:r>
              <a:rPr lang="en-US" sz="15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博士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58368" y="3218688"/>
            <a:ext cx="5230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原子层沉积工艺与阻隔性测试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58368" y="3584448"/>
            <a:ext cx="5230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陈</a:t>
            </a:r>
            <a:pPr indent="0" marL="0">
              <a:buNone/>
            </a:pPr>
            <a:r>
              <a:rPr lang="en-US" sz="15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悦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8368" y="3858768"/>
            <a:ext cx="5230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变温阻抗谱与活化能拟合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300216" y="1810512"/>
            <a:ext cx="5230368" cy="18288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14" name="Text 12"/>
          <p:cNvSpPr/>
          <p:nvPr/>
        </p:nvSpPr>
        <p:spPr>
          <a:xfrm>
            <a:off x="6300216" y="1883664"/>
            <a:ext cx="5230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项目与平台支持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300216" y="2304288"/>
            <a:ext cx="5230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国家自然科学基金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300216" y="2578608"/>
            <a:ext cx="5230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52372234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300216" y="2944368"/>
            <a:ext cx="5230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北京大学基础科研种子基金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300216" y="3218688"/>
            <a:ext cx="5230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BMU2026SEED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300216" y="3584448"/>
            <a:ext cx="5230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分子材料与纳米加工实验室（</a:t>
            </a:r>
            <a:pPr indent="0" marL="0">
              <a:buNone/>
            </a:pPr>
            <a:r>
              <a:rPr lang="en-US" sz="15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MMNL</a:t>
            </a:r>
            <a:pPr indent="0" marL="0">
              <a:buNone/>
            </a:pPr>
            <a:r>
              <a:rPr lang="en-US" sz="15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300216" y="3986784"/>
            <a:ext cx="5230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工学院公共表征平台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58368" y="5632704"/>
            <a:ext cx="10872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感谢材料化学课题组全体同学在制样与老化测试中的协助。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9A0001"/>
          </a:solidFill>
          <a:ln/>
        </p:spPr>
      </p:sp>
      <p:sp>
        <p:nvSpPr>
          <p:cNvPr id="23" name="Text 21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钙钛矿湿热稳定性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结论与不足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19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kfade:up:9A0001:8"/>
          <p:cNvSpPr/>
          <p:nvPr/>
        </p:nvSpPr>
        <p:spPr>
          <a:xfrm>
            <a:off x="0" y="5202936"/>
            <a:ext cx="12188952" cy="1618488"/>
          </a:xfrm>
          <a:prstGeom prst="rect">
            <a:avLst/>
          </a:prstGeom>
          <a:gradFill rotWithShape="1">
            <a:gsLst>
              <a:gs pos="0">
                <a:srgbClr val="9A0001">
                  <a:alpha val="8000"/>
                </a:srgbClr>
              </a:gs>
              <a:gs pos="100000">
                <a:srgbClr val="9A0001">
                  <a:alpha val="0"/>
                </a:srgbClr>
              </a:gs>
            </a:gsLst>
            <a:lin ang="16200000" scaled="0"/>
          </a:gradFill>
          <a:ln/>
        </p:spPr>
      </p:sp>
      <p:sp>
        <p:nvSpPr>
          <p:cNvPr id="3" name="Text 1"/>
          <p:cNvSpPr/>
          <p:nvPr/>
        </p:nvSpPr>
        <p:spPr>
          <a:xfrm>
            <a:off x="658368" y="2331720"/>
            <a:ext cx="10872216" cy="592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34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恳请各位专家批评指正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58368" y="3216148"/>
            <a:ext cx="1371600" cy="50292"/>
          </a:xfrm>
          <a:prstGeom prst="rect">
            <a:avLst/>
          </a:prstGeom>
          <a:solidFill>
            <a:srgbClr val="9A0001"/>
          </a:solidFill>
          <a:ln/>
        </p:spPr>
      </p:sp>
      <p:sp>
        <p:nvSpPr>
          <p:cNvPr id="5" name="Text 3"/>
          <p:cNvSpPr/>
          <p:nvPr/>
        </p:nvSpPr>
        <p:spPr>
          <a:xfrm>
            <a:off x="658368" y="3581908"/>
            <a:ext cx="86868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封装的目标不是挡水，是把碘迁移的势垒抬到室温下走不动。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58368" y="5134356"/>
            <a:ext cx="1371600" cy="27432"/>
          </a:xfrm>
          <a:prstGeom prst="rect">
            <a:avLst/>
          </a:prstGeom>
          <a:solidFill>
            <a:srgbClr val="9A0001"/>
          </a:solidFill>
          <a:ln/>
        </p:spPr>
      </p:sp>
      <p:sp>
        <p:nvSpPr>
          <p:cNvPr id="7" name="Shape 5"/>
          <p:cNvSpPr/>
          <p:nvPr/>
        </p:nvSpPr>
        <p:spPr>
          <a:xfrm>
            <a:off x="2029968" y="5142586"/>
            <a:ext cx="2926080" cy="10973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8" name="Shape 6"/>
          <p:cNvSpPr/>
          <p:nvPr/>
        </p:nvSpPr>
        <p:spPr>
          <a:xfrm>
            <a:off x="4956048" y="5145329"/>
            <a:ext cx="6574536" cy="5486"/>
          </a:xfrm>
          <a:prstGeom prst="rect">
            <a:avLst/>
          </a:prstGeom>
          <a:solidFill>
            <a:srgbClr val="F0E1DF"/>
          </a:solidFill>
          <a:ln/>
        </p:spPr>
      </p:sp>
      <p:sp>
        <p:nvSpPr>
          <p:cNvPr id="9" name="Text 7"/>
          <p:cNvSpPr/>
          <p:nvPr/>
        </p:nvSpPr>
        <p:spPr>
          <a:xfrm>
            <a:off x="658368" y="535838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100" kern="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联系方式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58368" y="555955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liming@pku.edu.cn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315968" y="535838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100" kern="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数据与代码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315968" y="555955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github.com/liming/pvsk-damp-heat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9A0001"/>
          </a:solidFill>
          <a:ln/>
        </p:spPr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2026-07-25T18:35:12Z</dcterms:created>
  <dcterms:modified xsi:type="dcterms:W3CDTF">2026-07-25T18:35:12Z</dcterms:modified>
</cp:coreProperties>
</file>